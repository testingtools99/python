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6E0D6-E2CE-4DD5-9F96-D840E0ACBBB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E8D4E-D72B-44B8-8F5B-DC5B0BFDA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30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E9E2-5247-44F3-8675-0B8D7D744817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222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21248-27E4-4A4B-A39E-5861C358E4D1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54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039-90E6-4A81-BD5B-89CDDE6C628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61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40BB-0FBA-44F2-A002-D4222E89AEC0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67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E40D-305D-41FA-8204-E6AE4E3649F5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5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CFDCF-7A03-49F3-A243-BBBB6BDA8720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1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DB505-0BB8-4F40-AF50-D6240B841403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617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7827-92DA-4CA4-9024-3365BF8C2BB9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6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CED6-5693-4995-BCD6-1DA9207E6F4B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99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6EDC-E085-4365-A376-55EC517F224E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53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A4413-3623-458F-92B5-1DA613E2FD57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31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EBBE2-AA3E-423D-A3D1-388220C6C75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1062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3906-6FC5-4890-B70F-908FAAA84C5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03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51E5-136D-40DC-ABAF-2028F78C5E17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9799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FD55-86EA-4758-ACBB-FEB35A3A970F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929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C5B1-38B0-417C-B006-C4E6E1AAD29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12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81029-EB95-4DBC-84CF-D9DE1034D359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43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07C79E4-F9E3-46CF-B144-097837021C2E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070CF93-472B-4E3E-8A09-6FE38DE89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55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3C2C0-5B4E-BAD5-19E5-643056E88A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Simple Linear Regression in Machine Learning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603C5-5917-A723-AE73-D133E9A69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897" y="3091993"/>
            <a:ext cx="5354424" cy="26992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Predicting the future with a straight line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FDC1E-E4A2-8BAA-0D3D-C737F350D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>
                <a:latin typeface="Arial Black" panose="020B0A04020102020204" pitchFamily="34" charset="0"/>
              </a:rPr>
              <a:t>1</a:t>
            </a:fld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48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A4784-96DD-21A5-A719-07A918D6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2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C798C-DE66-11D5-F96D-646D0063A976}"/>
              </a:ext>
            </a:extLst>
          </p:cNvPr>
          <p:cNvSpPr txBox="1"/>
          <p:nvPr/>
        </p:nvSpPr>
        <p:spPr>
          <a:xfrm>
            <a:off x="1725105" y="339365"/>
            <a:ext cx="74377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/>
              <a:t>What is Simple Linear Regression?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F2C544-465C-6B1C-6D83-D0DD8DE75EF4}"/>
              </a:ext>
            </a:extLst>
          </p:cNvPr>
          <p:cNvSpPr txBox="1"/>
          <p:nvPr/>
        </p:nvSpPr>
        <p:spPr>
          <a:xfrm>
            <a:off x="1263191" y="1282044"/>
            <a:ext cx="10237509" cy="1326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b="1" dirty="0"/>
              <a:t>Supervised Learning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Models the relationship between one independent variable (input) and one dependent variable (output)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ABB44-9F41-BF3C-DB01-A5145AB9F491}"/>
              </a:ext>
            </a:extLst>
          </p:cNvPr>
          <p:cNvSpPr txBox="1"/>
          <p:nvPr/>
        </p:nvSpPr>
        <p:spPr>
          <a:xfrm rot="10800000" flipV="1">
            <a:off x="1263191" y="2816196"/>
            <a:ext cx="78996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Linear Relationship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4BCC89-85F0-CCDF-1829-F234BCBE882D}"/>
              </a:ext>
            </a:extLst>
          </p:cNvPr>
          <p:cNvSpPr txBox="1"/>
          <p:nvPr/>
        </p:nvSpPr>
        <p:spPr>
          <a:xfrm rot="10800000" flipV="1">
            <a:off x="1310325" y="3515987"/>
            <a:ext cx="95776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Assumes as the input changes, the output changes at a constant rate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C56085-2CD4-DD65-EFAD-EC9952EE95D4}"/>
              </a:ext>
            </a:extLst>
          </p:cNvPr>
          <p:cNvSpPr txBox="1"/>
          <p:nvPr/>
        </p:nvSpPr>
        <p:spPr>
          <a:xfrm rot="10800000" flipV="1">
            <a:off x="1216057" y="4397480"/>
            <a:ext cx="7946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/>
              <a:t>Real-World 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C531E6-F95C-814E-FA59-E5AB6BFC4ED8}"/>
              </a:ext>
            </a:extLst>
          </p:cNvPr>
          <p:cNvSpPr txBox="1"/>
          <p:nvPr/>
        </p:nvSpPr>
        <p:spPr>
          <a:xfrm>
            <a:off x="1366886" y="5033913"/>
            <a:ext cx="84369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Predicting a student's exam score based on hours studied</a:t>
            </a:r>
          </a:p>
        </p:txBody>
      </p:sp>
    </p:spTree>
    <p:extLst>
      <p:ext uri="{BB962C8B-B14F-4D97-AF65-F5344CB8AC3E}">
        <p14:creationId xmlns:p14="http://schemas.microsoft.com/office/powerpoint/2010/main" val="3201818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DCA8EA-95ED-B8BA-F8C4-938F9B73E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3</a:t>
            </a:fld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F2F209-ACAC-5B3F-E79C-E7FA716F251F}"/>
              </a:ext>
            </a:extLst>
          </p:cNvPr>
          <p:cNvSpPr txBox="1"/>
          <p:nvPr/>
        </p:nvSpPr>
        <p:spPr>
          <a:xfrm>
            <a:off x="527902" y="150828"/>
            <a:ext cx="6476213" cy="492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Simple Linear Regression</a:t>
            </a:r>
            <a:r>
              <a:rPr lang="en-US" sz="2000" dirty="0"/>
              <a:t> is a basic yet powerful statistical technique used to understand and predict the relationship between two variables — one </a:t>
            </a:r>
            <a:r>
              <a:rPr lang="en-US" sz="2000" b="1" dirty="0"/>
              <a:t>independent variable (x)</a:t>
            </a:r>
            <a:r>
              <a:rPr lang="en-US" sz="2000" dirty="0"/>
              <a:t> and one </a:t>
            </a:r>
            <a:r>
              <a:rPr lang="en-US" sz="2000" b="1" dirty="0"/>
              <a:t>dependent variable (y)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lnSpc>
                <a:spcPct val="150000"/>
              </a:lnSpc>
            </a:pP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In simple terms, it tries to draw the </a:t>
            </a:r>
            <a:r>
              <a:rPr lang="en-US" sz="2000" b="1" dirty="0"/>
              <a:t>best straight line</a:t>
            </a:r>
            <a:r>
              <a:rPr lang="en-US" sz="2000" dirty="0"/>
              <a:t> through a set of data points on a graph, showing how one variable affects the other.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17E24F-3F87-D9BE-0B6F-4E8177CA7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969" y="226244"/>
            <a:ext cx="5090473" cy="530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96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D5E979-3912-859D-1800-72124933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4</a:t>
            </a:fld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EC62C0-818E-64D4-7D7B-5A11FDAF470D}"/>
                  </a:ext>
                </a:extLst>
              </p:cNvPr>
              <p:cNvSpPr txBox="1"/>
              <p:nvPr/>
            </p:nvSpPr>
            <p:spPr>
              <a:xfrm rot="10800000" flipV="1">
                <a:off x="546754" y="828020"/>
                <a:ext cx="7381183" cy="5419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u="sng" dirty="0"/>
                  <a:t>Model Formula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0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sz="20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2000" b="1" dirty="0"/>
                  <a:t>Where: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000" b="1" dirty="0"/>
                  <a:t>Predicted value</a:t>
                </a:r>
                <a:r>
                  <a:rPr lang="en-US" sz="2000" dirty="0"/>
                  <a:t> (e.g., exam score)</a:t>
                </a:r>
                <a:endParaRPr lang="en-US" sz="2000" b="1" dirty="0"/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 y represents the output predicted by our model     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000" dirty="0"/>
                  <a:t> </a:t>
                </a:r>
                <a:r>
                  <a:rPr lang="en-US" sz="2000" b="1" dirty="0"/>
                  <a:t>Independent variable </a:t>
                </a:r>
                <a:r>
                  <a:rPr lang="en-US" sz="2000" dirty="0"/>
                  <a:t>(e.g., hours studied)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X is the feature  we use for prediction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000" b="1" dirty="0"/>
                  <a:t>b₀</a:t>
                </a:r>
                <a:r>
                  <a:rPr lang="en-US" sz="2000" dirty="0"/>
                  <a:t> → </a:t>
                </a:r>
                <a:r>
                  <a:rPr lang="en-US" sz="2000" b="1" dirty="0"/>
                  <a:t>Intercept</a:t>
                </a:r>
                <a:r>
                  <a:rPr lang="en-US" sz="2000" dirty="0"/>
                  <a:t> (the value of y when x = 0)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 It is intercept </a:t>
                </a:r>
                <a:r>
                  <a:rPr lang="en-US" sz="2000"/>
                  <a:t>or bias </a:t>
                </a:r>
                <a:r>
                  <a:rPr lang="en-US" sz="2000" dirty="0"/>
                  <a:t>term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000" b="1" dirty="0"/>
                  <a:t>b₁</a:t>
                </a:r>
                <a:r>
                  <a:rPr lang="en-US" sz="2000" dirty="0"/>
                  <a:t> → </a:t>
                </a:r>
                <a:r>
                  <a:rPr lang="en-US" sz="2000" b="1" dirty="0"/>
                  <a:t>Slope</a:t>
                </a:r>
                <a:r>
                  <a:rPr lang="en-US" sz="2000" dirty="0"/>
                  <a:t> (how much y changes for each unit increase in x)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 It is slope or weight parameter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EC62C0-818E-64D4-7D7B-5A11FDAF4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546754" y="828020"/>
                <a:ext cx="7381183" cy="5419882"/>
              </a:xfrm>
              <a:prstGeom prst="rect">
                <a:avLst/>
              </a:prstGeom>
              <a:blipFill>
                <a:blip r:embed="rId2"/>
                <a:stretch>
                  <a:fillRect l="-908" t="-675" b="-10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5C49860-E8AE-89AB-EB69-D08E37DCA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714" y="1074656"/>
            <a:ext cx="3942474" cy="45747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737ABE-BC21-D31D-CB0A-4D05D4F52A31}"/>
              </a:ext>
            </a:extLst>
          </p:cNvPr>
          <p:cNvSpPr txBox="1"/>
          <p:nvPr/>
        </p:nvSpPr>
        <p:spPr>
          <a:xfrm>
            <a:off x="471340" y="197963"/>
            <a:ext cx="8691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Simple Linear Regression Equation in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10458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78F668-48F8-ABC2-E135-853D6F50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5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868E1-DCEB-BE58-757A-80D235E1171D}"/>
              </a:ext>
            </a:extLst>
          </p:cNvPr>
          <p:cNvSpPr txBox="1"/>
          <p:nvPr/>
        </p:nvSpPr>
        <p:spPr>
          <a:xfrm>
            <a:off x="1150070" y="216816"/>
            <a:ext cx="80127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/>
              <a:t>Why Simple Linear Regression Matters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BB8231-2723-32BD-EBA7-3244F6C2FC1C}"/>
              </a:ext>
            </a:extLst>
          </p:cNvPr>
          <p:cNvSpPr txBox="1"/>
          <p:nvPr/>
        </p:nvSpPr>
        <p:spPr>
          <a:xfrm>
            <a:off x="1244338" y="970962"/>
            <a:ext cx="9134573" cy="465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Simple Linear Regression introduces the </a:t>
            </a:r>
            <a:r>
              <a:rPr lang="en-US" sz="2000" b="1" dirty="0"/>
              <a:t>core ideas of supervised learning</a:t>
            </a:r>
            <a:r>
              <a:rPr lang="en-US" sz="2000" dirty="0"/>
              <a:t> — using input data (</a:t>
            </a:r>
            <a:r>
              <a:rPr lang="en-US" sz="2000" b="1" dirty="0"/>
              <a:t>x</a:t>
            </a:r>
            <a:r>
              <a:rPr lang="en-US" sz="2000" dirty="0"/>
              <a:t>) to predict an output (</a:t>
            </a:r>
            <a:r>
              <a:rPr lang="en-US" sz="2000" b="1" dirty="0"/>
              <a:t>y</a:t>
            </a:r>
            <a:r>
              <a:rPr lang="en-US" sz="2000" dirty="0"/>
              <a:t>) based on patterns.</a:t>
            </a:r>
            <a:br>
              <a:rPr lang="en-US" sz="2000" dirty="0"/>
            </a:br>
            <a:r>
              <a:rPr lang="en-US" sz="2000" dirty="0"/>
              <a:t>It teaches key concepts like: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Training data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Model fitting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Prediction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Error minimization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Evaluation metrics (like MSE – Mean Squared Error)</a:t>
            </a:r>
            <a:endParaRPr lang="en-US" sz="2000" dirty="0"/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These ideas reappear in almost every machine learning algorithm.</a:t>
            </a:r>
          </a:p>
        </p:txBody>
      </p:sp>
    </p:spTree>
    <p:extLst>
      <p:ext uri="{BB962C8B-B14F-4D97-AF65-F5344CB8AC3E}">
        <p14:creationId xmlns:p14="http://schemas.microsoft.com/office/powerpoint/2010/main" val="1916256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4D6C69-C897-8138-C6AE-9A8BA8C55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6</a:t>
            </a:fld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80091E-5449-2D47-09D1-BC83CB893388}"/>
              </a:ext>
            </a:extLst>
          </p:cNvPr>
          <p:cNvSpPr txBox="1"/>
          <p:nvPr/>
        </p:nvSpPr>
        <p:spPr>
          <a:xfrm>
            <a:off x="1291472" y="263952"/>
            <a:ext cx="78713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Simplicity &amp; Interpretability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5268B5-1AFC-30E4-BB3A-A1B69169DA58}"/>
              </a:ext>
            </a:extLst>
          </p:cNvPr>
          <p:cNvSpPr txBox="1"/>
          <p:nvPr/>
        </p:nvSpPr>
        <p:spPr>
          <a:xfrm>
            <a:off x="1696825" y="886121"/>
            <a:ext cx="8436989" cy="95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Easy to understand and explain to both technical and non-technical audiences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172F1E-DE48-42DC-7506-5629E289E0B8}"/>
              </a:ext>
            </a:extLst>
          </p:cNvPr>
          <p:cNvSpPr txBox="1"/>
          <p:nvPr/>
        </p:nvSpPr>
        <p:spPr>
          <a:xfrm>
            <a:off x="1706252" y="1960775"/>
            <a:ext cx="8050491" cy="95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It provides a </a:t>
            </a:r>
            <a:r>
              <a:rPr lang="en-US" sz="2000" b="1" dirty="0"/>
              <a:t>clear, mathematical relationship</a:t>
            </a:r>
            <a:r>
              <a:rPr lang="en-US" sz="2000" dirty="0"/>
              <a:t> between variables that’s easy to understand and visualize.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18F2611-61E4-185C-5612-BB7F86F0A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4533" y="3137273"/>
            <a:ext cx="8563122" cy="3265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slope (b₁)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shows how much the output changes for each unit increase in input.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intercept (b₀)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shows the baseline prediction when input is zero.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interpretability helps analysts explain models to non-technical audiences — which is crucial in fields like finance, business, and healthcare.</a:t>
            </a:r>
          </a:p>
        </p:txBody>
      </p:sp>
    </p:spTree>
    <p:extLst>
      <p:ext uri="{BB962C8B-B14F-4D97-AF65-F5344CB8AC3E}">
        <p14:creationId xmlns:p14="http://schemas.microsoft.com/office/powerpoint/2010/main" val="3407144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C37E84-8E94-ED86-23F4-EB5CE48D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7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C12193-993B-F804-D1AE-73CE359BC4AE}"/>
              </a:ext>
            </a:extLst>
          </p:cNvPr>
          <p:cNvSpPr txBox="1"/>
          <p:nvPr/>
        </p:nvSpPr>
        <p:spPr>
          <a:xfrm>
            <a:off x="1272619" y="292231"/>
            <a:ext cx="78902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Foundation for Complex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E7D62-8EAC-9380-12FF-F5AC0051B1E6}"/>
              </a:ext>
            </a:extLst>
          </p:cNvPr>
          <p:cNvSpPr txBox="1"/>
          <p:nvPr/>
        </p:nvSpPr>
        <p:spPr>
          <a:xfrm>
            <a:off x="1725106" y="923827"/>
            <a:ext cx="8851768" cy="95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Serves as the basis for logistic regression, neural networks, and advanced algorithms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172C88-B471-078C-3CAB-DB162E369E33}"/>
              </a:ext>
            </a:extLst>
          </p:cNvPr>
          <p:cNvSpPr txBox="1"/>
          <p:nvPr/>
        </p:nvSpPr>
        <p:spPr>
          <a:xfrm>
            <a:off x="1743960" y="1857081"/>
            <a:ext cx="9115720" cy="384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Many advanced algorithms (like </a:t>
            </a:r>
            <a:r>
              <a:rPr lang="en-US" sz="2000" b="1" dirty="0"/>
              <a:t>Multiple Linear Regression, Logistic Regression, Polynomial Regression</a:t>
            </a:r>
            <a:r>
              <a:rPr lang="en-US" sz="2000" dirty="0"/>
              <a:t>, and even </a:t>
            </a:r>
            <a:r>
              <a:rPr lang="en-US" sz="2000" b="1" dirty="0"/>
              <a:t>Neural Networks</a:t>
            </a:r>
            <a:r>
              <a:rPr lang="en-US" sz="2000" dirty="0"/>
              <a:t>) build upon the same principles as Simple Linear Regression: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Learning weights (or coefficients)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Reducing error using optimization techniques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Making predictions on unseen data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Understanding linear regression helps in grasping how these more complex models work internally.</a:t>
            </a:r>
          </a:p>
        </p:txBody>
      </p:sp>
    </p:spTree>
    <p:extLst>
      <p:ext uri="{BB962C8B-B14F-4D97-AF65-F5344CB8AC3E}">
        <p14:creationId xmlns:p14="http://schemas.microsoft.com/office/powerpoint/2010/main" val="1766148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C33E24-5747-2514-710B-E7AD56C7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8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04F395-AADF-251F-6122-9671ED058746}"/>
              </a:ext>
            </a:extLst>
          </p:cNvPr>
          <p:cNvSpPr txBox="1"/>
          <p:nvPr/>
        </p:nvSpPr>
        <p:spPr>
          <a:xfrm>
            <a:off x="1376313" y="292231"/>
            <a:ext cx="77865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Predictive Power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55460-54A3-FDA5-4F3E-166B7BB68E63}"/>
              </a:ext>
            </a:extLst>
          </p:cNvPr>
          <p:cNvSpPr txBox="1"/>
          <p:nvPr/>
        </p:nvSpPr>
        <p:spPr>
          <a:xfrm>
            <a:off x="1725104" y="838986"/>
            <a:ext cx="8851769" cy="1418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0" i="0" dirty="0">
                <a:effectLst/>
                <a:latin typeface="Century Gothic" panose="020B0502020202020204" pitchFamily="34" charset="0"/>
              </a:rPr>
              <a:t>It allows for making forecasts about future outcomes based on past data. For example, predicting sales based on advertising spend or estimating housing prices based on square footage. 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5A7F88-4B92-77A0-4764-C7E2A789722C}"/>
              </a:ext>
            </a:extLst>
          </p:cNvPr>
          <p:cNvSpPr txBox="1"/>
          <p:nvPr/>
        </p:nvSpPr>
        <p:spPr>
          <a:xfrm>
            <a:off x="1659118" y="2394409"/>
            <a:ext cx="8983744" cy="49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Accurately forecasts outcomes based on historical data patterns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CF7B6B-9FDA-7F5C-3C3A-0ED1837F7AA3}"/>
              </a:ext>
            </a:extLst>
          </p:cNvPr>
          <p:cNvSpPr txBox="1"/>
          <p:nvPr/>
        </p:nvSpPr>
        <p:spPr>
          <a:xfrm>
            <a:off x="1385740" y="3246690"/>
            <a:ext cx="88329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Efficiency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374B8D-36A4-4B8A-E993-24DC00D43EEE}"/>
              </a:ext>
            </a:extLst>
          </p:cNvPr>
          <p:cNvSpPr txBox="1"/>
          <p:nvPr/>
        </p:nvSpPr>
        <p:spPr>
          <a:xfrm>
            <a:off x="1762812" y="3780148"/>
            <a:ext cx="9087439" cy="49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Fast computation and highly effective for linear relationships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F82CDE-2D39-F129-06B9-4D4427001E17}"/>
              </a:ext>
            </a:extLst>
          </p:cNvPr>
          <p:cNvSpPr txBox="1"/>
          <p:nvPr/>
        </p:nvSpPr>
        <p:spPr>
          <a:xfrm>
            <a:off x="1743960" y="4400852"/>
            <a:ext cx="8314440" cy="95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0" i="0" dirty="0">
                <a:solidFill>
                  <a:srgbClr val="E6E8F0"/>
                </a:solidFill>
                <a:effectLst/>
                <a:latin typeface="Century Gothic" panose="020B0502020202020204" pitchFamily="34" charset="0"/>
              </a:rPr>
              <a:t>Linear regression models are computationally efficient and can be trained quickly, even on large datasets. </a:t>
            </a:r>
            <a:endParaRPr lang="en-US" sz="2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485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DC591A-94D1-B4BB-CABE-3ED08FEB1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9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53063B-E593-B8F1-8396-44ED43C3B30E}"/>
              </a:ext>
            </a:extLst>
          </p:cNvPr>
          <p:cNvSpPr txBox="1"/>
          <p:nvPr/>
        </p:nvSpPr>
        <p:spPr>
          <a:xfrm>
            <a:off x="1178352" y="301658"/>
            <a:ext cx="79845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i="0" dirty="0">
                <a:solidFill>
                  <a:srgbClr val="E6E8F0"/>
                </a:solidFill>
                <a:effectLst/>
                <a:latin typeface="Century Gothic" panose="020B0502020202020204" pitchFamily="34" charset="0"/>
              </a:rPr>
              <a:t>Data-driven decision-making: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B8E0C-5264-CCB1-9879-A975CC1C1B96}"/>
              </a:ext>
            </a:extLst>
          </p:cNvPr>
          <p:cNvSpPr txBox="1"/>
          <p:nvPr/>
        </p:nvSpPr>
        <p:spPr>
          <a:xfrm>
            <a:off x="1593130" y="857839"/>
            <a:ext cx="9973559" cy="1418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0" i="0" dirty="0">
                <a:solidFill>
                  <a:srgbClr val="E6E8F0"/>
                </a:solidFill>
                <a:effectLst/>
                <a:latin typeface="Century Gothic" panose="020B0502020202020204" pitchFamily="34" charset="0"/>
              </a:rPr>
              <a:t>By transforming large datasets into actionable information, it helps businesses and organizations make better decisions instead of relying solely on intuition or experience. 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0DD567-5566-3BCE-5ADD-7B44A1ABF15A}"/>
              </a:ext>
            </a:extLst>
          </p:cNvPr>
          <p:cNvSpPr txBox="1"/>
          <p:nvPr/>
        </p:nvSpPr>
        <p:spPr>
          <a:xfrm>
            <a:off x="1112363" y="2347274"/>
            <a:ext cx="8323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i="0" dirty="0">
                <a:solidFill>
                  <a:srgbClr val="E6E8F0"/>
                </a:solidFill>
                <a:effectLst/>
                <a:latin typeface="Century Gothic" panose="020B0502020202020204" pitchFamily="34" charset="0"/>
              </a:rPr>
              <a:t>Variable significance: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FC0279-93D0-000C-F394-149D3B9ABC29}"/>
              </a:ext>
            </a:extLst>
          </p:cNvPr>
          <p:cNvSpPr txBox="1"/>
          <p:nvPr/>
        </p:nvSpPr>
        <p:spPr>
          <a:xfrm>
            <a:off x="1564849" y="2969443"/>
            <a:ext cx="9794451" cy="95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0" i="0" dirty="0">
                <a:solidFill>
                  <a:srgbClr val="E6E8F0"/>
                </a:solidFill>
                <a:effectLst/>
                <a:latin typeface="Century Gothic" panose="020B0502020202020204" pitchFamily="34" charset="0"/>
              </a:rPr>
              <a:t>It helps identify which independent variables have a significant impact on the outcome variable. 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86692-0166-85CD-3BB1-463A2985E9FF}"/>
              </a:ext>
            </a:extLst>
          </p:cNvPr>
          <p:cNvSpPr txBox="1"/>
          <p:nvPr/>
        </p:nvSpPr>
        <p:spPr>
          <a:xfrm>
            <a:off x="1197204" y="3985353"/>
            <a:ext cx="79656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i="0" dirty="0">
                <a:solidFill>
                  <a:srgbClr val="E6E8F0"/>
                </a:solidFill>
                <a:effectLst/>
                <a:latin typeface="Century Gothic" panose="020B0502020202020204" pitchFamily="34" charset="0"/>
              </a:rPr>
              <a:t>Analytical insights: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90906D-B422-C334-2EBC-9AFD4A627974}"/>
              </a:ext>
            </a:extLst>
          </p:cNvPr>
          <p:cNvSpPr txBox="1"/>
          <p:nvPr/>
        </p:nvSpPr>
        <p:spPr>
          <a:xfrm>
            <a:off x="1611984" y="4534294"/>
            <a:ext cx="9266548" cy="1418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0" i="0" dirty="0">
                <a:solidFill>
                  <a:srgbClr val="E6E8F0"/>
                </a:solidFill>
                <a:effectLst/>
                <a:latin typeface="Century Gothic" panose="020B0502020202020204" pitchFamily="34" charset="0"/>
              </a:rPr>
              <a:t>It reveals how much one variable is expected to change as another variable increases, providing valuable analytical insights into the relationship between them. </a:t>
            </a:r>
            <a:endParaRPr lang="en-US" sz="2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809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81C5E3-C4C0-77F4-58DA-A44173CA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10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7E7EF-8DB7-C1FE-312E-3EAC3C8B6269}"/>
              </a:ext>
            </a:extLst>
          </p:cNvPr>
          <p:cNvSpPr txBox="1"/>
          <p:nvPr/>
        </p:nvSpPr>
        <p:spPr>
          <a:xfrm>
            <a:off x="1084082" y="282804"/>
            <a:ext cx="94362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/>
              <a:t>The Best-Fit Line: The Heart of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349A11-A322-CFBE-937A-2DC1D9F2A78E}"/>
                  </a:ext>
                </a:extLst>
              </p:cNvPr>
              <p:cNvSpPr txBox="1"/>
              <p:nvPr/>
            </p:nvSpPr>
            <p:spPr>
              <a:xfrm>
                <a:off x="1084082" y="1027523"/>
                <a:ext cx="10199803" cy="5101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Century Gothic" panose="020B0502020202020204" pitchFamily="34" charset="0"/>
                  </a:rPr>
                  <a:t>In Simple Linear Regression, the </a:t>
                </a:r>
                <a:r>
                  <a:rPr lang="en-US" sz="2000" b="1" dirty="0">
                    <a:latin typeface="Century Gothic" panose="020B0502020202020204" pitchFamily="34" charset="0"/>
                  </a:rPr>
                  <a:t>best-fit line</a:t>
                </a:r>
                <a:r>
                  <a:rPr lang="en-US" sz="2000" dirty="0">
                    <a:latin typeface="Century Gothic" panose="020B0502020202020204" pitchFamily="34" charset="0"/>
                  </a:rPr>
                  <a:t> (also called the </a:t>
                </a:r>
                <a:r>
                  <a:rPr lang="en-US" sz="2000" b="1" dirty="0">
                    <a:latin typeface="Century Gothic" panose="020B0502020202020204" pitchFamily="34" charset="0"/>
                  </a:rPr>
                  <a:t>regression line</a:t>
                </a:r>
                <a:r>
                  <a:rPr lang="en-US" sz="2000" dirty="0">
                    <a:latin typeface="Century Gothic" panose="020B0502020202020204" pitchFamily="34" charset="0"/>
                  </a:rPr>
                  <a:t>) is the straight line that passes through the data points such that the </a:t>
                </a:r>
                <a:r>
                  <a:rPr lang="en-US" sz="2000" b="1" dirty="0">
                    <a:latin typeface="Century Gothic" panose="020B0502020202020204" pitchFamily="34" charset="0"/>
                  </a:rPr>
                  <a:t>difference between actual and predicted values</a:t>
                </a:r>
                <a:r>
                  <a:rPr lang="en-US" sz="2000" dirty="0">
                    <a:latin typeface="Century Gothic" panose="020B0502020202020204" pitchFamily="34" charset="0"/>
                  </a:rPr>
                  <a:t> is as small as possible.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Century Gothic" panose="020B0502020202020204" pitchFamily="34" charset="0"/>
                  </a:rPr>
                  <a:t>Mathematically, it’s represented as: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sz="24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Century Gothic" panose="020B0502020202020204" pitchFamily="34" charset="0"/>
                  </a:rPr>
                  <a:t>Where: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400" b="1" dirty="0">
                    <a:latin typeface="Century Gothic" panose="020B0502020202020204" pitchFamily="34" charset="0"/>
                  </a:rPr>
                  <a:t>y</a:t>
                </a:r>
                <a:r>
                  <a:rPr lang="en-US" sz="2400" dirty="0">
                    <a:latin typeface="Century Gothic" panose="020B0502020202020204" pitchFamily="34" charset="0"/>
                  </a:rPr>
                  <a:t> → predicted value (output)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400" b="1" dirty="0">
                    <a:latin typeface="Century Gothic" panose="020B0502020202020204" pitchFamily="34" charset="0"/>
                  </a:rPr>
                  <a:t>x</a:t>
                </a:r>
                <a:r>
                  <a:rPr lang="en-US" sz="2400" dirty="0">
                    <a:latin typeface="Century Gothic" panose="020B0502020202020204" pitchFamily="34" charset="0"/>
                  </a:rPr>
                  <a:t> → input feature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400" b="1" dirty="0">
                    <a:latin typeface="Century Gothic" panose="020B0502020202020204" pitchFamily="34" charset="0"/>
                  </a:rPr>
                  <a:t>b₀</a:t>
                </a:r>
                <a:r>
                  <a:rPr lang="en-US" sz="2400" dirty="0">
                    <a:latin typeface="Century Gothic" panose="020B0502020202020204" pitchFamily="34" charset="0"/>
                  </a:rPr>
                  <a:t> → intercept (value of y when x = 0)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400" b="1" dirty="0">
                    <a:latin typeface="Century Gothic" panose="020B0502020202020204" pitchFamily="34" charset="0"/>
                  </a:rPr>
                  <a:t>b₁</a:t>
                </a:r>
                <a:r>
                  <a:rPr lang="en-US" sz="2400" dirty="0">
                    <a:latin typeface="Century Gothic" panose="020B0502020202020204" pitchFamily="34" charset="0"/>
                  </a:rPr>
                  <a:t> → slope (how much y changes when x increases by 1 unit)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349A11-A322-CFBE-937A-2DC1D9F2A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082" y="1027523"/>
                <a:ext cx="10199803" cy="5101589"/>
              </a:xfrm>
              <a:prstGeom prst="rect">
                <a:avLst/>
              </a:prstGeom>
              <a:blipFill>
                <a:blip r:embed="rId2"/>
                <a:stretch>
                  <a:fillRect l="-837" b="-1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6233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2772A4-AA6C-B91F-E1CF-094A897B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11</a:t>
            </a:fld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6C1B9-613C-3DEB-74B4-EC22C5AFF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71" y="1172013"/>
            <a:ext cx="7315200" cy="47638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F9A985-9F12-6618-8ECD-05DF876BE10E}"/>
              </a:ext>
            </a:extLst>
          </p:cNvPr>
          <p:cNvSpPr txBox="1"/>
          <p:nvPr/>
        </p:nvSpPr>
        <p:spPr>
          <a:xfrm>
            <a:off x="1338606" y="263951"/>
            <a:ext cx="3525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3028231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D258C2-276B-3D72-CD66-2B0B56408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12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3EB45-3ACE-DF94-3AE4-AEAD3442403F}"/>
              </a:ext>
            </a:extLst>
          </p:cNvPr>
          <p:cNvSpPr txBox="1"/>
          <p:nvPr/>
        </p:nvSpPr>
        <p:spPr>
          <a:xfrm>
            <a:off x="2111604" y="273377"/>
            <a:ext cx="76828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>
                <a:latin typeface="Century Gothic" panose="020B0502020202020204" pitchFamily="34" charset="0"/>
              </a:rPr>
              <a:t>Minimizing Error: The Least Squares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D6CF8C-9984-B071-F7CB-603B25146F0B}"/>
              </a:ext>
            </a:extLst>
          </p:cNvPr>
          <p:cNvSpPr txBox="1"/>
          <p:nvPr/>
        </p:nvSpPr>
        <p:spPr>
          <a:xfrm>
            <a:off x="980387" y="999241"/>
            <a:ext cx="10001839" cy="1418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Minimizing Error: The Least Squares Method</a:t>
            </a:r>
            <a:r>
              <a:rPr lang="en-US" sz="2000" dirty="0"/>
              <a:t> is one of the most important ideas behind </a:t>
            </a:r>
            <a:r>
              <a:rPr lang="en-US" sz="2000" b="1" dirty="0"/>
              <a:t>Simple Linear Regression</a:t>
            </a:r>
            <a:r>
              <a:rPr lang="en-US" sz="2000" dirty="0"/>
              <a:t> and machine learning in general. It’s the process that allows us to find the </a:t>
            </a:r>
            <a:r>
              <a:rPr lang="en-US" sz="2000" b="1" dirty="0"/>
              <a:t>best-fit line</a:t>
            </a:r>
            <a:r>
              <a:rPr lang="en-US" sz="2000" dirty="0"/>
              <a:t> mathematically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5D44E9-E428-B1E3-BE8B-461F57E309CF}"/>
              </a:ext>
            </a:extLst>
          </p:cNvPr>
          <p:cNvSpPr txBox="1"/>
          <p:nvPr/>
        </p:nvSpPr>
        <p:spPr>
          <a:xfrm>
            <a:off x="1112363" y="2592372"/>
            <a:ext cx="4807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The Least Squares Method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FF04D7-FBC5-CE12-6BCB-A540FF2811C7}"/>
              </a:ext>
            </a:extLst>
          </p:cNvPr>
          <p:cNvSpPr txBox="1"/>
          <p:nvPr/>
        </p:nvSpPr>
        <p:spPr>
          <a:xfrm>
            <a:off x="970962" y="3157979"/>
            <a:ext cx="9860436" cy="188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The </a:t>
            </a:r>
            <a:r>
              <a:rPr lang="en-US" sz="2000" b="1" dirty="0"/>
              <a:t>Least Squares Method</a:t>
            </a:r>
            <a:r>
              <a:rPr lang="en-US" sz="2000" dirty="0"/>
              <a:t> is a mathematical technique used to find the </a:t>
            </a:r>
            <a:r>
              <a:rPr lang="en-US" sz="2000" b="1" dirty="0"/>
              <a:t>best-fitting line</a:t>
            </a:r>
            <a:r>
              <a:rPr lang="en-US" sz="2000" dirty="0"/>
              <a:t> through a set of data points by </a:t>
            </a:r>
            <a:r>
              <a:rPr lang="en-US" sz="2000" b="1" dirty="0"/>
              <a:t>minimizing the sum of the squares of the errors (residuals)</a:t>
            </a:r>
            <a:r>
              <a:rPr lang="en-US" sz="2000" dirty="0"/>
              <a:t> between the observed values and the values predicted by the line.</a:t>
            </a:r>
          </a:p>
        </p:txBody>
      </p:sp>
    </p:spTree>
    <p:extLst>
      <p:ext uri="{BB962C8B-B14F-4D97-AF65-F5344CB8AC3E}">
        <p14:creationId xmlns:p14="http://schemas.microsoft.com/office/powerpoint/2010/main" val="1878055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78A945-B24F-6882-BEB8-B0631BFDE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13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E18ACD-E1BF-E9FE-89F1-48E09ECADBD6}"/>
              </a:ext>
            </a:extLst>
          </p:cNvPr>
          <p:cNvSpPr txBox="1"/>
          <p:nvPr/>
        </p:nvSpPr>
        <p:spPr>
          <a:xfrm>
            <a:off x="1055802" y="245097"/>
            <a:ext cx="8107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Understanding “Error” or “Residual”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9208F0-A22A-A672-E8D0-4BF59089E81D}"/>
                  </a:ext>
                </a:extLst>
              </p:cNvPr>
              <p:cNvSpPr txBox="1"/>
              <p:nvPr/>
            </p:nvSpPr>
            <p:spPr>
              <a:xfrm>
                <a:off x="961534" y="876693"/>
                <a:ext cx="9954705" cy="3819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cy-GB" sz="2400" b="1" dirty="0"/>
                  <a:t>For each data point in your dataset, you have: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cy-GB" sz="2000" b="1" dirty="0"/>
                  <a:t>Actual value (yᵢ)</a:t>
                </a:r>
                <a:r>
                  <a:rPr lang="cy-GB" sz="2000" dirty="0"/>
                  <a:t> — what you observe from data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cy-GB" sz="2000" b="1" dirty="0"/>
                  <a:t>Predicted value (ŷᵢ)</a:t>
                </a:r>
                <a:r>
                  <a:rPr lang="cy-GB" sz="2000" dirty="0"/>
                  <a:t> — what your regression line estimates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cy-GB" sz="2000" dirty="0">
                    <a:latin typeface="Century Gothic" panose="020B0502020202020204" pitchFamily="34" charset="0"/>
                  </a:rPr>
                  <a:t>The </a:t>
                </a:r>
                <a:r>
                  <a:rPr lang="cy-GB" sz="2000" b="1" dirty="0">
                    <a:latin typeface="Century Gothic" panose="020B0502020202020204" pitchFamily="34" charset="0"/>
                  </a:rPr>
                  <a:t>error (or residual)</a:t>
                </a:r>
                <a:r>
                  <a:rPr lang="cy-GB" sz="2000" dirty="0">
                    <a:latin typeface="Century Gothic" panose="020B0502020202020204" pitchFamily="34" charset="0"/>
                  </a:rPr>
                  <a:t> for each point is: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ar-AE" sz="2000" dirty="0">
                  <a:latin typeface="Century Gothic" panose="020B0502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cy-GB" sz="2000" dirty="0"/>
                  <a:t>If the model predicts perfectly, this error would be </a:t>
                </a:r>
                <a:r>
                  <a:rPr lang="cy-GB" sz="2000" b="1" dirty="0"/>
                  <a:t>zero</a:t>
                </a:r>
                <a:r>
                  <a:rPr lang="cy-GB" sz="2000" dirty="0"/>
                  <a:t>.</a:t>
                </a:r>
                <a:br>
                  <a:rPr lang="cy-GB" sz="2000" dirty="0"/>
                </a:br>
                <a:r>
                  <a:rPr lang="cy-GB" sz="2000" dirty="0"/>
                  <a:t>But in real data, there are always some differences — the Least Squares Method tries to make these differences collectively as small as possible.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9208F0-A22A-A672-E8D0-4BF59089E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34" y="876693"/>
                <a:ext cx="9954705" cy="3819444"/>
              </a:xfrm>
              <a:prstGeom prst="rect">
                <a:avLst/>
              </a:prstGeom>
              <a:blipFill>
                <a:blip r:embed="rId2"/>
                <a:stretch>
                  <a:fillRect l="-980" b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493E924-C507-F2D8-8444-5953889A6A10}"/>
              </a:ext>
            </a:extLst>
          </p:cNvPr>
          <p:cNvSpPr txBox="1"/>
          <p:nvPr/>
        </p:nvSpPr>
        <p:spPr>
          <a:xfrm>
            <a:off x="1018096" y="4724018"/>
            <a:ext cx="81447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/>
              <a:t>Calculate Residuals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728932-7067-537D-2518-725BEE1D360E}"/>
              </a:ext>
            </a:extLst>
          </p:cNvPr>
          <p:cNvSpPr txBox="1"/>
          <p:nvPr/>
        </p:nvSpPr>
        <p:spPr>
          <a:xfrm>
            <a:off x="1140643" y="5279011"/>
            <a:ext cx="80222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Measure differences between actual and predicted values for each data point</a:t>
            </a:r>
          </a:p>
        </p:txBody>
      </p:sp>
    </p:spTree>
    <p:extLst>
      <p:ext uri="{BB962C8B-B14F-4D97-AF65-F5344CB8AC3E}">
        <p14:creationId xmlns:p14="http://schemas.microsoft.com/office/powerpoint/2010/main" val="2201628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A228A7-5211-C99D-72A8-95C0811EC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14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BC4680-9A00-6727-D0BA-3B58F4F5DACF}"/>
              </a:ext>
            </a:extLst>
          </p:cNvPr>
          <p:cNvSpPr txBox="1"/>
          <p:nvPr/>
        </p:nvSpPr>
        <p:spPr>
          <a:xfrm>
            <a:off x="1084082" y="216816"/>
            <a:ext cx="80787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/>
              <a:t>Square the Errors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4D971-8A24-8DA3-EFE1-9874D090632D}"/>
              </a:ext>
            </a:extLst>
          </p:cNvPr>
          <p:cNvSpPr txBox="1"/>
          <p:nvPr/>
        </p:nvSpPr>
        <p:spPr>
          <a:xfrm>
            <a:off x="1310326" y="895547"/>
            <a:ext cx="8946037" cy="95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Square each residual to eliminate negative values and emphasize larger errors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AF2971-3C92-6A9E-2492-41ECD1693295}"/>
              </a:ext>
            </a:extLst>
          </p:cNvPr>
          <p:cNvSpPr txBox="1"/>
          <p:nvPr/>
        </p:nvSpPr>
        <p:spPr>
          <a:xfrm>
            <a:off x="1225485" y="1923068"/>
            <a:ext cx="7937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Why “Squares”?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BEA6C9-7012-BC18-5373-9B6F22B3498D}"/>
              </a:ext>
            </a:extLst>
          </p:cNvPr>
          <p:cNvSpPr txBox="1"/>
          <p:nvPr/>
        </p:nvSpPr>
        <p:spPr>
          <a:xfrm>
            <a:off x="1376313" y="2516957"/>
            <a:ext cx="9634194" cy="280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We </a:t>
            </a:r>
            <a:r>
              <a:rPr lang="en-US" sz="2000" b="1" dirty="0"/>
              <a:t>square the errors</a:t>
            </a:r>
            <a:r>
              <a:rPr lang="en-US" sz="2000" dirty="0"/>
              <a:t> instead of just summing them for two key reasons: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To remove negative signs</a:t>
            </a:r>
            <a:r>
              <a:rPr lang="en-US" sz="2000" dirty="0"/>
              <a:t> — since some points lie above and some below the line.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To penalize large errors more heavily</a:t>
            </a:r>
            <a:r>
              <a:rPr lang="en-US" sz="2000" dirty="0"/>
              <a:t> — squaring makes large deviations count more, leading to a more accurate fit overall.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So the </a:t>
            </a:r>
            <a:r>
              <a:rPr lang="en-US" sz="2000" b="1" dirty="0"/>
              <a:t>total squared error</a:t>
            </a:r>
            <a:r>
              <a:rPr lang="en-US" sz="2000" dirty="0"/>
              <a:t> (also called the </a:t>
            </a:r>
            <a:r>
              <a:rPr lang="en-US" sz="2000" b="1" dirty="0"/>
              <a:t>Sum of Squared Errors</a:t>
            </a:r>
            <a:r>
              <a:rPr lang="en-US" sz="2000" dirty="0"/>
              <a:t>, SSE) is: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B6389C-ACA3-6C44-0713-CAD11C0A5EA9}"/>
              </a:ext>
            </a:extLst>
          </p:cNvPr>
          <p:cNvSpPr txBox="1"/>
          <p:nvPr/>
        </p:nvSpPr>
        <p:spPr>
          <a:xfrm rot="10800000" flipV="1">
            <a:off x="4223206" y="5575174"/>
            <a:ext cx="3403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SSE=∑(</a:t>
            </a:r>
            <a:r>
              <a:rPr lang="en-US" sz="2800" b="1" dirty="0" err="1">
                <a:solidFill>
                  <a:schemeClr val="bg2">
                    <a:lumMod val="50000"/>
                  </a:schemeClr>
                </a:solidFill>
              </a:rPr>
              <a:t>yi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​−</a:t>
            </a:r>
            <a:r>
              <a:rPr lang="en-US" sz="2800" b="1" dirty="0" err="1">
                <a:solidFill>
                  <a:schemeClr val="bg2">
                    <a:lumMod val="50000"/>
                  </a:schemeClr>
                </a:solidFill>
              </a:rPr>
              <a:t>yi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​^​)2</a:t>
            </a:r>
          </a:p>
        </p:txBody>
      </p:sp>
    </p:spTree>
    <p:extLst>
      <p:ext uri="{BB962C8B-B14F-4D97-AF65-F5344CB8AC3E}">
        <p14:creationId xmlns:p14="http://schemas.microsoft.com/office/powerpoint/2010/main" val="788979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D71477-0E02-2DC0-4068-83F621F31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15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2D3E16-2E99-1E0F-6DFC-50DCAE41F593}"/>
              </a:ext>
            </a:extLst>
          </p:cNvPr>
          <p:cNvSpPr txBox="1"/>
          <p:nvPr/>
        </p:nvSpPr>
        <p:spPr>
          <a:xfrm>
            <a:off x="1366887" y="169682"/>
            <a:ext cx="77959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/>
              <a:t>Minimize the Sum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248642-96A8-5BD8-0D3C-EAAFE459AE64}"/>
              </a:ext>
            </a:extLst>
          </p:cNvPr>
          <p:cNvSpPr txBox="1"/>
          <p:nvPr/>
        </p:nvSpPr>
        <p:spPr>
          <a:xfrm>
            <a:off x="1536569" y="876693"/>
            <a:ext cx="9228841" cy="49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Find the line that minimizes the sum of squared residuals for optimal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1C4BE7-BDC2-0A73-50A9-1684B1F1436C}"/>
                  </a:ext>
                </a:extLst>
              </p:cNvPr>
              <p:cNvSpPr txBox="1"/>
              <p:nvPr/>
            </p:nvSpPr>
            <p:spPr>
              <a:xfrm>
                <a:off x="1574276" y="1376314"/>
                <a:ext cx="10246936" cy="4426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000" dirty="0"/>
                  <a:t>The objective is to find the slope (</a:t>
                </a:r>
                <a:r>
                  <a:rPr lang="en-US" sz="2000" b="1" dirty="0"/>
                  <a:t>b₁</a:t>
                </a:r>
                <a:r>
                  <a:rPr lang="en-US" sz="2000" dirty="0"/>
                  <a:t>) and intercept (</a:t>
                </a:r>
                <a:r>
                  <a:rPr lang="en-US" sz="2000" b="1" dirty="0"/>
                  <a:t>b₀</a:t>
                </a:r>
                <a:r>
                  <a:rPr lang="en-US" sz="2000" dirty="0"/>
                  <a:t>) that minimize this SSE: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                                  </a:t>
                </a:r>
                <a:r>
                  <a:rPr lang="en-US" sz="2400" b="1" dirty="0">
                    <a:solidFill>
                      <a:schemeClr val="bg2">
                        <a:lumMod val="50000"/>
                      </a:schemeClr>
                    </a:solidFill>
                  </a:rPr>
                  <a:t>Minimize SSE=∑(</a:t>
                </a:r>
                <a:r>
                  <a:rPr lang="en-US" sz="2400" b="1" dirty="0" err="1">
                    <a:solidFill>
                      <a:schemeClr val="bg2">
                        <a:lumMod val="50000"/>
                      </a:schemeClr>
                    </a:solidFill>
                  </a:rPr>
                  <a:t>yi</a:t>
                </a:r>
                <a:r>
                  <a:rPr lang="en-US" sz="2400" b="1" dirty="0">
                    <a:solidFill>
                      <a:schemeClr val="bg2">
                        <a:lumMod val="50000"/>
                      </a:schemeClr>
                    </a:solidFill>
                  </a:rPr>
                  <a:t>​−(b0​+b1​xi​))2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000" dirty="0"/>
                  <a:t>By using calculus (taking partial derivatives and setting them to zero), we derive formulas for the optimal coefficients: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b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1​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∑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xi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​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x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ˉ)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2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∑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xi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​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x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ˉ)(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yi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​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y</m:t>
                      </m:r>
                      <m:r>
                        <m:rPr>
                          <m:nor/>
                        </m:rPr>
                        <a:rPr lang="en-US" sz="2400" b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m:t>ˉ​)​ </m:t>
                      </m:r>
                    </m:oMath>
                  </m:oMathPara>
                </a14:m>
                <a:endParaRPr lang="en-US" sz="2400" b="1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b="1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ar-AE" sz="24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ar-AE" sz="2400" b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lang="ar-AE" sz="24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sz="24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lim>
                          <m:r>
                            <a:rPr lang="ar-AE" sz="2400" b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sz="2400" b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24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ar-AE" sz="24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limUpp>
                        <m:limUppPr>
                          <m:ctrlPr>
                            <a:rPr lang="ar-AE" sz="24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sz="24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lim>
                          <m:r>
                            <a:rPr lang="ar-AE" sz="2400" b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</m:oMath>
                  </m:oMathPara>
                </a14:m>
                <a:endParaRPr lang="ar-AE" sz="2400" b="1" dirty="0">
                  <a:latin typeface="Century Gothic" panose="020B0502020202020204" pitchFamily="34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endParaRPr lang="ar-AE" sz="20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2000" dirty="0"/>
                  <a:t>These values ensure the line fits the data with the smallest total squared deviation.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1C4BE7-BDC2-0A73-50A9-1684B1F14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276" y="1376314"/>
                <a:ext cx="10246936" cy="4426725"/>
              </a:xfrm>
              <a:prstGeom prst="rect">
                <a:avLst/>
              </a:prstGeom>
              <a:blipFill>
                <a:blip r:embed="rId2"/>
                <a:stretch>
                  <a:fillRect l="-595" r="-476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699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087BEB-EC4E-ABB0-D1CE-9B45B373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16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E7B335-C3A4-2B7E-E37E-6CD6FF0B549E}"/>
              </a:ext>
            </a:extLst>
          </p:cNvPr>
          <p:cNvSpPr txBox="1"/>
          <p:nvPr/>
        </p:nvSpPr>
        <p:spPr>
          <a:xfrm>
            <a:off x="1593131" y="169683"/>
            <a:ext cx="9841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/>
              <a:t>Assumptions Behind Simple Linear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938C8-C95F-15E4-2BC9-AA981F91D75D}"/>
              </a:ext>
            </a:extLst>
          </p:cNvPr>
          <p:cNvSpPr txBox="1"/>
          <p:nvPr/>
        </p:nvSpPr>
        <p:spPr>
          <a:xfrm>
            <a:off x="744718" y="876693"/>
            <a:ext cx="11349872" cy="49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/>
              <a:t>For simple linear regression to work effectively, several key assumptions must hold true: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4A101F-BEF5-D48B-A809-2ED61EC86282}"/>
              </a:ext>
            </a:extLst>
          </p:cNvPr>
          <p:cNvSpPr txBox="1"/>
          <p:nvPr/>
        </p:nvSpPr>
        <p:spPr>
          <a:xfrm>
            <a:off x="1366887" y="1857080"/>
            <a:ext cx="9964131" cy="49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The relationship between X and Y must be linear- a straight line can model 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D1B956-5643-AFD7-79BC-FF9345C39FCC}"/>
              </a:ext>
            </a:extLst>
          </p:cNvPr>
          <p:cNvSpPr txBox="1"/>
          <p:nvPr/>
        </p:nvSpPr>
        <p:spPr>
          <a:xfrm>
            <a:off x="1263192" y="1489435"/>
            <a:ext cx="7899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Linearity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83022730-98AE-9B32-EDC6-A8D89AA470B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76313" y="2346384"/>
            <a:ext cx="10218656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relationship between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X and 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must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linear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means: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Y=β0​+β1​X+ϵ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where ϵ is the random error.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Interpretation: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Changes in X lead to proportional changes in 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Check: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scatter plot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X vs. Y — it should show a roughly straight-line pattern.</a:t>
            </a:r>
          </a:p>
        </p:txBody>
      </p:sp>
    </p:spTree>
    <p:extLst>
      <p:ext uri="{BB962C8B-B14F-4D97-AF65-F5344CB8AC3E}">
        <p14:creationId xmlns:p14="http://schemas.microsoft.com/office/powerpoint/2010/main" val="3155992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CF5FE2-EFD6-5F8B-491F-AA6EE24B7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17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FFB56-DB72-8404-EBE2-EE7EF2171F39}"/>
              </a:ext>
            </a:extLst>
          </p:cNvPr>
          <p:cNvSpPr txBox="1"/>
          <p:nvPr/>
        </p:nvSpPr>
        <p:spPr>
          <a:xfrm>
            <a:off x="1282045" y="197963"/>
            <a:ext cx="78808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/>
              <a:t>Independence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7980D-4D4F-4900-9219-DA6A0934F82E}"/>
              </a:ext>
            </a:extLst>
          </p:cNvPr>
          <p:cNvSpPr txBox="1"/>
          <p:nvPr/>
        </p:nvSpPr>
        <p:spPr>
          <a:xfrm>
            <a:off x="1621411" y="725865"/>
            <a:ext cx="8653806" cy="95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Observations are independent of each other; one data point doesn't influence another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C165E05-61FC-C874-5103-631AFD1E0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410" y="1738124"/>
            <a:ext cx="9279987" cy="1418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residuals (errors)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should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independent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each other.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There should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autocorrelation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(especially in time series data).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Check: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Plot residuals vs. time or use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Durbin–Watson test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BDB2E1-50DA-E667-6E26-4785B7D9C1E1}"/>
              </a:ext>
            </a:extLst>
          </p:cNvPr>
          <p:cNvSpPr txBox="1"/>
          <p:nvPr/>
        </p:nvSpPr>
        <p:spPr>
          <a:xfrm rot="10800000" flipV="1">
            <a:off x="1244338" y="3359930"/>
            <a:ext cx="7918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Homoscedasticity (Constant Variance of Errors)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05366D-5E7B-89E4-0CC2-C41DFB6CB540}"/>
              </a:ext>
            </a:extLst>
          </p:cNvPr>
          <p:cNvSpPr txBox="1"/>
          <p:nvPr/>
        </p:nvSpPr>
        <p:spPr>
          <a:xfrm>
            <a:off x="1687399" y="3949832"/>
            <a:ext cx="8616100" cy="95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The variance of residuals remains constant across all levels of the independent variable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1830D11-3D68-4823-E636-5D38B06AE22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25104" y="4840716"/>
            <a:ext cx="8889475" cy="1880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variance of residuals should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constant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across all levels of X.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not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 data suffers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heteroscedasticity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Check: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Plot residuals vs. fitted values — the spread should be uniform (no funnel shape).</a:t>
            </a:r>
          </a:p>
        </p:txBody>
      </p:sp>
    </p:spTree>
    <p:extLst>
      <p:ext uri="{BB962C8B-B14F-4D97-AF65-F5344CB8AC3E}">
        <p14:creationId xmlns:p14="http://schemas.microsoft.com/office/powerpoint/2010/main" val="3844241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67EDED-D791-C708-8472-BB4B90BB5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18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9D40F7-AC3D-8B66-B2F1-281739DCFF41}"/>
              </a:ext>
            </a:extLst>
          </p:cNvPr>
          <p:cNvSpPr txBox="1"/>
          <p:nvPr/>
        </p:nvSpPr>
        <p:spPr>
          <a:xfrm>
            <a:off x="1187778" y="141403"/>
            <a:ext cx="7975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Normality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4B6FB-CA91-4FE6-A9BA-0495907319E8}"/>
              </a:ext>
            </a:extLst>
          </p:cNvPr>
          <p:cNvSpPr txBox="1"/>
          <p:nvPr/>
        </p:nvSpPr>
        <p:spPr>
          <a:xfrm>
            <a:off x="1640264" y="480767"/>
            <a:ext cx="8550111" cy="95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Residuals follow a normal distribution (especially important for statistical inference)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ED448B1-985F-CF92-8AA6-7FECDD43293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77970" y="1486209"/>
            <a:ext cx="9370241" cy="1880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residuals (errors) should follow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normal distribution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assumption is important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hypothesis testing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(e.g., t-tests, F-tests).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Check: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histogram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Q-Q plot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residuals — they should look approximately normal.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80221-84C2-373E-28AD-C2CD47D3E959}"/>
              </a:ext>
            </a:extLst>
          </p:cNvPr>
          <p:cNvSpPr txBox="1"/>
          <p:nvPr/>
        </p:nvSpPr>
        <p:spPr>
          <a:xfrm rot="10800000" flipV="1">
            <a:off x="1234911" y="3465981"/>
            <a:ext cx="79279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No or Minimal Measurement Error in X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02EB30B-E423-F2EF-6B82-368042B3009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55423" y="4043032"/>
            <a:ext cx="9558778" cy="1418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independent variable X should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measured accurately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Measurement errors in X can lead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biased estimates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the regression coefficients.</a:t>
            </a:r>
          </a:p>
        </p:txBody>
      </p:sp>
    </p:spTree>
    <p:extLst>
      <p:ext uri="{BB962C8B-B14F-4D97-AF65-F5344CB8AC3E}">
        <p14:creationId xmlns:p14="http://schemas.microsoft.com/office/powerpoint/2010/main" val="1232070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5463B4-A587-98A5-F2F6-24E031DE4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19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45126-5DF2-607B-FDE5-28E5DD836EBE}"/>
              </a:ext>
            </a:extLst>
          </p:cNvPr>
          <p:cNvSpPr txBox="1"/>
          <p:nvPr/>
        </p:nvSpPr>
        <p:spPr>
          <a:xfrm>
            <a:off x="471340" y="245097"/>
            <a:ext cx="8691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/>
              <a:t>Visualizing Simple Linear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AAE9D6-D649-0974-CA13-6D57B538523A}"/>
              </a:ext>
            </a:extLst>
          </p:cNvPr>
          <p:cNvSpPr txBox="1"/>
          <p:nvPr/>
        </p:nvSpPr>
        <p:spPr>
          <a:xfrm>
            <a:off x="1036948" y="1140643"/>
            <a:ext cx="81259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Key Visual Elements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CAFA24-9763-89CF-204B-C9E00E299D9B}"/>
              </a:ext>
            </a:extLst>
          </p:cNvPr>
          <p:cNvSpPr txBox="1"/>
          <p:nvPr/>
        </p:nvSpPr>
        <p:spPr>
          <a:xfrm>
            <a:off x="1008668" y="1762812"/>
            <a:ext cx="8154185" cy="188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Scatter plot shows individual data points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Green line represents the best-fit regression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Slope indicates rate of change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Intercept shows starting value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BF276-5440-8DE1-C5C4-AC4E9E5D900F}"/>
              </a:ext>
            </a:extLst>
          </p:cNvPr>
          <p:cNvSpPr txBox="1"/>
          <p:nvPr/>
        </p:nvSpPr>
        <p:spPr>
          <a:xfrm rot="10800000" flipV="1">
            <a:off x="820132" y="3787708"/>
            <a:ext cx="6212264" cy="188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/>
              <a:t>The visualization demonstrates how predicted values align closely with actual data, providing intuitive understanding of the model's performance.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781C09-32BD-9F80-FF4B-37F5B8899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872" y="386500"/>
            <a:ext cx="5231876" cy="530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84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B2F379-0B0E-A0B5-2C42-BA336B281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20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75AA3-9FBB-C5AF-43F1-E05C7C13A638}"/>
              </a:ext>
            </a:extLst>
          </p:cNvPr>
          <p:cNvSpPr txBox="1"/>
          <p:nvPr/>
        </p:nvSpPr>
        <p:spPr>
          <a:xfrm>
            <a:off x="1442300" y="188536"/>
            <a:ext cx="8663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/>
              <a:t>Implementing Simple Linear Regression in Python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FF04C9-9175-5D45-22E3-93EBAAA13856}"/>
              </a:ext>
            </a:extLst>
          </p:cNvPr>
          <p:cNvSpPr txBox="1"/>
          <p:nvPr/>
        </p:nvSpPr>
        <p:spPr>
          <a:xfrm>
            <a:off x="1668544" y="933254"/>
            <a:ext cx="74943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Import Libraries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ECC4CE-B2C0-D107-E856-9C2F2A162792}"/>
              </a:ext>
            </a:extLst>
          </p:cNvPr>
          <p:cNvSpPr txBox="1"/>
          <p:nvPr/>
        </p:nvSpPr>
        <p:spPr>
          <a:xfrm>
            <a:off x="1998482" y="1376313"/>
            <a:ext cx="8229600" cy="49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Load </a:t>
            </a:r>
            <a:r>
              <a:rPr lang="en-US" sz="2000" dirty="0" err="1"/>
              <a:t>sklearn’s</a:t>
            </a:r>
            <a:r>
              <a:rPr lang="en-US" sz="2000" dirty="0"/>
              <a:t> Linear Regression and necessary dependencies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D40C4-13CB-C805-B5D9-8E74C90D033B}"/>
              </a:ext>
            </a:extLst>
          </p:cNvPr>
          <p:cNvSpPr txBox="1"/>
          <p:nvPr/>
        </p:nvSpPr>
        <p:spPr>
          <a:xfrm>
            <a:off x="1677971" y="1923068"/>
            <a:ext cx="7484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Prepare Your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CF3C6-93F3-6CE8-2CEC-0ABDBCFD89F6}"/>
              </a:ext>
            </a:extLst>
          </p:cNvPr>
          <p:cNvSpPr txBox="1"/>
          <p:nvPr/>
        </p:nvSpPr>
        <p:spPr>
          <a:xfrm>
            <a:off x="2083324" y="2526384"/>
            <a:ext cx="8399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Organize features (X) and target variable (y) into proper format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CCA41F-DAD7-E072-BE31-CAD6D6775256}"/>
              </a:ext>
            </a:extLst>
          </p:cNvPr>
          <p:cNvSpPr txBox="1"/>
          <p:nvPr/>
        </p:nvSpPr>
        <p:spPr>
          <a:xfrm>
            <a:off x="1696824" y="3082566"/>
            <a:ext cx="746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Train the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1FC517-96B3-CA0A-5418-2A192F2D080A}"/>
              </a:ext>
            </a:extLst>
          </p:cNvPr>
          <p:cNvSpPr txBox="1"/>
          <p:nvPr/>
        </p:nvSpPr>
        <p:spPr>
          <a:xfrm>
            <a:off x="2111603" y="3629320"/>
            <a:ext cx="7051249" cy="49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Fit the linear regression model to your training 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1A5181-4AA0-FEC3-828D-40D44F15DBEB}"/>
              </a:ext>
            </a:extLst>
          </p:cNvPr>
          <p:cNvSpPr txBox="1"/>
          <p:nvPr/>
        </p:nvSpPr>
        <p:spPr>
          <a:xfrm>
            <a:off x="1687398" y="4242062"/>
            <a:ext cx="7475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Make Predictions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6E9DE3-D955-620A-EFDA-DA24959EA8AC}"/>
              </a:ext>
            </a:extLst>
          </p:cNvPr>
          <p:cNvSpPr txBox="1"/>
          <p:nvPr/>
        </p:nvSpPr>
        <p:spPr>
          <a:xfrm>
            <a:off x="2092751" y="4835951"/>
            <a:ext cx="8059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Use the trained model to predict outcomes on new data</a:t>
            </a:r>
          </a:p>
        </p:txBody>
      </p:sp>
    </p:spTree>
    <p:extLst>
      <p:ext uri="{BB962C8B-B14F-4D97-AF65-F5344CB8AC3E}">
        <p14:creationId xmlns:p14="http://schemas.microsoft.com/office/powerpoint/2010/main" val="796044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DCF9AB-560A-BE3E-BF61-7FC017610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21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EE776-4C3A-6CD9-3002-F54EBFE0DEB8}"/>
              </a:ext>
            </a:extLst>
          </p:cNvPr>
          <p:cNvSpPr txBox="1"/>
          <p:nvPr/>
        </p:nvSpPr>
        <p:spPr>
          <a:xfrm>
            <a:off x="1904214" y="914400"/>
            <a:ext cx="98038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Courier New" panose="02070309020205020404" pitchFamily="49" charset="0"/>
              </a:rPr>
              <a:t>from </a:t>
            </a:r>
            <a:r>
              <a:rPr lang="en-US" sz="2400" b="1" dirty="0" err="1">
                <a:latin typeface="Courier New" panose="02070309020205020404" pitchFamily="49" charset="0"/>
              </a:rPr>
              <a:t>sklearn.linear_model</a:t>
            </a:r>
            <a:r>
              <a:rPr lang="en-US" sz="2400" b="1" dirty="0">
                <a:latin typeface="Courier New" panose="02070309020205020404" pitchFamily="49" charset="0"/>
              </a:rPr>
              <a:t> import </a:t>
            </a:r>
            <a:r>
              <a:rPr lang="en-US" sz="2400" b="1" dirty="0" err="1">
                <a:latin typeface="Courier New" panose="02070309020205020404" pitchFamily="49" charset="0"/>
              </a:rPr>
              <a:t>LinearRegression</a:t>
            </a:r>
            <a:endParaRPr lang="en-US" sz="2400" b="1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2400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b="1" dirty="0">
                <a:latin typeface="Courier New" panose="02070309020205020404" pitchFamily="49" charset="0"/>
              </a:rPr>
              <a:t># Create and train model</a:t>
            </a:r>
          </a:p>
          <a:p>
            <a:pPr>
              <a:buNone/>
            </a:pPr>
            <a:r>
              <a:rPr lang="en-US" sz="2400" b="1" dirty="0">
                <a:latin typeface="Courier New" panose="02070309020205020404" pitchFamily="49" charset="0"/>
              </a:rPr>
              <a:t>model = </a:t>
            </a:r>
            <a:r>
              <a:rPr lang="en-US" sz="2400" b="1" dirty="0" err="1">
                <a:latin typeface="Courier New" panose="02070309020205020404" pitchFamily="49" charset="0"/>
              </a:rPr>
              <a:t>LinearRegression</a:t>
            </a:r>
            <a:r>
              <a:rPr lang="en-US" sz="2400" b="1" dirty="0"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400" b="1" dirty="0" err="1">
                <a:latin typeface="Courier New" panose="02070309020205020404" pitchFamily="49" charset="0"/>
              </a:rPr>
              <a:t>model.fit</a:t>
            </a:r>
            <a:r>
              <a:rPr lang="en-US" sz="2400" b="1" dirty="0">
                <a:latin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</a:rPr>
              <a:t>X_train</a:t>
            </a:r>
            <a:r>
              <a:rPr lang="en-US" sz="2400" b="1" dirty="0">
                <a:latin typeface="Courier New" panose="02070309020205020404" pitchFamily="49" charset="0"/>
              </a:rPr>
              <a:t>, </a:t>
            </a:r>
            <a:r>
              <a:rPr lang="en-US" sz="2400" b="1" dirty="0" err="1">
                <a:latin typeface="Courier New" panose="02070309020205020404" pitchFamily="49" charset="0"/>
              </a:rPr>
              <a:t>y_train</a:t>
            </a:r>
            <a:r>
              <a:rPr lang="en-US" sz="2400" b="1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400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b="1" dirty="0">
                <a:latin typeface="Courier New" panose="02070309020205020404" pitchFamily="49" charset="0"/>
              </a:rPr>
              <a:t># Make predictions</a:t>
            </a:r>
          </a:p>
          <a:p>
            <a:pPr>
              <a:buNone/>
            </a:pPr>
            <a:r>
              <a:rPr lang="en-US" sz="2400" b="1" dirty="0">
                <a:latin typeface="Courier New" panose="02070309020205020404" pitchFamily="49" charset="0"/>
              </a:rPr>
              <a:t>predictions = </a:t>
            </a:r>
            <a:r>
              <a:rPr lang="en-US" sz="2400" b="1" dirty="0" err="1">
                <a:latin typeface="Courier New" panose="02070309020205020404" pitchFamily="49" charset="0"/>
              </a:rPr>
              <a:t>model.predict</a:t>
            </a:r>
            <a:r>
              <a:rPr lang="en-US" sz="2400" b="1" dirty="0">
                <a:latin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</a:rPr>
              <a:t>X_test</a:t>
            </a:r>
            <a:r>
              <a:rPr lang="en-US" sz="2400" b="1" dirty="0"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83F4F4-036F-734E-27DD-E6E54E5376D9}"/>
              </a:ext>
            </a:extLst>
          </p:cNvPr>
          <p:cNvSpPr txBox="1"/>
          <p:nvPr/>
        </p:nvSpPr>
        <p:spPr>
          <a:xfrm>
            <a:off x="1234912" y="339365"/>
            <a:ext cx="4119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</p:spTree>
    <p:extLst>
      <p:ext uri="{BB962C8B-B14F-4D97-AF65-F5344CB8AC3E}">
        <p14:creationId xmlns:p14="http://schemas.microsoft.com/office/powerpoint/2010/main" val="2251282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A0030E-FC92-B940-C122-B86B54C7F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22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CFF36-3512-6E58-D0DB-0F0792011885}"/>
              </a:ext>
            </a:extLst>
          </p:cNvPr>
          <p:cNvSpPr txBox="1"/>
          <p:nvPr/>
        </p:nvSpPr>
        <p:spPr>
          <a:xfrm>
            <a:off x="1574276" y="188536"/>
            <a:ext cx="75885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R-squared (R²)?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FAE92C-5275-1407-5DC5-7E230D4A2AB1}"/>
              </a:ext>
            </a:extLst>
          </p:cNvPr>
          <p:cNvSpPr txBox="1"/>
          <p:nvPr/>
        </p:nvSpPr>
        <p:spPr>
          <a:xfrm>
            <a:off x="1640264" y="763571"/>
            <a:ext cx="9634194" cy="1418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R-squared, also called the coefficient of determination, measures how much of the variance in the dependent variable (Y) is explained by the independent variable (X) in the model.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5D21C8-6055-B6C7-9191-9A6DAA1883E0}"/>
              </a:ext>
            </a:extLst>
          </p:cNvPr>
          <p:cNvSpPr txBox="1"/>
          <p:nvPr/>
        </p:nvSpPr>
        <p:spPr>
          <a:xfrm>
            <a:off x="1621410" y="2450969"/>
            <a:ext cx="75414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It tells us </a:t>
            </a:r>
            <a:r>
              <a:rPr lang="en-US" sz="2000" b="1" dirty="0"/>
              <a:t>how well the regression line fits the data</a:t>
            </a:r>
            <a:r>
              <a:rPr lang="en-US" sz="20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C97487-E3B9-AB20-6D09-D187114693A7}"/>
              </a:ext>
            </a:extLst>
          </p:cNvPr>
          <p:cNvSpPr txBox="1"/>
          <p:nvPr/>
        </p:nvSpPr>
        <p:spPr>
          <a:xfrm>
            <a:off x="1687398" y="3082565"/>
            <a:ext cx="74754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C2EEC52-2D60-8BFC-1DC4-BCD93DBD5424}"/>
                  </a:ext>
                </a:extLst>
              </p:cNvPr>
              <p:cNvSpPr txBox="1"/>
              <p:nvPr/>
            </p:nvSpPr>
            <p:spPr>
              <a:xfrm>
                <a:off x="2526384" y="3610465"/>
                <a:ext cx="6947554" cy="2825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000" b="1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ar-AE" sz="2000" b="1" i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ar-AE" sz="2000" b="1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b="1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ar-AE" sz="2000" b="1" i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sz="20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sSub>
                            <m:sSubPr>
                              <m:ctrlPr>
                                <a:rPr lang="ar-AE" sz="2000" b="1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1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ar-AE" sz="2000" b="1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𝒓𝒆𝒔</m:t>
                              </m:r>
                            </m:sub>
                          </m:sSub>
                        </m:num>
                        <m:den>
                          <m:r>
                            <a:rPr lang="ar-AE" sz="20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sSub>
                            <m:sSubPr>
                              <m:ctrlPr>
                                <a:rPr lang="ar-AE" sz="2000" b="1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1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ar-AE" sz="2000" b="1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𝒕𝒐𝒕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000" b="1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2000" dirty="0"/>
                  <a:t>Where: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𝑟𝑒𝑠</m:t>
                        </m:r>
                      </m:sub>
                    </m:sSub>
                  </m:oMath>
                </a14:m>
                <a:r>
                  <a:rPr lang="ar-AE" sz="2000" dirty="0"/>
                  <a:t>= </a:t>
                </a:r>
                <a:r>
                  <a:rPr lang="en-US" sz="2000" dirty="0"/>
                  <a:t>Sum of squares of residuals = 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</m:oMath>
                </a14:m>
                <a:r>
                  <a:rPr lang="ar-AE" sz="2000" dirty="0"/>
                  <a:t>= </a:t>
                </a:r>
                <a:r>
                  <a:rPr lang="en-US" sz="2000" dirty="0"/>
                  <a:t>Total sum of squares = ∑(</a:t>
                </a:r>
                <a:r>
                  <a:rPr lang="en-US" sz="2000" dirty="0" err="1"/>
                  <a:t>yi</a:t>
                </a:r>
                <a:r>
                  <a:rPr lang="en-US" sz="2000" dirty="0"/>
                  <a:t>​−yˉ​)2</a:t>
                </a:r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C2EEC52-2D60-8BFC-1DC4-BCD93DBD5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384" y="3610465"/>
                <a:ext cx="6947554" cy="2825710"/>
              </a:xfrm>
              <a:prstGeom prst="rect">
                <a:avLst/>
              </a:prstGeom>
              <a:blipFill>
                <a:blip r:embed="rId2"/>
                <a:stretch>
                  <a:fillRect l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BFC78D70-2A81-4909-57FD-16E548E39201}"/>
              </a:ext>
            </a:extLst>
          </p:cNvPr>
          <p:cNvSpPr txBox="1"/>
          <p:nvPr/>
        </p:nvSpPr>
        <p:spPr>
          <a:xfrm>
            <a:off x="7258639" y="5099901"/>
            <a:ext cx="1904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∑(</a:t>
            </a:r>
            <a:r>
              <a:rPr lang="en-US" dirty="0" err="1"/>
              <a:t>yi</a:t>
            </a:r>
            <a:r>
              <a:rPr lang="en-US" dirty="0"/>
              <a:t>​−</a:t>
            </a:r>
            <a:r>
              <a:rPr lang="en-US" dirty="0" err="1"/>
              <a:t>yi</a:t>
            </a:r>
            <a:r>
              <a:rPr lang="en-US" dirty="0"/>
              <a:t>​^​)2</a:t>
            </a:r>
          </a:p>
        </p:txBody>
      </p:sp>
    </p:spTree>
    <p:extLst>
      <p:ext uri="{BB962C8B-B14F-4D97-AF65-F5344CB8AC3E}">
        <p14:creationId xmlns:p14="http://schemas.microsoft.com/office/powerpoint/2010/main" val="2575288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02ACF7-C2E7-375F-7174-5158E4BBC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23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E2F9B1-84FF-ADA3-366A-35EE22949C88}"/>
              </a:ext>
            </a:extLst>
          </p:cNvPr>
          <p:cNvSpPr txBox="1"/>
          <p:nvPr/>
        </p:nvSpPr>
        <p:spPr>
          <a:xfrm>
            <a:off x="1583703" y="179110"/>
            <a:ext cx="77299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Interpretation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3D6A20-D9E7-6646-2BD5-734384433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117270"/>
              </p:ext>
            </p:extLst>
          </p:nvPr>
        </p:nvGraphicFramePr>
        <p:xfrm>
          <a:off x="1197204" y="791852"/>
          <a:ext cx="10105534" cy="2844318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5052767">
                  <a:extLst>
                    <a:ext uri="{9D8B030D-6E8A-4147-A177-3AD203B41FA5}">
                      <a16:colId xmlns:a16="http://schemas.microsoft.com/office/drawing/2014/main" val="2565223428"/>
                    </a:ext>
                  </a:extLst>
                </a:gridCol>
                <a:gridCol w="5052767">
                  <a:extLst>
                    <a:ext uri="{9D8B030D-6E8A-4147-A177-3AD203B41FA5}">
                      <a16:colId xmlns:a16="http://schemas.microsoft.com/office/drawing/2014/main" val="98594177"/>
                    </a:ext>
                  </a:extLst>
                </a:gridCol>
              </a:tblGrid>
              <a:tr h="455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R² Value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Interpretation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08982"/>
                  </a:ext>
                </a:extLst>
              </a:tr>
              <a:tr h="796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 explains </a:t>
                      </a:r>
                      <a:r>
                        <a:rPr lang="en-US" b="1"/>
                        <a:t>none</a:t>
                      </a:r>
                      <a:r>
                        <a:rPr lang="en-US"/>
                        <a:t> of the variance in 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272778"/>
                  </a:ext>
                </a:extLst>
              </a:tr>
              <a:tr h="796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 explains </a:t>
                      </a:r>
                      <a:r>
                        <a:rPr lang="en-US" b="1" dirty="0"/>
                        <a:t>50%</a:t>
                      </a:r>
                      <a:r>
                        <a:rPr lang="en-US" dirty="0"/>
                        <a:t> of the variance in 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954218"/>
                  </a:ext>
                </a:extLst>
              </a:tr>
              <a:tr h="796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 explains </a:t>
                      </a:r>
                      <a:r>
                        <a:rPr lang="en-US" b="1" dirty="0"/>
                        <a:t>all</a:t>
                      </a:r>
                      <a:r>
                        <a:rPr lang="en-US" dirty="0"/>
                        <a:t> the variance perfectly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3793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C5723EC-BA51-FF63-B87E-C2585E7B3216}"/>
              </a:ext>
            </a:extLst>
          </p:cNvPr>
          <p:cNvSpPr txBox="1"/>
          <p:nvPr/>
        </p:nvSpPr>
        <p:spPr>
          <a:xfrm rot="10800000" flipV="1">
            <a:off x="1300897" y="3882272"/>
            <a:ext cx="10030121" cy="956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So, </a:t>
            </a:r>
            <a:r>
              <a:rPr lang="en-US" sz="2000" b="1" dirty="0"/>
              <a:t>higher R² = better fit</a:t>
            </a:r>
            <a:r>
              <a:rPr lang="en-US" sz="2000" dirty="0"/>
              <a:t>, but not always perfect (sometimes too high R² means </a:t>
            </a:r>
            <a:r>
              <a:rPr lang="en-US" sz="2000" b="1" dirty="0"/>
              <a:t>overfitting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68056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D2588F-EA56-DFF5-10A4-F0ACF256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A944DD-2F36-60E4-6C14-4B62361B3473}"/>
                  </a:ext>
                </a:extLst>
              </p:cNvPr>
              <p:cNvSpPr txBox="1"/>
              <p:nvPr/>
            </p:nvSpPr>
            <p:spPr>
              <a:xfrm>
                <a:off x="669303" y="414779"/>
                <a:ext cx="10680569" cy="53717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800" b="1" u="sng" dirty="0"/>
                  <a:t>Example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2400" dirty="0"/>
                  <a:t>Suppose: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𝑟𝑒𝑠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lang="ar-AE" sz="2400" dirty="0"/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ar-AE" sz="24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endParaRPr lang="ar-AE" sz="24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2400" dirty="0"/>
                  <a:t>Then: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400</m:t>
                          </m:r>
                        </m:den>
                      </m:f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ar-AE" sz="2400" dirty="0"/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This means </a:t>
                </a:r>
                <a:r>
                  <a:rPr lang="en-US" sz="2400" b="1" dirty="0"/>
                  <a:t>75% of the variation</a:t>
                </a:r>
                <a:r>
                  <a:rPr lang="en-US" sz="2400" dirty="0"/>
                  <a:t> in Y is explained by X.</a:t>
                </a:r>
                <a:br>
                  <a:rPr lang="en-US" sz="2400" dirty="0"/>
                </a:br>
                <a:r>
                  <a:rPr lang="en-US" sz="2400" dirty="0"/>
                  <a:t>The remaining 25% is due to </a:t>
                </a:r>
                <a:r>
                  <a:rPr lang="en-US" sz="2400" b="1" dirty="0"/>
                  <a:t>random error or other variables</a:t>
                </a:r>
                <a:r>
                  <a:rPr lang="en-US" sz="2400" dirty="0"/>
                  <a:t> not included in the model.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A944DD-2F36-60E4-6C14-4B62361B3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03" y="414779"/>
                <a:ext cx="10680569" cy="5371792"/>
              </a:xfrm>
              <a:prstGeom prst="rect">
                <a:avLst/>
              </a:prstGeom>
              <a:blipFill>
                <a:blip r:embed="rId2"/>
                <a:stretch>
                  <a:fillRect l="-1199" t="-1135" b="-1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735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92DEA1-70A5-8DAA-3428-2FAEA127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25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E8213-BA5A-D07C-D567-F0C7D807CFAE}"/>
              </a:ext>
            </a:extLst>
          </p:cNvPr>
          <p:cNvSpPr txBox="1"/>
          <p:nvPr/>
        </p:nvSpPr>
        <p:spPr>
          <a:xfrm>
            <a:off x="1272620" y="0"/>
            <a:ext cx="46756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Strengths of Linear Regression Regression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27A88F7-4473-C771-40C7-D572105BC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984654"/>
              </p:ext>
            </p:extLst>
          </p:nvPr>
        </p:nvGraphicFramePr>
        <p:xfrm>
          <a:off x="103692" y="424204"/>
          <a:ext cx="10793694" cy="5992107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5396847">
                  <a:extLst>
                    <a:ext uri="{9D8B030D-6E8A-4147-A177-3AD203B41FA5}">
                      <a16:colId xmlns:a16="http://schemas.microsoft.com/office/drawing/2014/main" val="2076480943"/>
                    </a:ext>
                  </a:extLst>
                </a:gridCol>
                <a:gridCol w="5396847">
                  <a:extLst>
                    <a:ext uri="{9D8B030D-6E8A-4147-A177-3AD203B41FA5}">
                      <a16:colId xmlns:a16="http://schemas.microsoft.com/office/drawing/2014/main" val="2141489869"/>
                    </a:ext>
                  </a:extLst>
                </a:gridCol>
              </a:tblGrid>
              <a:tr h="29667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                        Strength</a:t>
                      </a:r>
                    </a:p>
                  </a:txBody>
                  <a:tcPr marL="49517" marR="49517" marT="24758" marB="2475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                  Explanation</a:t>
                      </a:r>
                    </a:p>
                  </a:txBody>
                  <a:tcPr marL="49517" marR="49517" marT="24758" marB="24758" anchor="ctr"/>
                </a:tc>
                <a:extLst>
                  <a:ext uri="{0D108BD9-81ED-4DB2-BD59-A6C34878D82A}">
                    <a16:rowId xmlns:a16="http://schemas.microsoft.com/office/drawing/2014/main" val="2311677712"/>
                  </a:ext>
                </a:extLst>
              </a:tr>
              <a:tr h="1019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1</a:t>
                      </a:r>
                      <a:r>
                        <a:rPr lang="en-US" sz="2000" b="1" dirty="0"/>
                        <a:t>. Simple and Easy to Implement</a:t>
                      </a:r>
                      <a:endParaRPr lang="en-US" sz="2000" dirty="0"/>
                    </a:p>
                  </a:txBody>
                  <a:tcPr marL="49517" marR="49517" marT="24758" marB="24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/>
                        <a:t>It’s one of the easiest algorithms to understand, interpret, and implement. Just a straight-line relationship between variables.</a:t>
                      </a:r>
                    </a:p>
                  </a:txBody>
                  <a:tcPr marL="49517" marR="49517" marT="24758" marB="24758" anchor="ctr"/>
                </a:tc>
                <a:extLst>
                  <a:ext uri="{0D108BD9-81ED-4DB2-BD59-A6C34878D82A}">
                    <a16:rowId xmlns:a16="http://schemas.microsoft.com/office/drawing/2014/main" val="1908868375"/>
                  </a:ext>
                </a:extLst>
              </a:tr>
              <a:tr h="1019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2</a:t>
                      </a:r>
                      <a:r>
                        <a:rPr lang="en-US" sz="2000" b="1" dirty="0"/>
                        <a:t>. Computationally Efficient</a:t>
                      </a:r>
                      <a:endParaRPr lang="en-US" sz="2000" dirty="0"/>
                    </a:p>
                  </a:txBody>
                  <a:tcPr marL="49517" marR="49517" marT="24758" marB="24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/>
                        <a:t>Training a linear regression model is fast and requires little computational power — great for large datasets.</a:t>
                      </a:r>
                    </a:p>
                  </a:txBody>
                  <a:tcPr marL="49517" marR="49517" marT="24758" marB="24758" anchor="ctr"/>
                </a:tc>
                <a:extLst>
                  <a:ext uri="{0D108BD9-81ED-4DB2-BD59-A6C34878D82A}">
                    <a16:rowId xmlns:a16="http://schemas.microsoft.com/office/drawing/2014/main" val="291923008"/>
                  </a:ext>
                </a:extLst>
              </a:tr>
              <a:tr h="1019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3. </a:t>
                      </a:r>
                      <a:r>
                        <a:rPr lang="en-US" sz="2000" b="1" dirty="0"/>
                        <a:t>Interpretable Results</a:t>
                      </a:r>
                      <a:endParaRPr lang="en-US" sz="2000" dirty="0"/>
                    </a:p>
                  </a:txBody>
                  <a:tcPr marL="49517" marR="49517" marT="24758" marB="24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/>
                        <a:t>The coefficients directly show how much the dependent variable changes when the independent variable increases by one unit.</a:t>
                      </a:r>
                    </a:p>
                  </a:txBody>
                  <a:tcPr marL="49517" marR="49517" marT="24758" marB="24758" anchor="ctr"/>
                </a:tc>
                <a:extLst>
                  <a:ext uri="{0D108BD9-81ED-4DB2-BD59-A6C34878D82A}">
                    <a16:rowId xmlns:a16="http://schemas.microsoft.com/office/drawing/2014/main" val="260524126"/>
                  </a:ext>
                </a:extLst>
              </a:tr>
              <a:tr h="716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4. </a:t>
                      </a:r>
                      <a:r>
                        <a:rPr lang="en-US" sz="2000" b="1" dirty="0"/>
                        <a:t>Works Well with Linearly Related Data</a:t>
                      </a:r>
                      <a:endParaRPr lang="en-US" sz="2000" dirty="0"/>
                    </a:p>
                  </a:txBody>
                  <a:tcPr marL="49517" marR="49517" marT="24758" marB="24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/>
                        <a:t>If the relationship between X and Y is approximately linear, it performs extremely well.</a:t>
                      </a:r>
                    </a:p>
                  </a:txBody>
                  <a:tcPr marL="49517" marR="49517" marT="24758" marB="24758" anchor="ctr"/>
                </a:tc>
                <a:extLst>
                  <a:ext uri="{0D108BD9-81ED-4DB2-BD59-A6C34878D82A}">
                    <a16:rowId xmlns:a16="http://schemas.microsoft.com/office/drawing/2014/main" val="2890401487"/>
                  </a:ext>
                </a:extLst>
              </a:tr>
              <a:tr h="1019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5. </a:t>
                      </a:r>
                      <a:r>
                        <a:rPr lang="en-US" sz="2000" b="1" dirty="0"/>
                        <a:t>Foundation for More Complex Models</a:t>
                      </a:r>
                      <a:endParaRPr lang="en-US" sz="2000" dirty="0"/>
                    </a:p>
                  </a:txBody>
                  <a:tcPr marL="49517" marR="49517" marT="24758" marB="24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/>
                        <a:t>It’s the building block for many advanced models like Ridge, Lasso, and Polynomial Regression.</a:t>
                      </a:r>
                    </a:p>
                  </a:txBody>
                  <a:tcPr marL="49517" marR="49517" marT="24758" marB="24758" anchor="ctr"/>
                </a:tc>
                <a:extLst>
                  <a:ext uri="{0D108BD9-81ED-4DB2-BD59-A6C34878D82A}">
                    <a16:rowId xmlns:a16="http://schemas.microsoft.com/office/drawing/2014/main" val="679579312"/>
                  </a:ext>
                </a:extLst>
              </a:tr>
              <a:tr h="799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6. </a:t>
                      </a:r>
                      <a:r>
                        <a:rPr lang="en-US" sz="2000" b="1" dirty="0"/>
                        <a:t>Provides Analytical Insight</a:t>
                      </a:r>
                      <a:endParaRPr lang="en-US" sz="2000" dirty="0"/>
                    </a:p>
                  </a:txBody>
                  <a:tcPr marL="49517" marR="49517" marT="24758" marB="247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/>
                        <a:t>Gives a clear mathematical equation for prediction, making it easy to explain to non-technical stakeholders.</a:t>
                      </a:r>
                    </a:p>
                  </a:txBody>
                  <a:tcPr marL="49517" marR="49517" marT="24758" marB="24758" anchor="ctr"/>
                </a:tc>
                <a:extLst>
                  <a:ext uri="{0D108BD9-81ED-4DB2-BD59-A6C34878D82A}">
                    <a16:rowId xmlns:a16="http://schemas.microsoft.com/office/drawing/2014/main" val="996482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429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6E94C5-1853-A42B-2D57-80802C17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26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4C64BA-D675-2D12-33AC-B75EA212819E}"/>
              </a:ext>
            </a:extLst>
          </p:cNvPr>
          <p:cNvSpPr txBox="1"/>
          <p:nvPr/>
        </p:nvSpPr>
        <p:spPr>
          <a:xfrm>
            <a:off x="1602558" y="0"/>
            <a:ext cx="75602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Weaknesses of Linear Regression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507028-1CFD-45B4-9329-99C801135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266400"/>
              </p:ext>
            </p:extLst>
          </p:nvPr>
        </p:nvGraphicFramePr>
        <p:xfrm>
          <a:off x="688157" y="509047"/>
          <a:ext cx="10228083" cy="5922280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5110041">
                  <a:extLst>
                    <a:ext uri="{9D8B030D-6E8A-4147-A177-3AD203B41FA5}">
                      <a16:colId xmlns:a16="http://schemas.microsoft.com/office/drawing/2014/main" val="577099653"/>
                    </a:ext>
                  </a:extLst>
                </a:gridCol>
                <a:gridCol w="5118042">
                  <a:extLst>
                    <a:ext uri="{9D8B030D-6E8A-4147-A177-3AD203B41FA5}">
                      <a16:colId xmlns:a16="http://schemas.microsoft.com/office/drawing/2014/main" val="33652980"/>
                    </a:ext>
                  </a:extLst>
                </a:gridCol>
              </a:tblGrid>
              <a:tr h="30216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                 Weakness</a:t>
                      </a:r>
                    </a:p>
                  </a:txBody>
                  <a:tcPr marL="51639" marR="51639" marT="25820" marB="25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                  Explanation</a:t>
                      </a:r>
                    </a:p>
                  </a:txBody>
                  <a:tcPr marL="51639" marR="51639" marT="25820" marB="25820" anchor="ctr"/>
                </a:tc>
                <a:extLst>
                  <a:ext uri="{0D108BD9-81ED-4DB2-BD59-A6C34878D82A}">
                    <a16:rowId xmlns:a16="http://schemas.microsoft.com/office/drawing/2014/main" val="809586939"/>
                  </a:ext>
                </a:extLst>
              </a:tr>
              <a:tr h="895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1. </a:t>
                      </a:r>
                      <a:r>
                        <a:rPr lang="en-US" sz="2000" b="1" dirty="0"/>
                        <a:t>Assumes Linearity</a:t>
                      </a:r>
                      <a:endParaRPr lang="en-US" sz="2000" dirty="0"/>
                    </a:p>
                  </a:txBody>
                  <a:tcPr marL="51639" marR="51639" marT="25820" marB="258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/>
                        <a:t>It only captures linear relationships. Non-linear data cannot be modeled accurately.</a:t>
                      </a:r>
                    </a:p>
                  </a:txBody>
                  <a:tcPr marL="51639" marR="51639" marT="25820" marB="25820" anchor="ctr"/>
                </a:tc>
                <a:extLst>
                  <a:ext uri="{0D108BD9-81ED-4DB2-BD59-A6C34878D82A}">
                    <a16:rowId xmlns:a16="http://schemas.microsoft.com/office/drawing/2014/main" val="334188297"/>
                  </a:ext>
                </a:extLst>
              </a:tr>
              <a:tr h="612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2. </a:t>
                      </a:r>
                      <a:r>
                        <a:rPr lang="en-US" sz="2000" b="1" dirty="0"/>
                        <a:t>Sensitive to Outliers</a:t>
                      </a:r>
                      <a:endParaRPr lang="en-US" sz="2000" dirty="0"/>
                    </a:p>
                  </a:txBody>
                  <a:tcPr marL="51639" marR="51639" marT="25820" marB="258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/>
                        <a:t>A few extreme values can distort the regression line heavily.</a:t>
                      </a:r>
                    </a:p>
                  </a:txBody>
                  <a:tcPr marL="51639" marR="51639" marT="25820" marB="25820" anchor="ctr"/>
                </a:tc>
                <a:extLst>
                  <a:ext uri="{0D108BD9-81ED-4DB2-BD59-A6C34878D82A}">
                    <a16:rowId xmlns:a16="http://schemas.microsoft.com/office/drawing/2014/main" val="881244968"/>
                  </a:ext>
                </a:extLst>
              </a:tr>
              <a:tr h="1269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3. </a:t>
                      </a:r>
                      <a:r>
                        <a:rPr lang="en-US" sz="2000" b="1" dirty="0"/>
                        <a:t>Requires Assumptions to Hold</a:t>
                      </a:r>
                      <a:endParaRPr lang="en-US" sz="2000" dirty="0"/>
                    </a:p>
                  </a:txBody>
                  <a:tcPr marL="51639" marR="51639" marT="25820" marB="258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/>
                        <a:t>Assumptions like normality, homoscedasticity, and independence of errors must be met — otherwise, results become unreliable.</a:t>
                      </a:r>
                    </a:p>
                  </a:txBody>
                  <a:tcPr marL="51639" marR="51639" marT="25820" marB="25820" anchor="ctr"/>
                </a:tc>
                <a:extLst>
                  <a:ext uri="{0D108BD9-81ED-4DB2-BD59-A6C34878D82A}">
                    <a16:rowId xmlns:a16="http://schemas.microsoft.com/office/drawing/2014/main" val="2692833876"/>
                  </a:ext>
                </a:extLst>
              </a:tr>
              <a:tr h="895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4. </a:t>
                      </a:r>
                      <a:r>
                        <a:rPr lang="en-US" sz="2000" b="1" dirty="0"/>
                        <a:t>Poor with Multicollinearity (in Multiple Regression)</a:t>
                      </a:r>
                      <a:endParaRPr lang="en-US" sz="2000" dirty="0"/>
                    </a:p>
                  </a:txBody>
                  <a:tcPr marL="51639" marR="51639" marT="25820" marB="258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/>
                        <a:t>If predictors are highly correlated, coefficient estimates become unstable.</a:t>
                      </a:r>
                    </a:p>
                  </a:txBody>
                  <a:tcPr marL="51639" marR="51639" marT="25820" marB="25820" anchor="ctr"/>
                </a:tc>
                <a:extLst>
                  <a:ext uri="{0D108BD9-81ED-4DB2-BD59-A6C34878D82A}">
                    <a16:rowId xmlns:a16="http://schemas.microsoft.com/office/drawing/2014/main" val="3440084461"/>
                  </a:ext>
                </a:extLst>
              </a:tr>
              <a:tr h="1024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5. </a:t>
                      </a:r>
                      <a:r>
                        <a:rPr lang="en-US" sz="2000" b="1" dirty="0"/>
                        <a:t>Doesn’t Handle Complex Relationships</a:t>
                      </a:r>
                      <a:endParaRPr lang="en-US" sz="2000" dirty="0"/>
                    </a:p>
                  </a:txBody>
                  <a:tcPr marL="51639" marR="51639" marT="25820" marB="258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/>
                        <a:t>Real-world data often have non-linear patterns or interactions — linear regression can’t capture those.</a:t>
                      </a:r>
                    </a:p>
                  </a:txBody>
                  <a:tcPr marL="51639" marR="51639" marT="25820" marB="25820" anchor="ctr"/>
                </a:tc>
                <a:extLst>
                  <a:ext uri="{0D108BD9-81ED-4DB2-BD59-A6C34878D82A}">
                    <a16:rowId xmlns:a16="http://schemas.microsoft.com/office/drawing/2014/main" val="3885849348"/>
                  </a:ext>
                </a:extLst>
              </a:tr>
              <a:tr h="778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6. </a:t>
                      </a:r>
                      <a:r>
                        <a:rPr lang="en-US" sz="2000" b="1" dirty="0"/>
                        <a:t>May Overfit or Underfit</a:t>
                      </a:r>
                      <a:endParaRPr lang="en-US" sz="2000" dirty="0"/>
                    </a:p>
                  </a:txBody>
                  <a:tcPr marL="51639" marR="51639" marT="25820" marB="258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/>
                        <a:t>Especially with small or noisy datasets, the model may not generalize well.</a:t>
                      </a:r>
                    </a:p>
                  </a:txBody>
                  <a:tcPr marL="51639" marR="51639" marT="25820" marB="25820" anchor="ctr"/>
                </a:tc>
                <a:extLst>
                  <a:ext uri="{0D108BD9-81ED-4DB2-BD59-A6C34878D82A}">
                    <a16:rowId xmlns:a16="http://schemas.microsoft.com/office/drawing/2014/main" val="3679957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6565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C077F1-7EB7-4706-5958-C47C200B4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27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BE09D-28A1-7064-80CF-068677AC32AA}"/>
              </a:ext>
            </a:extLst>
          </p:cNvPr>
          <p:cNvSpPr txBox="1"/>
          <p:nvPr/>
        </p:nvSpPr>
        <p:spPr>
          <a:xfrm>
            <a:off x="1480008" y="226243"/>
            <a:ext cx="7682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Summary Table</a:t>
            </a:r>
            <a:endParaRPr lang="en-US" sz="2400" u="sn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9342AE-F611-9CD4-411F-66C2FA719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745751"/>
              </p:ext>
            </p:extLst>
          </p:nvPr>
        </p:nvGraphicFramePr>
        <p:xfrm>
          <a:off x="772998" y="1168924"/>
          <a:ext cx="10661714" cy="3113296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5286814">
                  <a:extLst>
                    <a:ext uri="{9D8B030D-6E8A-4147-A177-3AD203B41FA5}">
                      <a16:colId xmlns:a16="http://schemas.microsoft.com/office/drawing/2014/main" val="256548378"/>
                    </a:ext>
                  </a:extLst>
                </a:gridCol>
                <a:gridCol w="5374900">
                  <a:extLst>
                    <a:ext uri="{9D8B030D-6E8A-4147-A177-3AD203B41FA5}">
                      <a16:colId xmlns:a16="http://schemas.microsoft.com/office/drawing/2014/main" val="284203540"/>
                    </a:ext>
                  </a:extLst>
                </a:gridCol>
              </a:tblGrid>
              <a:tr h="448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4962611"/>
                  </a:ext>
                </a:extLst>
              </a:tr>
              <a:tr h="1591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Best for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/>
                        <a:t>When the relationship between variables is approximately linear and assumptions are satisfied.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2872241"/>
                  </a:ext>
                </a:extLst>
              </a:tr>
              <a:tr h="1073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Avoid when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/>
                        <a:t>Data is non-linear, has many outliers, or violates regression assumptions.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6434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021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4F7789-B913-5A62-3EB6-820440C3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28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6E5BD-C46B-175D-CEB2-D2D0AEC83D24}"/>
              </a:ext>
            </a:extLst>
          </p:cNvPr>
          <p:cNvSpPr txBox="1"/>
          <p:nvPr/>
        </p:nvSpPr>
        <p:spPr>
          <a:xfrm>
            <a:off x="904973" y="179110"/>
            <a:ext cx="9898145" cy="1418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Linear Regression</a:t>
            </a:r>
            <a:r>
              <a:rPr lang="en-US" sz="2000" dirty="0"/>
              <a:t> is one of the most widely used algorithms in both </a:t>
            </a:r>
            <a:r>
              <a:rPr lang="en-US" sz="2000" b="1" dirty="0"/>
              <a:t>business</a:t>
            </a:r>
            <a:r>
              <a:rPr lang="en-US" sz="2000" dirty="0"/>
              <a:t> and </a:t>
            </a:r>
            <a:r>
              <a:rPr lang="en-US" sz="2000" b="1" dirty="0"/>
              <a:t>research</a:t>
            </a:r>
            <a:r>
              <a:rPr lang="en-US" sz="2000" dirty="0"/>
              <a:t> because it’s simple, interpretable, and effective when relationships are approximately linear.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6F564C-29A0-CC74-2F4F-FDD8834BBCA4}"/>
              </a:ext>
            </a:extLst>
          </p:cNvPr>
          <p:cNvSpPr txBox="1"/>
          <p:nvPr/>
        </p:nvSpPr>
        <p:spPr>
          <a:xfrm>
            <a:off x="1093509" y="1809947"/>
            <a:ext cx="8069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Let’s explore its </a:t>
            </a:r>
            <a:r>
              <a:rPr lang="en-US" sz="2000" b="1" dirty="0"/>
              <a:t>main use cases</a:t>
            </a:r>
            <a:r>
              <a:rPr lang="en-US" sz="2000" dirty="0"/>
              <a:t> across different domains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2F1E73-FC91-F1A0-CE68-01A60C0B052D}"/>
              </a:ext>
            </a:extLst>
          </p:cNvPr>
          <p:cNvSpPr txBox="1"/>
          <p:nvPr/>
        </p:nvSpPr>
        <p:spPr>
          <a:xfrm>
            <a:off x="1225485" y="2488676"/>
            <a:ext cx="7937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Real Estate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8992E4-591A-C3E5-09A6-3F6106D8F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11264"/>
              </p:ext>
            </p:extLst>
          </p:nvPr>
        </p:nvGraphicFramePr>
        <p:xfrm>
          <a:off x="1640262" y="3120272"/>
          <a:ext cx="8719796" cy="2743198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4359898">
                  <a:extLst>
                    <a:ext uri="{9D8B030D-6E8A-4147-A177-3AD203B41FA5}">
                      <a16:colId xmlns:a16="http://schemas.microsoft.com/office/drawing/2014/main" val="1970271854"/>
                    </a:ext>
                  </a:extLst>
                </a:gridCol>
                <a:gridCol w="4359898">
                  <a:extLst>
                    <a:ext uri="{9D8B030D-6E8A-4147-A177-3AD203B41FA5}">
                      <a16:colId xmlns:a16="http://schemas.microsoft.com/office/drawing/2014/main" val="386547695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           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        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3161122"/>
                  </a:ext>
                </a:extLst>
              </a:tr>
              <a:tr h="1306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House Price Prediction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Predicting property prices using features like location, area, number of rooms,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678412"/>
                  </a:ext>
                </a:extLst>
              </a:tr>
              <a:tr h="9143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Rent Estimation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Estimating monthly rent based on area and amenities.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71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770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038136-37A5-037C-8259-55EB96976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29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D8ECF-E51D-A678-2F3D-5988E3A3976A}"/>
              </a:ext>
            </a:extLst>
          </p:cNvPr>
          <p:cNvSpPr txBox="1"/>
          <p:nvPr/>
        </p:nvSpPr>
        <p:spPr>
          <a:xfrm>
            <a:off x="1762812" y="254524"/>
            <a:ext cx="74000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Business &amp; Economics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825E7F-A847-F572-78E8-C44C91B0E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270365"/>
              </p:ext>
            </p:extLst>
          </p:nvPr>
        </p:nvGraphicFramePr>
        <p:xfrm>
          <a:off x="1338603" y="848413"/>
          <a:ext cx="9549356" cy="5533535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4774678">
                  <a:extLst>
                    <a:ext uri="{9D8B030D-6E8A-4147-A177-3AD203B41FA5}">
                      <a16:colId xmlns:a16="http://schemas.microsoft.com/office/drawing/2014/main" val="894995431"/>
                    </a:ext>
                  </a:extLst>
                </a:gridCol>
                <a:gridCol w="4774678">
                  <a:extLst>
                    <a:ext uri="{9D8B030D-6E8A-4147-A177-3AD203B41FA5}">
                      <a16:colId xmlns:a16="http://schemas.microsoft.com/office/drawing/2014/main" val="2944250182"/>
                    </a:ext>
                  </a:extLst>
                </a:gridCol>
              </a:tblGrid>
              <a:tr h="3799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/>
                        <a:t>          Use Case</a:t>
                      </a:r>
                    </a:p>
                  </a:txBody>
                  <a:tcPr marL="72295" marR="72295" marT="36147" marB="3614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/>
                        <a:t>      Description</a:t>
                      </a:r>
                    </a:p>
                  </a:txBody>
                  <a:tcPr marL="72295" marR="72295" marT="36147" marB="36147" anchor="ctr"/>
                </a:tc>
                <a:extLst>
                  <a:ext uri="{0D108BD9-81ED-4DB2-BD59-A6C34878D82A}">
                    <a16:rowId xmlns:a16="http://schemas.microsoft.com/office/drawing/2014/main" val="573778186"/>
                  </a:ext>
                </a:extLst>
              </a:tr>
              <a:tr h="18500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/>
                        <a:t>Sales Forecasting</a:t>
                      </a:r>
                      <a:endParaRPr lang="en-US" sz="2000" dirty="0"/>
                    </a:p>
                  </a:txBody>
                  <a:tcPr marL="72295" marR="72295" marT="36147" marB="3614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/>
                        <a:t>Predicting future sales based on advertising spend, price, or time. Example: estimating how much revenue will increase if marketing budget rises.</a:t>
                      </a:r>
                    </a:p>
                  </a:txBody>
                  <a:tcPr marL="72295" marR="72295" marT="36147" marB="36147" anchor="ctr"/>
                </a:tc>
                <a:extLst>
                  <a:ext uri="{0D108BD9-81ED-4DB2-BD59-A6C34878D82A}">
                    <a16:rowId xmlns:a16="http://schemas.microsoft.com/office/drawing/2014/main" val="4156425544"/>
                  </a:ext>
                </a:extLst>
              </a:tr>
              <a:tr h="12408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1"/>
                        <a:t>Price Estimation</a:t>
                      </a:r>
                      <a:endParaRPr lang="en-US" sz="2000"/>
                    </a:p>
                  </a:txBody>
                  <a:tcPr marL="72295" marR="72295" marT="36147" marB="3614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/>
                        <a:t>Used to determine pricing models (e.g., predicting house prices or car prices based on features).</a:t>
                      </a:r>
                    </a:p>
                  </a:txBody>
                  <a:tcPr marL="72295" marR="72295" marT="36147" marB="36147" anchor="ctr"/>
                </a:tc>
                <a:extLst>
                  <a:ext uri="{0D108BD9-81ED-4DB2-BD59-A6C34878D82A}">
                    <a16:rowId xmlns:a16="http://schemas.microsoft.com/office/drawing/2014/main" val="1296957761"/>
                  </a:ext>
                </a:extLst>
              </a:tr>
              <a:tr h="9479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1"/>
                        <a:t>Demand &amp; Supply Analysis</a:t>
                      </a:r>
                      <a:endParaRPr lang="en-US" sz="2000"/>
                    </a:p>
                  </a:txBody>
                  <a:tcPr marL="72295" marR="72295" marT="36147" marB="3614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/>
                        <a:t>Understanding how product demand changes with price or income.</a:t>
                      </a:r>
                    </a:p>
                  </a:txBody>
                  <a:tcPr marL="72295" marR="72295" marT="36147" marB="36147" anchor="ctr"/>
                </a:tc>
                <a:extLst>
                  <a:ext uri="{0D108BD9-81ED-4DB2-BD59-A6C34878D82A}">
                    <a16:rowId xmlns:a16="http://schemas.microsoft.com/office/drawing/2014/main" val="3037893977"/>
                  </a:ext>
                </a:extLst>
              </a:tr>
              <a:tr h="11146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1"/>
                        <a:t>Market Trend Analysis</a:t>
                      </a:r>
                      <a:endParaRPr lang="en-US" sz="2000"/>
                    </a:p>
                  </a:txBody>
                  <a:tcPr marL="72295" marR="72295" marT="36147" marB="3614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/>
                        <a:t>Forecasting economic indicators like GDP growth, inflation, or unemployment rates.</a:t>
                      </a:r>
                    </a:p>
                  </a:txBody>
                  <a:tcPr marL="72295" marR="72295" marT="36147" marB="36147" anchor="ctr"/>
                </a:tc>
                <a:extLst>
                  <a:ext uri="{0D108BD9-81ED-4DB2-BD59-A6C34878D82A}">
                    <a16:rowId xmlns:a16="http://schemas.microsoft.com/office/drawing/2014/main" val="2534240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560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665465-DAEE-34C7-FAF1-C73A65A10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30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42489-B37A-122F-3BCF-C0C1C8EB3E33}"/>
              </a:ext>
            </a:extLst>
          </p:cNvPr>
          <p:cNvSpPr txBox="1"/>
          <p:nvPr/>
        </p:nvSpPr>
        <p:spPr>
          <a:xfrm>
            <a:off x="829559" y="301658"/>
            <a:ext cx="83332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Healthcare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034F13-1763-BDB7-C381-108314E4F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649296"/>
              </p:ext>
            </p:extLst>
          </p:nvPr>
        </p:nvGraphicFramePr>
        <p:xfrm>
          <a:off x="1140642" y="1008668"/>
          <a:ext cx="9596488" cy="2140690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4798244">
                  <a:extLst>
                    <a:ext uri="{9D8B030D-6E8A-4147-A177-3AD203B41FA5}">
                      <a16:colId xmlns:a16="http://schemas.microsoft.com/office/drawing/2014/main" val="1231738590"/>
                    </a:ext>
                  </a:extLst>
                </a:gridCol>
                <a:gridCol w="4798244">
                  <a:extLst>
                    <a:ext uri="{9D8B030D-6E8A-4147-A177-3AD203B41FA5}">
                      <a16:colId xmlns:a16="http://schemas.microsoft.com/office/drawing/2014/main" val="2880169765"/>
                    </a:ext>
                  </a:extLst>
                </a:gridCol>
              </a:tblGrid>
              <a:tr h="376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              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          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0581046"/>
                  </a:ext>
                </a:extLst>
              </a:tr>
              <a:tr h="940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Predicting Disease Progression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Estimating disease severity (e.g., blood sugar level prediction based on BMI, age, and diet).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775438"/>
                  </a:ext>
                </a:extLst>
              </a:tr>
              <a:tr h="738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Healthcare Cost Estimation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Predicting hospital bills or insurance costs based on patient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063627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B0CFE48-9E11-1B80-2E49-369D071A5613}"/>
              </a:ext>
            </a:extLst>
          </p:cNvPr>
          <p:cNvSpPr txBox="1"/>
          <p:nvPr/>
        </p:nvSpPr>
        <p:spPr>
          <a:xfrm>
            <a:off x="970961" y="3393648"/>
            <a:ext cx="8191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/>
              <a:t>Finance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FD0D515-921C-F6CF-06F1-884714AEE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620002"/>
              </p:ext>
            </p:extLst>
          </p:nvPr>
        </p:nvGraphicFramePr>
        <p:xfrm>
          <a:off x="1178351" y="3849906"/>
          <a:ext cx="9568206" cy="2426998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4784103">
                  <a:extLst>
                    <a:ext uri="{9D8B030D-6E8A-4147-A177-3AD203B41FA5}">
                      <a16:colId xmlns:a16="http://schemas.microsoft.com/office/drawing/2014/main" val="834324372"/>
                    </a:ext>
                  </a:extLst>
                </a:gridCol>
                <a:gridCol w="4784103">
                  <a:extLst>
                    <a:ext uri="{9D8B030D-6E8A-4147-A177-3AD203B41FA5}">
                      <a16:colId xmlns:a16="http://schemas.microsoft.com/office/drawing/2014/main" val="3625250003"/>
                    </a:ext>
                  </a:extLst>
                </a:gridCol>
              </a:tblGrid>
              <a:tr h="312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           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        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263591"/>
                  </a:ext>
                </a:extLst>
              </a:tr>
              <a:tr h="781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Stock Market Prediction (Basic)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Predicting stock prices or returns based on past trends and features.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489896"/>
                  </a:ext>
                </a:extLst>
              </a:tr>
              <a:tr h="546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Risk Management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Modeling credit risk or loan default probabilities.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995212"/>
                  </a:ext>
                </a:extLst>
              </a:tr>
              <a:tr h="546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Investment Forecasting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Predicting returns on investment over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252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2468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A4ED58-5DEA-AA56-96E6-34683DC43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31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1ABC83-F169-2985-F96F-B738A0F0B3AF}"/>
              </a:ext>
            </a:extLst>
          </p:cNvPr>
          <p:cNvSpPr txBox="1"/>
          <p:nvPr/>
        </p:nvSpPr>
        <p:spPr>
          <a:xfrm>
            <a:off x="1630837" y="216816"/>
            <a:ext cx="7532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Manufacturing &amp; Industry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62B843-E4D2-AD8F-50A6-FA1750232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905518"/>
              </p:ext>
            </p:extLst>
          </p:nvPr>
        </p:nvGraphicFramePr>
        <p:xfrm>
          <a:off x="1150070" y="961534"/>
          <a:ext cx="9709608" cy="2217435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4854804">
                  <a:extLst>
                    <a:ext uri="{9D8B030D-6E8A-4147-A177-3AD203B41FA5}">
                      <a16:colId xmlns:a16="http://schemas.microsoft.com/office/drawing/2014/main" val="3769998046"/>
                    </a:ext>
                  </a:extLst>
                </a:gridCol>
                <a:gridCol w="4854804">
                  <a:extLst>
                    <a:ext uri="{9D8B030D-6E8A-4147-A177-3AD203B41FA5}">
                      <a16:colId xmlns:a16="http://schemas.microsoft.com/office/drawing/2014/main" val="3091540579"/>
                    </a:ext>
                  </a:extLst>
                </a:gridCol>
              </a:tblGrid>
              <a:tr h="492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     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        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698994"/>
                  </a:ext>
                </a:extLst>
              </a:tr>
              <a:tr h="86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Quality Control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Predicting defects or performance based on process variables.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065141"/>
                  </a:ext>
                </a:extLst>
              </a:tr>
              <a:tr h="86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Production Optimization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Estimating output based on resource input (like labor hours, material usage).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17214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580D42C-E32F-CD34-0821-8F87D966EBFC}"/>
              </a:ext>
            </a:extLst>
          </p:cNvPr>
          <p:cNvSpPr txBox="1"/>
          <p:nvPr/>
        </p:nvSpPr>
        <p:spPr>
          <a:xfrm rot="10800000" flipV="1">
            <a:off x="1272619" y="3444045"/>
            <a:ext cx="78902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Education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C122415-5F3C-E22F-0525-2EB90BCDC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728616"/>
              </p:ext>
            </p:extLst>
          </p:nvPr>
        </p:nvGraphicFramePr>
        <p:xfrm>
          <a:off x="1084082" y="4072379"/>
          <a:ext cx="9841588" cy="1772241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4920794">
                  <a:extLst>
                    <a:ext uri="{9D8B030D-6E8A-4147-A177-3AD203B41FA5}">
                      <a16:colId xmlns:a16="http://schemas.microsoft.com/office/drawing/2014/main" val="3610239380"/>
                    </a:ext>
                  </a:extLst>
                </a:gridCol>
                <a:gridCol w="4920794">
                  <a:extLst>
                    <a:ext uri="{9D8B030D-6E8A-4147-A177-3AD203B41FA5}">
                      <a16:colId xmlns:a16="http://schemas.microsoft.com/office/drawing/2014/main" val="1737213047"/>
                    </a:ext>
                  </a:extLst>
                </a:gridCol>
              </a:tblGrid>
              <a:tr h="393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   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         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2518238"/>
                  </a:ext>
                </a:extLst>
              </a:tr>
              <a:tr h="689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Student Performance Prediction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Estimating exam scores based on study hours, attendance, or assignments.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850045"/>
                  </a:ext>
                </a:extLst>
              </a:tr>
              <a:tr h="689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Dropout Risk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Predicting the likelihood of a student leaving school early.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211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84652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D06B95-0CC9-8FFA-788E-A4017943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CF93-472B-4E3E-8A09-6FE38DE89EFB}" type="slidenum">
              <a:rPr lang="en-US" b="1" smtClean="0"/>
              <a:t>32</a:t>
            </a:fld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4D2969-0CF7-3B9F-CDB8-F24D32158378}"/>
              </a:ext>
            </a:extLst>
          </p:cNvPr>
          <p:cNvSpPr txBox="1"/>
          <p:nvPr/>
        </p:nvSpPr>
        <p:spPr>
          <a:xfrm>
            <a:off x="1545996" y="282804"/>
            <a:ext cx="7616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Environment &amp; Agriculture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3FA5AD-2760-0C40-A018-683AE3436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084163"/>
              </p:ext>
            </p:extLst>
          </p:nvPr>
        </p:nvGraphicFramePr>
        <p:xfrm>
          <a:off x="1263192" y="1084082"/>
          <a:ext cx="9681328" cy="1847654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4840664">
                  <a:extLst>
                    <a:ext uri="{9D8B030D-6E8A-4147-A177-3AD203B41FA5}">
                      <a16:colId xmlns:a16="http://schemas.microsoft.com/office/drawing/2014/main" val="2728571911"/>
                    </a:ext>
                  </a:extLst>
                </a:gridCol>
                <a:gridCol w="4840664">
                  <a:extLst>
                    <a:ext uri="{9D8B030D-6E8A-4147-A177-3AD203B41FA5}">
                      <a16:colId xmlns:a16="http://schemas.microsoft.com/office/drawing/2014/main" val="3472127847"/>
                    </a:ext>
                  </a:extLst>
                </a:gridCol>
              </a:tblGrid>
              <a:tr h="410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           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     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8202172"/>
                  </a:ext>
                </a:extLst>
              </a:tr>
              <a:tr h="718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Weather Forecasting (Basic)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Estimating temperature or rainfall based on historical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2937097"/>
                  </a:ext>
                </a:extLst>
              </a:tr>
              <a:tr h="718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Crop Yield Prediction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Predicting yield based on rainfall, soil quality, and fertilizer use.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596915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03484BF-D319-31F3-10F3-473DB25AF593}"/>
              </a:ext>
            </a:extLst>
          </p:cNvPr>
          <p:cNvSpPr txBox="1"/>
          <p:nvPr/>
        </p:nvSpPr>
        <p:spPr>
          <a:xfrm>
            <a:off x="1376313" y="3246690"/>
            <a:ext cx="77865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Marketing &amp; Customer Analytics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44B407-1D3C-0AB8-9942-D879BD2AA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428456"/>
              </p:ext>
            </p:extLst>
          </p:nvPr>
        </p:nvGraphicFramePr>
        <p:xfrm>
          <a:off x="1187776" y="3987538"/>
          <a:ext cx="9719036" cy="2253005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4859518">
                  <a:extLst>
                    <a:ext uri="{9D8B030D-6E8A-4147-A177-3AD203B41FA5}">
                      <a16:colId xmlns:a16="http://schemas.microsoft.com/office/drawing/2014/main" val="3615163231"/>
                    </a:ext>
                  </a:extLst>
                </a:gridCol>
                <a:gridCol w="4859518">
                  <a:extLst>
                    <a:ext uri="{9D8B030D-6E8A-4147-A177-3AD203B41FA5}">
                      <a16:colId xmlns:a16="http://schemas.microsoft.com/office/drawing/2014/main" val="1738099559"/>
                    </a:ext>
                  </a:extLst>
                </a:gridCol>
              </a:tblGrid>
              <a:tr h="500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           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           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193387"/>
                  </a:ext>
                </a:extLst>
              </a:tr>
              <a:tr h="876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Customer Lifetime Value (CLV)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Predicting how much revenue a customer will generate.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827321"/>
                  </a:ext>
                </a:extLst>
              </a:tr>
              <a:tr h="876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Ad Performance Prediction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Estimating how ad spend affects clicks or conversions.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4277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09650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1580</TotalTime>
  <Words>2519</Words>
  <Application>Microsoft Office PowerPoint</Application>
  <PresentationFormat>Widescreen</PresentationFormat>
  <Paragraphs>313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Arial Black</vt:lpstr>
      <vt:lpstr>Calibri</vt:lpstr>
      <vt:lpstr>Cambria Math</vt:lpstr>
      <vt:lpstr>Century Gothic</vt:lpstr>
      <vt:lpstr>Courier New</vt:lpstr>
      <vt:lpstr>Wingdings</vt:lpstr>
      <vt:lpstr>Wingdings 3</vt:lpstr>
      <vt:lpstr>Slice</vt:lpstr>
      <vt:lpstr>Simple Linear Regression in Machine Learning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 reddy</dc:creator>
  <cp:lastModifiedBy>Vamsi Krishna</cp:lastModifiedBy>
  <cp:revision>49</cp:revision>
  <dcterms:created xsi:type="dcterms:W3CDTF">2025-10-24T12:33:49Z</dcterms:created>
  <dcterms:modified xsi:type="dcterms:W3CDTF">2025-11-05T08:15:14Z</dcterms:modified>
</cp:coreProperties>
</file>