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media/image3.jpg" ContentType="image/png"/>
  <Override PartName="/ppt/media/image4.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6"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B06A5-6681-4AFF-A9F3-DD262BECE6E3}" type="datetimeFigureOut">
              <a:rPr lang="en-US" smtClean="0"/>
              <a:t>10/21/2025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3F0EA4-0793-48D9-B618-47EAF9CB6E7F}" type="slidenum">
              <a:rPr lang="en-US" smtClean="0"/>
              <a:t>‹#›</a:t>
            </a:fld>
            <a:endParaRPr lang="en-US"/>
          </a:p>
        </p:txBody>
      </p:sp>
    </p:spTree>
    <p:extLst>
      <p:ext uri="{BB962C8B-B14F-4D97-AF65-F5344CB8AC3E}">
        <p14:creationId xmlns:p14="http://schemas.microsoft.com/office/powerpoint/2010/main" val="3581602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4FADC12-C9B4-45F6-B01A-3326C6C89223}" type="datetime1">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272579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25DBF0-1079-49CE-8F6B-B8288624D8AF}" type="datetime1">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20999472"/>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8020C6-5087-4DB9-8F32-6F3BF2D74D29}" type="datetime1">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46454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F25DBF0-1079-49CE-8F6B-B8288624D8AF}" type="datetime1">
              <a:rPr lang="en-US" smtClean="0"/>
              <a:t>10/21/2025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05807062"/>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F25DBF0-1079-49CE-8F6B-B8288624D8AF}" type="datetime1">
              <a:rPr lang="en-US" smtClean="0"/>
              <a:t>10/21/2025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343368257"/>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B7BB261-3CF6-434F-ABB7-F64CBBAEE252}" type="datetime1">
              <a:rPr lang="en-US" smtClean="0"/>
              <a:t>10/21/2025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21436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59522C-A450-497A-B239-2EDFF48789BC}" type="datetime1">
              <a:rPr lang="en-US" smtClean="0"/>
              <a:t>10/21/2025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372782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25DBF0-1079-49CE-8F6B-B8288624D8AF}" type="datetime1">
              <a:rPr lang="en-US" smtClean="0"/>
              <a:t>10/21/2025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76012216"/>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08648A7-CC33-44EB-BC1F-6DC625E4418F}" type="datetime1">
              <a:rPr lang="en-US" smtClean="0"/>
              <a:t>10/21/2025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154474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25DBF0-1079-49CE-8F6B-B8288624D8AF}" type="datetime1">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24891947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25DBF0-1079-49CE-8F6B-B8288624D8AF}" type="datetime1">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D22F896-40B5-4ADD-8801-0D06FADFA095}"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98494865"/>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F25DBF0-1079-49CE-8F6B-B8288624D8AF}" type="datetime1">
              <a:rPr lang="en-US" smtClean="0"/>
              <a:t>10/21/2025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342157400"/>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F25DBF0-1079-49CE-8F6B-B8288624D8AF}" type="datetime1">
              <a:rPr lang="en-US" smtClean="0"/>
              <a:t>10/21/2025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69655205"/>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F25DBF0-1079-49CE-8F6B-B8288624D8AF}" type="datetime1">
              <a:rPr lang="en-US" smtClean="0"/>
              <a:t>10/21/2025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468671276"/>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25DBF0-1079-49CE-8F6B-B8288624D8AF}" type="datetime1">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227332659"/>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25DBF0-1079-49CE-8F6B-B8288624D8AF}" type="datetime1">
              <a:rPr lang="en-US" smtClean="0"/>
              <a:t>10/21/2025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19754030"/>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a:solidFill>
            <a:schemeClr val="accent1">
              <a:lumMod val="75000"/>
              <a:alpha val="40000"/>
            </a:schemeClr>
          </a:solidFill>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sp>
      </p:grpSp>
      <p:grpSp>
        <p:nvGrpSpPr>
          <p:cNvPr id="10" name="Group 9"/>
          <p:cNvGrpSpPr/>
          <p:nvPr/>
        </p:nvGrpSpPr>
        <p:grpSpPr>
          <a:xfrm>
            <a:off x="27221" y="-30"/>
            <a:ext cx="2356674" cy="6853283"/>
            <a:chOff x="6627813" y="195452"/>
            <a:chExt cx="1952625" cy="5678299"/>
          </a:xfrm>
          <a:solidFill>
            <a:schemeClr val="accent1"/>
          </a:solidFill>
        </p:grpSpPr>
        <p:sp>
          <p:nvSpPr>
            <p:cNvPr id="11" name="Freeform 27"/>
            <p:cNvSpPr/>
            <p:nvPr/>
          </p:nvSpPr>
          <p:spPr bwMode="auto">
            <a:xfrm>
              <a:off x="6627813" y="195452"/>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grp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grp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grp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grp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grp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grp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grp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grp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grp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grp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grp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grpFill/>
            <a:ln>
              <a:noFill/>
            </a:ln>
          </p:spPr>
        </p:sp>
      </p:grpSp>
      <p:sp>
        <p:nvSpPr>
          <p:cNvPr id="7" name="Rectangle 6"/>
          <p:cNvSpPr/>
          <p:nvPr/>
        </p:nvSpPr>
        <p:spPr>
          <a:xfrm>
            <a:off x="0" y="0"/>
            <a:ext cx="18288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F25DBF0-1079-49CE-8F6B-B8288624D8AF}" type="datetime1">
              <a:rPr lang="en-US" smtClean="0"/>
              <a:t>10/21/2025</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583825705"/>
      </p:ext>
    </p:extLst>
  </p:cSld>
  <p:clrMap bg1="dk1" tx1="lt1" bg2="dk2" tx2="lt2" accent1="accent1" accent2="accent2" accent3="accent3" accent4="accent4" accent5="accent5" accent6="accent6" hlink="hlink" folHlink="folHlink"/>
  <p:sldLayoutIdLst>
    <p:sldLayoutId id="2147483717" r:id="rId1"/>
    <p:sldLayoutId id="2147483718" r:id="rId2"/>
    <p:sldLayoutId id="2147483719" r:id="rId3"/>
    <p:sldLayoutId id="2147483720" r:id="rId4"/>
    <p:sldLayoutId id="2147483721" r:id="rId5"/>
    <p:sldLayoutId id="2147483722" r:id="rId6"/>
    <p:sldLayoutId id="2147483723" r:id="rId7"/>
    <p:sldLayoutId id="2147483724" r:id="rId8"/>
    <p:sldLayoutId id="2147483725" r:id="rId9"/>
    <p:sldLayoutId id="2147483726" r:id="rId10"/>
    <p:sldLayoutId id="2147483727" r:id="rId11"/>
    <p:sldLayoutId id="2147483728" r:id="rId12"/>
    <p:sldLayoutId id="2147483729" r:id="rId13"/>
    <p:sldLayoutId id="2147483730" r:id="rId14"/>
    <p:sldLayoutId id="2147483731" r:id="rId15"/>
    <p:sldLayoutId id="2147483732" r:id="rId16"/>
  </p:sldLayoutIdLst>
  <p:hf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723C2-B49B-59BA-2512-F593C3BCDA51}"/>
              </a:ext>
            </a:extLst>
          </p:cNvPr>
          <p:cNvSpPr>
            <a:spLocks noGrp="1"/>
          </p:cNvSpPr>
          <p:nvPr>
            <p:ph type="ctrTitle"/>
          </p:nvPr>
        </p:nvSpPr>
        <p:spPr>
          <a:xfrm>
            <a:off x="1432874" y="2328461"/>
            <a:ext cx="8955464" cy="1432834"/>
          </a:xfrm>
        </p:spPr>
        <p:txBody>
          <a:bodyPr>
            <a:normAutofit fontScale="90000"/>
          </a:bodyPr>
          <a:lstStyle/>
          <a:p>
            <a:br>
              <a:rPr lang="en-US" b="1" dirty="0">
                <a:solidFill>
                  <a:schemeClr val="bg1">
                    <a:lumMod val="85000"/>
                    <a:lumOff val="15000"/>
                  </a:schemeClr>
                </a:solidFill>
                <a:latin typeface="Brygada 1918 Bold" pitchFamily="34" charset="0"/>
                <a:ea typeface="Brygada 1918 Bold" pitchFamily="34" charset="-122"/>
                <a:cs typeface="Brygada 1918 Bold" pitchFamily="34" charset="-120"/>
              </a:rPr>
            </a:br>
            <a:br>
              <a:rPr lang="en-US" b="1" dirty="0">
                <a:solidFill>
                  <a:schemeClr val="bg1">
                    <a:lumMod val="85000"/>
                    <a:lumOff val="15000"/>
                  </a:schemeClr>
                </a:solidFill>
                <a:latin typeface="Brygada 1918 Bold" pitchFamily="34" charset="0"/>
                <a:ea typeface="Brygada 1918 Bold" pitchFamily="34" charset="-122"/>
                <a:cs typeface="Brygada 1918 Bold" pitchFamily="34" charset="-120"/>
              </a:rPr>
            </a:br>
            <a:br>
              <a:rPr lang="en-US" b="1" dirty="0">
                <a:solidFill>
                  <a:schemeClr val="bg1">
                    <a:lumMod val="85000"/>
                    <a:lumOff val="15000"/>
                  </a:schemeClr>
                </a:solidFill>
                <a:latin typeface="Brygada 1918 Bold" pitchFamily="34" charset="0"/>
                <a:ea typeface="Brygada 1918 Bold" pitchFamily="34" charset="-122"/>
                <a:cs typeface="Brygada 1918 Bold" pitchFamily="34" charset="-120"/>
              </a:rPr>
            </a:br>
            <a:br>
              <a:rPr lang="en-US" dirty="0">
                <a:solidFill>
                  <a:schemeClr val="bg1">
                    <a:lumMod val="85000"/>
                    <a:lumOff val="15000"/>
                  </a:schemeClr>
                </a:solidFill>
              </a:rPr>
            </a:br>
            <a:r>
              <a:rPr lang="en-US" b="1" dirty="0">
                <a:solidFill>
                  <a:schemeClr val="tx1">
                    <a:lumMod val="95000"/>
                  </a:schemeClr>
                </a:solidFill>
                <a:latin typeface="Brygada 1918 Bold" pitchFamily="34" charset="0"/>
                <a:ea typeface="Brygada 1918 Bold" pitchFamily="34" charset="-122"/>
                <a:cs typeface="Brygada 1918 Bold" pitchFamily="34" charset="-120"/>
              </a:rPr>
              <a:t>Decision Tree Algorithms in Machine Learning</a:t>
            </a:r>
            <a:endParaRPr lang="en-US" dirty="0">
              <a:solidFill>
                <a:schemeClr val="tx1">
                  <a:lumMod val="95000"/>
                </a:schemeClr>
              </a:solidFill>
            </a:endParaRPr>
          </a:p>
        </p:txBody>
      </p:sp>
      <p:sp>
        <p:nvSpPr>
          <p:cNvPr id="3" name="Subtitle 2">
            <a:extLst>
              <a:ext uri="{FF2B5EF4-FFF2-40B4-BE49-F238E27FC236}">
                <a16:creationId xmlns:a16="http://schemas.microsoft.com/office/drawing/2014/main" id="{66CCE19D-EC9E-D27E-0733-366901684301}"/>
              </a:ext>
            </a:extLst>
          </p:cNvPr>
          <p:cNvSpPr>
            <a:spLocks noGrp="1"/>
          </p:cNvSpPr>
          <p:nvPr>
            <p:ph type="subTitle" idx="1"/>
          </p:nvPr>
        </p:nvSpPr>
        <p:spPr>
          <a:xfrm>
            <a:off x="2724346" y="4110087"/>
            <a:ext cx="8644380" cy="593887"/>
          </a:xfrm>
        </p:spPr>
        <p:txBody>
          <a:bodyPr>
            <a:normAutofit lnSpcReduction="10000"/>
          </a:bodyPr>
          <a:lstStyle/>
          <a:p>
            <a:r>
              <a:rPr lang="en-US" dirty="0">
                <a:latin typeface="Arial Black" panose="020B0A04020102020204" pitchFamily="34" charset="0"/>
              </a:rPr>
              <a:t>A clear, visual guide to understanding one of the most intuitive and powerful algorithms in data science</a:t>
            </a:r>
          </a:p>
          <a:p>
            <a:endParaRPr lang="en-US" dirty="0"/>
          </a:p>
        </p:txBody>
      </p:sp>
      <p:sp>
        <p:nvSpPr>
          <p:cNvPr id="4" name="Slide Number Placeholder 3">
            <a:extLst>
              <a:ext uri="{FF2B5EF4-FFF2-40B4-BE49-F238E27FC236}">
                <a16:creationId xmlns:a16="http://schemas.microsoft.com/office/drawing/2014/main" id="{107710F6-F5D1-C9A2-5F69-AE07942D2039}"/>
              </a:ext>
            </a:extLst>
          </p:cNvPr>
          <p:cNvSpPr>
            <a:spLocks noGrp="1"/>
          </p:cNvSpPr>
          <p:nvPr>
            <p:ph type="sldNum" sz="quarter" idx="12"/>
          </p:nvPr>
        </p:nvSpPr>
        <p:spPr/>
        <p:txBody>
          <a:bodyPr/>
          <a:lstStyle/>
          <a:p>
            <a:r>
              <a:rPr lang="en-US" sz="2400" dirty="0">
                <a:latin typeface="Arial Black" panose="020B0A04020102020204" pitchFamily="34" charset="0"/>
              </a:rPr>
              <a:t>1</a:t>
            </a:r>
          </a:p>
        </p:txBody>
      </p:sp>
    </p:spTree>
    <p:extLst>
      <p:ext uri="{BB962C8B-B14F-4D97-AF65-F5344CB8AC3E}">
        <p14:creationId xmlns:p14="http://schemas.microsoft.com/office/powerpoint/2010/main" val="1756481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0BC05D-371D-B939-E895-DF9254894DFE}"/>
              </a:ext>
            </a:extLst>
          </p:cNvPr>
          <p:cNvSpPr>
            <a:spLocks noGrp="1"/>
          </p:cNvSpPr>
          <p:nvPr>
            <p:ph type="title"/>
          </p:nvPr>
        </p:nvSpPr>
        <p:spPr>
          <a:xfrm>
            <a:off x="1621410" y="624110"/>
            <a:ext cx="9883201" cy="837045"/>
          </a:xfrm>
        </p:spPr>
        <p:txBody>
          <a:bodyPr>
            <a:normAutofit fontScale="90000"/>
          </a:bodyPr>
          <a:lstStyle/>
          <a:p>
            <a:r>
              <a:rPr lang="en-US" b="1" dirty="0"/>
              <a:t>What is a Decision Tree?</a:t>
            </a:r>
            <a:br>
              <a:rPr lang="en-US" b="1" dirty="0"/>
            </a:br>
            <a:endParaRPr lang="en-US" dirty="0"/>
          </a:p>
        </p:txBody>
      </p:sp>
      <p:sp>
        <p:nvSpPr>
          <p:cNvPr id="3" name="Slide Number Placeholder 2">
            <a:extLst>
              <a:ext uri="{FF2B5EF4-FFF2-40B4-BE49-F238E27FC236}">
                <a16:creationId xmlns:a16="http://schemas.microsoft.com/office/drawing/2014/main" id="{E901175F-764F-08AD-F4FB-EE3CCAB02608}"/>
              </a:ext>
            </a:extLst>
          </p:cNvPr>
          <p:cNvSpPr>
            <a:spLocks noGrp="1"/>
          </p:cNvSpPr>
          <p:nvPr>
            <p:ph type="sldNum" sz="quarter" idx="12"/>
          </p:nvPr>
        </p:nvSpPr>
        <p:spPr/>
        <p:txBody>
          <a:bodyPr/>
          <a:lstStyle/>
          <a:p>
            <a:fld id="{6D22F896-40B5-4ADD-8801-0D06FADFA095}" type="slidenum">
              <a:rPr lang="en-US" smtClean="0"/>
              <a:t>2</a:t>
            </a:fld>
            <a:endParaRPr lang="en-US" dirty="0"/>
          </a:p>
        </p:txBody>
      </p:sp>
      <p:sp>
        <p:nvSpPr>
          <p:cNvPr id="4" name="TextBox 3">
            <a:extLst>
              <a:ext uri="{FF2B5EF4-FFF2-40B4-BE49-F238E27FC236}">
                <a16:creationId xmlns:a16="http://schemas.microsoft.com/office/drawing/2014/main" id="{D338AD48-C993-8DEB-28BD-1B3F32D1D09A}"/>
              </a:ext>
            </a:extLst>
          </p:cNvPr>
          <p:cNvSpPr txBox="1"/>
          <p:nvPr/>
        </p:nvSpPr>
        <p:spPr>
          <a:xfrm>
            <a:off x="531812" y="1461155"/>
            <a:ext cx="7594093" cy="3970318"/>
          </a:xfrm>
          <a:prstGeom prst="rect">
            <a:avLst/>
          </a:prstGeom>
          <a:noFill/>
        </p:spPr>
        <p:txBody>
          <a:bodyPr wrap="square">
            <a:spAutoFit/>
          </a:bodyPr>
          <a:lstStyle/>
          <a:p>
            <a:pPr marL="285750" indent="-285750">
              <a:buFont typeface="Wingdings" panose="05000000000000000000" pitchFamily="2" charset="2"/>
              <a:buChar char="q"/>
            </a:pPr>
            <a:r>
              <a:rPr lang="en-US" dirty="0"/>
              <a:t>A decision tree is a supervised learning algorithm that mimics human decision-making by breaking down complex choices into a series of simple questions. It's structured like a flowchart, making it one of the most intuitive machine learning models.</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The algorithm works by splitting data step-by-step based on feature values, creating a tree-like structure that leads to predictions. It's versatile enough to handle both classification tasks (predicting categories) and regression problems (predicting continuous values).</a:t>
            </a:r>
          </a:p>
          <a:p>
            <a:pPr marL="285750" indent="-285750">
              <a:buFont typeface="Wingdings" panose="05000000000000000000" pitchFamily="2" charset="2"/>
              <a:buChar char="q"/>
            </a:pPr>
            <a:endParaRPr lang="en-US" dirty="0"/>
          </a:p>
        </p:txBody>
      </p:sp>
      <p:pic>
        <p:nvPicPr>
          <p:cNvPr id="1026" name="Picture 2">
            <a:extLst>
              <a:ext uri="{FF2B5EF4-FFF2-40B4-BE49-F238E27FC236}">
                <a16:creationId xmlns:a16="http://schemas.microsoft.com/office/drawing/2014/main" id="{4D04078C-44CF-C5EA-8BEC-BC3B92EB37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11126" y="1152908"/>
            <a:ext cx="4425384" cy="4625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56461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781CCB-4ADD-F0B2-6C95-A094FE3D68AA}"/>
              </a:ext>
            </a:extLst>
          </p:cNvPr>
          <p:cNvSpPr>
            <a:spLocks noGrp="1"/>
          </p:cNvSpPr>
          <p:nvPr>
            <p:ph type="title"/>
          </p:nvPr>
        </p:nvSpPr>
        <p:spPr>
          <a:xfrm>
            <a:off x="1687398" y="624110"/>
            <a:ext cx="9817213" cy="676789"/>
          </a:xfrm>
        </p:spPr>
        <p:txBody>
          <a:bodyPr>
            <a:normAutofit fontScale="90000"/>
          </a:bodyPr>
          <a:lstStyle/>
          <a:p>
            <a:r>
              <a:rPr lang="en-US" b="1" dirty="0"/>
              <a:t>Anatomy of a Decision Tree</a:t>
            </a:r>
            <a:br>
              <a:rPr lang="en-US" b="1" dirty="0"/>
            </a:br>
            <a:endParaRPr lang="en-US" dirty="0"/>
          </a:p>
        </p:txBody>
      </p:sp>
      <p:sp>
        <p:nvSpPr>
          <p:cNvPr id="3" name="Slide Number Placeholder 2">
            <a:extLst>
              <a:ext uri="{FF2B5EF4-FFF2-40B4-BE49-F238E27FC236}">
                <a16:creationId xmlns:a16="http://schemas.microsoft.com/office/drawing/2014/main" id="{44A8D772-0977-7982-C613-928E280C147D}"/>
              </a:ext>
            </a:extLst>
          </p:cNvPr>
          <p:cNvSpPr>
            <a:spLocks noGrp="1"/>
          </p:cNvSpPr>
          <p:nvPr>
            <p:ph type="sldNum" sz="quarter" idx="12"/>
          </p:nvPr>
        </p:nvSpPr>
        <p:spPr/>
        <p:txBody>
          <a:bodyPr/>
          <a:lstStyle/>
          <a:p>
            <a:fld id="{6D22F896-40B5-4ADD-8801-0D06FADFA095}" type="slidenum">
              <a:rPr lang="en-US" smtClean="0"/>
              <a:t>3</a:t>
            </a:fld>
            <a:endParaRPr lang="en-US" dirty="0"/>
          </a:p>
        </p:txBody>
      </p:sp>
      <p:sp>
        <p:nvSpPr>
          <p:cNvPr id="6" name="TextBox 5">
            <a:extLst>
              <a:ext uri="{FF2B5EF4-FFF2-40B4-BE49-F238E27FC236}">
                <a16:creationId xmlns:a16="http://schemas.microsoft.com/office/drawing/2014/main" id="{64073639-4BCA-CA98-8509-7C24663CFFCD}"/>
              </a:ext>
            </a:extLst>
          </p:cNvPr>
          <p:cNvSpPr txBox="1"/>
          <p:nvPr/>
        </p:nvSpPr>
        <p:spPr>
          <a:xfrm>
            <a:off x="1762812" y="1461155"/>
            <a:ext cx="7378831" cy="461665"/>
          </a:xfrm>
          <a:prstGeom prst="rect">
            <a:avLst/>
          </a:prstGeom>
          <a:noFill/>
        </p:spPr>
        <p:txBody>
          <a:bodyPr wrap="square">
            <a:spAutoFit/>
          </a:bodyPr>
          <a:lstStyle/>
          <a:p>
            <a:pPr marL="285750" indent="-285750">
              <a:buFont typeface="Wingdings" panose="05000000000000000000" pitchFamily="2" charset="2"/>
              <a:buChar char="Ø"/>
            </a:pPr>
            <a:r>
              <a:rPr lang="en-US" sz="2400" b="1" dirty="0"/>
              <a:t>Root Node</a:t>
            </a:r>
          </a:p>
        </p:txBody>
      </p:sp>
      <p:sp>
        <p:nvSpPr>
          <p:cNvPr id="8" name="TextBox 7">
            <a:extLst>
              <a:ext uri="{FF2B5EF4-FFF2-40B4-BE49-F238E27FC236}">
                <a16:creationId xmlns:a16="http://schemas.microsoft.com/office/drawing/2014/main" id="{B3916111-57F9-202B-E9E9-6F59E2543B37}"/>
              </a:ext>
            </a:extLst>
          </p:cNvPr>
          <p:cNvSpPr txBox="1"/>
          <p:nvPr/>
        </p:nvSpPr>
        <p:spPr>
          <a:xfrm>
            <a:off x="2111604" y="2083076"/>
            <a:ext cx="8936610" cy="3416320"/>
          </a:xfrm>
          <a:prstGeom prst="rect">
            <a:avLst/>
          </a:prstGeom>
          <a:noFill/>
        </p:spPr>
        <p:txBody>
          <a:bodyPr wrap="square">
            <a:spAutoFit/>
          </a:bodyPr>
          <a:lstStyle/>
          <a:p>
            <a:pPr marL="285750" indent="-285750">
              <a:buFont typeface="Wingdings" panose="05000000000000000000" pitchFamily="2" charset="2"/>
              <a:buChar char="q"/>
            </a:pPr>
            <a:r>
              <a:rPr lang="en-US" sz="2000" b="1" dirty="0"/>
              <a:t>The starting point containing the entire dataset. This is where the first question is asked to begin splitting the data.</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b="1" dirty="0"/>
              <a:t>The root node is the topmost node of the tree.</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sz="2000" b="1" dirty="0"/>
              <a:t>It represents the entire dataset, and the algorithm chooses a feature (attribute) that best splits the data into groups (based on criteria like </a:t>
            </a:r>
            <a:r>
              <a:rPr lang="en-US" sz="2000" b="1" i="1" dirty="0"/>
              <a:t>Information Gain</a:t>
            </a:r>
            <a:r>
              <a:rPr lang="en-US" sz="2000" b="1" dirty="0"/>
              <a:t>, </a:t>
            </a:r>
            <a:r>
              <a:rPr lang="en-US" sz="2000" b="1" i="1" dirty="0"/>
              <a:t>Gini Index</a:t>
            </a:r>
            <a:r>
              <a:rPr lang="en-US" sz="2000" b="1" dirty="0"/>
              <a:t>, or </a:t>
            </a:r>
            <a:r>
              <a:rPr lang="en-US" sz="2000" b="1" i="1" dirty="0"/>
              <a:t>Chi-square</a:t>
            </a:r>
            <a:r>
              <a:rPr lang="en-US" sz="2000" b="1" dirty="0"/>
              <a:t>).</a:t>
            </a:r>
          </a:p>
          <a:p>
            <a:pPr marL="285750" indent="-285750">
              <a:buFont typeface="Wingdings" panose="05000000000000000000" pitchFamily="2" charset="2"/>
              <a:buChar char="q"/>
            </a:pPr>
            <a:endParaRPr lang="en-US" sz="2000" dirty="0"/>
          </a:p>
          <a:p>
            <a:pPr marL="285750" indent="-285750">
              <a:buFont typeface="Wingdings" panose="05000000000000000000" pitchFamily="2" charset="2"/>
              <a:buChar char="q"/>
            </a:pPr>
            <a:r>
              <a:rPr lang="en-US" sz="2000" b="1" dirty="0"/>
              <a:t>It’s the starting point for decision-making.</a:t>
            </a:r>
          </a:p>
          <a:p>
            <a:endParaRPr lang="en-US" dirty="0"/>
          </a:p>
        </p:txBody>
      </p:sp>
      <p:sp>
        <p:nvSpPr>
          <p:cNvPr id="10" name="TextBox 9">
            <a:extLst>
              <a:ext uri="{FF2B5EF4-FFF2-40B4-BE49-F238E27FC236}">
                <a16:creationId xmlns:a16="http://schemas.microsoft.com/office/drawing/2014/main" id="{D31CE2A0-3275-B052-0F02-FA7E82C1D1E7}"/>
              </a:ext>
            </a:extLst>
          </p:cNvPr>
          <p:cNvSpPr txBox="1"/>
          <p:nvPr/>
        </p:nvSpPr>
        <p:spPr>
          <a:xfrm rot="10800000" flipV="1">
            <a:off x="1428961" y="5167846"/>
            <a:ext cx="9817214" cy="1631216"/>
          </a:xfrm>
          <a:prstGeom prst="rect">
            <a:avLst/>
          </a:prstGeom>
          <a:noFill/>
        </p:spPr>
        <p:txBody>
          <a:bodyPr wrap="square">
            <a:spAutoFit/>
          </a:bodyPr>
          <a:lstStyle/>
          <a:p>
            <a:endParaRPr lang="en-US" sz="2000" dirty="0"/>
          </a:p>
          <a:p>
            <a:r>
              <a:rPr lang="en-US" sz="2000" dirty="0"/>
              <a:t> </a:t>
            </a:r>
            <a:r>
              <a:rPr lang="en-US" sz="2000" b="1" dirty="0"/>
              <a:t>Example:</a:t>
            </a:r>
          </a:p>
          <a:p>
            <a:br>
              <a:rPr lang="en-US" sz="2000" b="1" dirty="0"/>
            </a:br>
            <a:r>
              <a:rPr lang="en-US" sz="2000" b="1" dirty="0"/>
              <a:t>In a weather dataset, the root node might split on “Outlook” (Sunny, Rainy, Overcast) to begin classification for whether to “Play Tennis” or not.</a:t>
            </a:r>
          </a:p>
        </p:txBody>
      </p:sp>
    </p:spTree>
    <p:extLst>
      <p:ext uri="{BB962C8B-B14F-4D97-AF65-F5344CB8AC3E}">
        <p14:creationId xmlns:p14="http://schemas.microsoft.com/office/powerpoint/2010/main" val="39510736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6330127-B4FC-741A-800A-0C0AF2599EA4}"/>
              </a:ext>
            </a:extLst>
          </p:cNvPr>
          <p:cNvSpPr>
            <a:spLocks noGrp="1"/>
          </p:cNvSpPr>
          <p:nvPr>
            <p:ph type="sldNum" sz="quarter" idx="12"/>
          </p:nvPr>
        </p:nvSpPr>
        <p:spPr/>
        <p:txBody>
          <a:bodyPr/>
          <a:lstStyle/>
          <a:p>
            <a:fld id="{6D22F896-40B5-4ADD-8801-0D06FADFA095}" type="slidenum">
              <a:rPr lang="en-US" smtClean="0"/>
              <a:t>4</a:t>
            </a:fld>
            <a:endParaRPr lang="en-US" dirty="0"/>
          </a:p>
        </p:txBody>
      </p:sp>
      <p:sp>
        <p:nvSpPr>
          <p:cNvPr id="4" name="TextBox 3">
            <a:extLst>
              <a:ext uri="{FF2B5EF4-FFF2-40B4-BE49-F238E27FC236}">
                <a16:creationId xmlns:a16="http://schemas.microsoft.com/office/drawing/2014/main" id="{5063B485-1434-DE04-1815-AA3D181527F4}"/>
              </a:ext>
            </a:extLst>
          </p:cNvPr>
          <p:cNvSpPr txBox="1"/>
          <p:nvPr/>
        </p:nvSpPr>
        <p:spPr>
          <a:xfrm>
            <a:off x="1765852" y="447262"/>
            <a:ext cx="7432352" cy="461665"/>
          </a:xfrm>
          <a:prstGeom prst="rect">
            <a:avLst/>
          </a:prstGeom>
          <a:noFill/>
        </p:spPr>
        <p:txBody>
          <a:bodyPr wrap="square">
            <a:spAutoFit/>
          </a:bodyPr>
          <a:lstStyle/>
          <a:p>
            <a:pPr marL="285750" indent="-285750">
              <a:buFont typeface="Wingdings" panose="05000000000000000000" pitchFamily="2" charset="2"/>
              <a:buChar char="Ø"/>
            </a:pPr>
            <a:r>
              <a:rPr lang="en-US" sz="2400" b="1" dirty="0"/>
              <a:t>Decision Nodes OR Internal nodes</a:t>
            </a:r>
          </a:p>
        </p:txBody>
      </p:sp>
      <p:sp>
        <p:nvSpPr>
          <p:cNvPr id="6" name="TextBox 5">
            <a:extLst>
              <a:ext uri="{FF2B5EF4-FFF2-40B4-BE49-F238E27FC236}">
                <a16:creationId xmlns:a16="http://schemas.microsoft.com/office/drawing/2014/main" id="{0ACE247C-8EBB-0BA8-14F9-B4AC9031C1BD}"/>
              </a:ext>
            </a:extLst>
          </p:cNvPr>
          <p:cNvSpPr txBox="1"/>
          <p:nvPr/>
        </p:nvSpPr>
        <p:spPr>
          <a:xfrm>
            <a:off x="1311579" y="3735917"/>
            <a:ext cx="10880421" cy="1938992"/>
          </a:xfrm>
          <a:prstGeom prst="rect">
            <a:avLst/>
          </a:prstGeom>
          <a:noFill/>
        </p:spPr>
        <p:txBody>
          <a:bodyPr wrap="square">
            <a:spAutoFit/>
          </a:bodyPr>
          <a:lstStyle/>
          <a:p>
            <a:pPr marL="742950" lvl="1" indent="-285750">
              <a:buFont typeface="Wingdings" panose="05000000000000000000" pitchFamily="2" charset="2"/>
              <a:buChar char="q"/>
            </a:pPr>
            <a:r>
              <a:rPr lang="en-US" sz="2400" b="1" dirty="0"/>
              <a:t>Feature-based decision points that ask questions and split the data into smaller, more homogeneous group  </a:t>
            </a:r>
          </a:p>
          <a:p>
            <a:pPr marL="285750" indent="-285750">
              <a:buFont typeface="Wingdings" panose="05000000000000000000" pitchFamily="2" charset="2"/>
              <a:buChar char="q"/>
            </a:pPr>
            <a:endParaRPr lang="en-US" sz="2400" b="1" dirty="0"/>
          </a:p>
          <a:p>
            <a:r>
              <a:rPr lang="en-US" sz="2400" b="1" dirty="0"/>
              <a:t>       </a:t>
            </a:r>
          </a:p>
          <a:p>
            <a:pPr marL="285750" indent="-285750">
              <a:buFont typeface="Wingdings" panose="05000000000000000000" pitchFamily="2" charset="2"/>
              <a:buChar char="q"/>
            </a:pPr>
            <a:endParaRPr lang="en-US" sz="2400" b="1" dirty="0"/>
          </a:p>
        </p:txBody>
      </p:sp>
      <p:sp>
        <p:nvSpPr>
          <p:cNvPr id="7" name="Rectangle 1">
            <a:extLst>
              <a:ext uri="{FF2B5EF4-FFF2-40B4-BE49-F238E27FC236}">
                <a16:creationId xmlns:a16="http://schemas.microsoft.com/office/drawing/2014/main" id="{74645AD3-BB09-C1D5-ACB8-205580B0C3BA}"/>
              </a:ext>
            </a:extLst>
          </p:cNvPr>
          <p:cNvSpPr>
            <a:spLocks noChangeArrowheads="1"/>
          </p:cNvSpPr>
          <p:nvPr/>
        </p:nvSpPr>
        <p:spPr bwMode="auto">
          <a:xfrm>
            <a:off x="1498862" y="-2409173"/>
            <a:ext cx="8873764" cy="64633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8" name="Rectangle 3">
            <a:extLst>
              <a:ext uri="{FF2B5EF4-FFF2-40B4-BE49-F238E27FC236}">
                <a16:creationId xmlns:a16="http://schemas.microsoft.com/office/drawing/2014/main" id="{C69799A8-A43D-B23F-09D1-11CA462A46B1}"/>
              </a:ext>
            </a:extLst>
          </p:cNvPr>
          <p:cNvSpPr>
            <a:spLocks noChangeArrowheads="1"/>
          </p:cNvSpPr>
          <p:nvPr/>
        </p:nvSpPr>
        <p:spPr bwMode="auto">
          <a:xfrm>
            <a:off x="1819374" y="983305"/>
            <a:ext cx="10157277"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Arial" panose="020B0604020202020204" pitchFamily="34" charset="0"/>
              </a:rPr>
              <a:t>These are the internal nodes of the tree where splitting occurs.</a:t>
            </a:r>
          </a:p>
          <a:p>
            <a:pPr marR="0" lvl="0" algn="l"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Arial" panose="020B0604020202020204" pitchFamily="34" charset="0"/>
              </a:rPr>
              <a:t>Each node represents a test on a feature, and each branch from that node corresponds to a possible outcome of the test.</a:t>
            </a:r>
          </a:p>
          <a:p>
            <a:pPr marR="0" lvl="0" algn="l"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285750" lvl="0" indent="-285750" defTabSz="914400" eaLnBrk="0" fontAlgn="base" hangingPunct="0">
              <a:spcBef>
                <a:spcPct val="0"/>
              </a:spcBef>
              <a:spcAft>
                <a:spcPct val="0"/>
              </a:spcAft>
              <a:buFont typeface="Wingdings" panose="05000000000000000000" pitchFamily="2" charset="2"/>
              <a:buChar char="q"/>
            </a:pPr>
            <a:r>
              <a:rPr lang="en-US" sz="2400" b="1" dirty="0"/>
              <a:t>Decision nodes are where the tree branches out further based on different feature values.</a:t>
            </a:r>
          </a:p>
          <a:p>
            <a:pPr marL="285750" lvl="0" indent="-285750" defTabSz="914400" eaLnBrk="0" fontAlgn="base" hangingPunct="0">
              <a:spcBef>
                <a:spcPct val="0"/>
              </a:spcBef>
              <a:spcAft>
                <a:spcPct val="0"/>
              </a:spcAft>
              <a:buFont typeface="Wingdings" panose="05000000000000000000" pitchFamily="2" charset="2"/>
              <a:buChar char="q"/>
            </a:pP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285750" lvl="0" indent="-285750" defTabSz="914400" eaLnBrk="0" fontAlgn="base" hangingPunct="0">
              <a:spcBef>
                <a:spcPct val="0"/>
              </a:spcBef>
              <a:spcAft>
                <a:spcPct val="0"/>
              </a:spcAft>
              <a:buFont typeface="Wingdings" panose="05000000000000000000" pitchFamily="2" charset="2"/>
              <a:buChar char="q"/>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
        <p:nvSpPr>
          <p:cNvPr id="10" name="TextBox 9">
            <a:extLst>
              <a:ext uri="{FF2B5EF4-FFF2-40B4-BE49-F238E27FC236}">
                <a16:creationId xmlns:a16="http://schemas.microsoft.com/office/drawing/2014/main" id="{CACB4D17-E15E-F8BE-74F2-098A9CFD0192}"/>
              </a:ext>
            </a:extLst>
          </p:cNvPr>
          <p:cNvSpPr txBox="1"/>
          <p:nvPr/>
        </p:nvSpPr>
        <p:spPr>
          <a:xfrm>
            <a:off x="1765852" y="4731025"/>
            <a:ext cx="9803295" cy="1846659"/>
          </a:xfrm>
          <a:prstGeom prst="rect">
            <a:avLst/>
          </a:prstGeom>
          <a:noFill/>
        </p:spPr>
        <p:txBody>
          <a:bodyPr wrap="square">
            <a:spAutoFit/>
          </a:bodyPr>
          <a:lstStyle/>
          <a:p>
            <a:r>
              <a:rPr lang="en-US" sz="2400" b="1" dirty="0"/>
              <a:t>Example: </a:t>
            </a:r>
          </a:p>
          <a:p>
            <a:br>
              <a:rPr lang="en-US" dirty="0"/>
            </a:br>
            <a:r>
              <a:rPr lang="en-US" sz="2400" b="1" dirty="0"/>
              <a:t>If the root node is “Outlook,” a decision node might be “Humidity” or “Wind” depending on the next best attribute to split the data.</a:t>
            </a:r>
          </a:p>
        </p:txBody>
      </p:sp>
    </p:spTree>
    <p:extLst>
      <p:ext uri="{BB962C8B-B14F-4D97-AF65-F5344CB8AC3E}">
        <p14:creationId xmlns:p14="http://schemas.microsoft.com/office/powerpoint/2010/main" val="7573709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2C523EF-1B37-78FB-89B8-371283983BFD}"/>
              </a:ext>
            </a:extLst>
          </p:cNvPr>
          <p:cNvSpPr>
            <a:spLocks noGrp="1"/>
          </p:cNvSpPr>
          <p:nvPr>
            <p:ph type="sldNum" sz="quarter" idx="12"/>
          </p:nvPr>
        </p:nvSpPr>
        <p:spPr/>
        <p:txBody>
          <a:bodyPr/>
          <a:lstStyle/>
          <a:p>
            <a:fld id="{6D22F896-40B5-4ADD-8801-0D06FADFA095}" type="slidenum">
              <a:rPr lang="en-US" smtClean="0"/>
              <a:t>5</a:t>
            </a:fld>
            <a:endParaRPr lang="en-US" dirty="0"/>
          </a:p>
        </p:txBody>
      </p:sp>
      <p:sp>
        <p:nvSpPr>
          <p:cNvPr id="4" name="TextBox 3">
            <a:extLst>
              <a:ext uri="{FF2B5EF4-FFF2-40B4-BE49-F238E27FC236}">
                <a16:creationId xmlns:a16="http://schemas.microsoft.com/office/drawing/2014/main" id="{445927CB-11C1-1168-A737-14E19B4C944C}"/>
              </a:ext>
            </a:extLst>
          </p:cNvPr>
          <p:cNvSpPr txBox="1"/>
          <p:nvPr/>
        </p:nvSpPr>
        <p:spPr>
          <a:xfrm>
            <a:off x="2057401" y="787782"/>
            <a:ext cx="7089084" cy="461665"/>
          </a:xfrm>
          <a:prstGeom prst="rect">
            <a:avLst/>
          </a:prstGeom>
          <a:noFill/>
        </p:spPr>
        <p:txBody>
          <a:bodyPr wrap="square">
            <a:spAutoFit/>
          </a:bodyPr>
          <a:lstStyle/>
          <a:p>
            <a:pPr marL="285750" indent="-285750">
              <a:buFont typeface="Wingdings" panose="05000000000000000000" pitchFamily="2" charset="2"/>
              <a:buChar char="Ø"/>
            </a:pPr>
            <a:r>
              <a:rPr lang="en-US" sz="2400" b="1" dirty="0"/>
              <a:t>Branches</a:t>
            </a:r>
          </a:p>
        </p:txBody>
      </p:sp>
      <p:sp>
        <p:nvSpPr>
          <p:cNvPr id="6" name="TextBox 5">
            <a:extLst>
              <a:ext uri="{FF2B5EF4-FFF2-40B4-BE49-F238E27FC236}">
                <a16:creationId xmlns:a16="http://schemas.microsoft.com/office/drawing/2014/main" id="{4D3CCE09-5A4A-3C38-D128-AB8F3A5FF594}"/>
              </a:ext>
            </a:extLst>
          </p:cNvPr>
          <p:cNvSpPr txBox="1"/>
          <p:nvPr/>
        </p:nvSpPr>
        <p:spPr>
          <a:xfrm>
            <a:off x="2196548" y="1480930"/>
            <a:ext cx="8527774" cy="1384995"/>
          </a:xfrm>
          <a:prstGeom prst="rect">
            <a:avLst/>
          </a:prstGeom>
          <a:noFill/>
        </p:spPr>
        <p:txBody>
          <a:bodyPr wrap="square">
            <a:spAutoFit/>
          </a:bodyPr>
          <a:lstStyle/>
          <a:p>
            <a:pPr marL="285750" indent="-285750">
              <a:buFont typeface="Wingdings" panose="05000000000000000000" pitchFamily="2" charset="2"/>
              <a:buChar char="q"/>
            </a:pPr>
            <a:r>
              <a:rPr lang="en-US" sz="2400" b="1" dirty="0"/>
              <a:t> The paths representing possible answers to questions, connecting parent nodes to their children</a:t>
            </a:r>
            <a:r>
              <a:rPr lang="en-US" dirty="0"/>
              <a:t>.</a:t>
            </a:r>
          </a:p>
          <a:p>
            <a:endParaRPr lang="en-US" dirty="0"/>
          </a:p>
          <a:p>
            <a:endParaRPr lang="en-US" dirty="0"/>
          </a:p>
        </p:txBody>
      </p:sp>
      <p:sp>
        <p:nvSpPr>
          <p:cNvPr id="9" name="TextBox 8">
            <a:extLst>
              <a:ext uri="{FF2B5EF4-FFF2-40B4-BE49-F238E27FC236}">
                <a16:creationId xmlns:a16="http://schemas.microsoft.com/office/drawing/2014/main" id="{44D59915-BFB7-27D5-C671-376BDA24EB65}"/>
              </a:ext>
            </a:extLst>
          </p:cNvPr>
          <p:cNvSpPr txBox="1"/>
          <p:nvPr/>
        </p:nvSpPr>
        <p:spPr>
          <a:xfrm>
            <a:off x="2266122" y="2375452"/>
            <a:ext cx="8458200" cy="2677656"/>
          </a:xfrm>
          <a:prstGeom prst="rect">
            <a:avLst/>
          </a:prstGeom>
          <a:noFill/>
        </p:spPr>
        <p:txBody>
          <a:bodyPr wrap="square">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Arial" panose="020B0604020202020204" pitchFamily="34" charset="0"/>
              </a:rPr>
              <a:t>Branches (also called edges) are the connections between nodes.</a:t>
            </a:r>
          </a:p>
          <a:p>
            <a:pPr marR="0" lvl="0" algn="l"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Arial" panose="020B0604020202020204" pitchFamily="34" charset="0"/>
              </a:rPr>
              <a:t>Each branch represents a decision rule or outcome of a feature test.</a:t>
            </a:r>
          </a:p>
          <a:p>
            <a:pPr marR="0" lvl="0" algn="l" defTabSz="914400" rtl="0" eaLnBrk="0" fontAlgn="base" latinLnBrk="0" hangingPunct="0">
              <a:lnSpc>
                <a:spcPct val="100000"/>
              </a:lnSpc>
              <a:spcBef>
                <a:spcPct val="0"/>
              </a:spcBef>
              <a:spcAft>
                <a:spcPct val="0"/>
              </a:spcAft>
              <a:buClrTx/>
              <a:buSzTx/>
              <a:tabLst/>
            </a:pPr>
            <a:endParaRPr kumimoji="0" lang="en-US" altLang="en-US" sz="24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400" b="1" i="0" u="none" strike="noStrike" cap="none" normalizeH="0" baseline="0" dirty="0">
                <a:ln>
                  <a:noFill/>
                </a:ln>
                <a:solidFill>
                  <a:schemeClr val="tx1"/>
                </a:solidFill>
                <a:effectLst/>
                <a:latin typeface="Arial" panose="020B0604020202020204" pitchFamily="34" charset="0"/>
              </a:rPr>
              <a:t>They guide how data flows from the root to a leaf.</a:t>
            </a:r>
          </a:p>
        </p:txBody>
      </p:sp>
      <p:sp>
        <p:nvSpPr>
          <p:cNvPr id="11" name="TextBox 10">
            <a:extLst>
              <a:ext uri="{FF2B5EF4-FFF2-40B4-BE49-F238E27FC236}">
                <a16:creationId xmlns:a16="http://schemas.microsoft.com/office/drawing/2014/main" id="{DC2FAAF8-91C1-6EF9-CCCA-368C7D340707}"/>
              </a:ext>
            </a:extLst>
          </p:cNvPr>
          <p:cNvSpPr txBox="1"/>
          <p:nvPr/>
        </p:nvSpPr>
        <p:spPr>
          <a:xfrm>
            <a:off x="2335695" y="5234462"/>
            <a:ext cx="9680714" cy="1354217"/>
          </a:xfrm>
          <a:prstGeom prst="rect">
            <a:avLst/>
          </a:prstGeom>
          <a:noFill/>
        </p:spPr>
        <p:txBody>
          <a:bodyPr wrap="square">
            <a:spAutoFit/>
          </a:bodyPr>
          <a:lstStyle/>
          <a:p>
            <a:r>
              <a:rPr lang="en-US" sz="2400" b="1" dirty="0"/>
              <a:t>Example:</a:t>
            </a:r>
          </a:p>
          <a:p>
            <a:br>
              <a:rPr lang="en-US" dirty="0"/>
            </a:br>
            <a:r>
              <a:rPr lang="en-US" sz="2000" b="1" dirty="0"/>
              <a:t>If the node tests “Humidity,” one branch may represent “Humidity ≤ 75%” and another “Humidity &gt; 75%.”</a:t>
            </a:r>
          </a:p>
        </p:txBody>
      </p:sp>
    </p:spTree>
    <p:extLst>
      <p:ext uri="{BB962C8B-B14F-4D97-AF65-F5344CB8AC3E}">
        <p14:creationId xmlns:p14="http://schemas.microsoft.com/office/powerpoint/2010/main" val="3182653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37029B-D533-64F1-1D94-9AE3C949934B}"/>
              </a:ext>
            </a:extLst>
          </p:cNvPr>
          <p:cNvSpPr>
            <a:spLocks noGrp="1"/>
          </p:cNvSpPr>
          <p:nvPr>
            <p:ph type="sldNum" sz="quarter" idx="12"/>
          </p:nvPr>
        </p:nvSpPr>
        <p:spPr/>
        <p:txBody>
          <a:bodyPr/>
          <a:lstStyle/>
          <a:p>
            <a:fld id="{6D22F896-40B5-4ADD-8801-0D06FADFA095}" type="slidenum">
              <a:rPr lang="en-US" smtClean="0"/>
              <a:t>6</a:t>
            </a:fld>
            <a:endParaRPr lang="en-US" dirty="0"/>
          </a:p>
        </p:txBody>
      </p:sp>
      <p:sp>
        <p:nvSpPr>
          <p:cNvPr id="4" name="TextBox 3">
            <a:extLst>
              <a:ext uri="{FF2B5EF4-FFF2-40B4-BE49-F238E27FC236}">
                <a16:creationId xmlns:a16="http://schemas.microsoft.com/office/drawing/2014/main" id="{324447BA-13D5-7EA9-64A1-9454930E4968}"/>
              </a:ext>
            </a:extLst>
          </p:cNvPr>
          <p:cNvSpPr txBox="1"/>
          <p:nvPr/>
        </p:nvSpPr>
        <p:spPr>
          <a:xfrm>
            <a:off x="1858618" y="783575"/>
            <a:ext cx="7466771" cy="461665"/>
          </a:xfrm>
          <a:prstGeom prst="rect">
            <a:avLst/>
          </a:prstGeom>
          <a:noFill/>
        </p:spPr>
        <p:txBody>
          <a:bodyPr wrap="square">
            <a:spAutoFit/>
          </a:bodyPr>
          <a:lstStyle/>
          <a:p>
            <a:pPr marL="342900" indent="-342900">
              <a:buFont typeface="Wingdings" panose="05000000000000000000" pitchFamily="2" charset="2"/>
              <a:buChar char="Ø"/>
            </a:pPr>
            <a:r>
              <a:rPr lang="en-US" sz="2400" b="1" dirty="0"/>
              <a:t>Leaf Nodes</a:t>
            </a:r>
          </a:p>
        </p:txBody>
      </p:sp>
      <p:sp>
        <p:nvSpPr>
          <p:cNvPr id="6" name="TextBox 5">
            <a:extLst>
              <a:ext uri="{FF2B5EF4-FFF2-40B4-BE49-F238E27FC236}">
                <a16:creationId xmlns:a16="http://schemas.microsoft.com/office/drawing/2014/main" id="{2A90623D-5274-30D8-66CD-44E0DE66C824}"/>
              </a:ext>
            </a:extLst>
          </p:cNvPr>
          <p:cNvSpPr txBox="1"/>
          <p:nvPr/>
        </p:nvSpPr>
        <p:spPr>
          <a:xfrm>
            <a:off x="2117035" y="1560444"/>
            <a:ext cx="8746435" cy="769441"/>
          </a:xfrm>
          <a:prstGeom prst="rect">
            <a:avLst/>
          </a:prstGeom>
          <a:noFill/>
        </p:spPr>
        <p:txBody>
          <a:bodyPr wrap="square">
            <a:spAutoFit/>
          </a:bodyPr>
          <a:lstStyle/>
          <a:p>
            <a:pPr marL="342900" indent="-342900">
              <a:buFont typeface="Wingdings" panose="05000000000000000000" pitchFamily="2" charset="2"/>
              <a:buChar char="q"/>
            </a:pPr>
            <a:r>
              <a:rPr lang="en-US" sz="2000" b="1" dirty="0"/>
              <a:t>Terminal nodes containing the final decision or prediction outcome. No further splitting occurs here</a:t>
            </a:r>
            <a:r>
              <a:rPr lang="en-US" sz="2400" b="1" dirty="0"/>
              <a:t>.</a:t>
            </a:r>
          </a:p>
        </p:txBody>
      </p:sp>
      <p:sp>
        <p:nvSpPr>
          <p:cNvPr id="8" name="Rectangle 2">
            <a:extLst>
              <a:ext uri="{FF2B5EF4-FFF2-40B4-BE49-F238E27FC236}">
                <a16:creationId xmlns:a16="http://schemas.microsoft.com/office/drawing/2014/main" id="{6EC1681E-C011-F70D-1CE2-F9BC4C267141}"/>
              </a:ext>
            </a:extLst>
          </p:cNvPr>
          <p:cNvSpPr>
            <a:spLocks noChangeArrowheads="1"/>
          </p:cNvSpPr>
          <p:nvPr/>
        </p:nvSpPr>
        <p:spPr bwMode="auto">
          <a:xfrm>
            <a:off x="2117035" y="2273440"/>
            <a:ext cx="8319052"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Arial" panose="020B0604020202020204" pitchFamily="34" charset="0"/>
              </a:rPr>
              <a:t> Leaf nodes are the endpoints of the tree — they do not split further.</a:t>
            </a:r>
          </a:p>
          <a:p>
            <a:pPr marR="0" lvl="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Arial" panose="020B0604020202020204" pitchFamily="34" charset="0"/>
              </a:rPr>
              <a:t>Each leaf node gives the final output or prediction (e.g., a class label or a numeric value).</a:t>
            </a:r>
          </a:p>
          <a:p>
            <a:pPr marR="0" lvl="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Arial" panose="020B0604020202020204" pitchFamily="34" charset="0"/>
              </a:rPr>
              <a:t>In classification: represents a class (e.g., </a:t>
            </a:r>
            <a:r>
              <a:rPr kumimoji="0" lang="en-US" altLang="en-US" sz="2000" b="1" i="1" u="none" strike="noStrike" cap="none" normalizeH="0" baseline="0" dirty="0">
                <a:ln>
                  <a:noFill/>
                </a:ln>
                <a:solidFill>
                  <a:schemeClr val="tx1"/>
                </a:solidFill>
                <a:effectLst/>
                <a:latin typeface="Arial" panose="020B0604020202020204" pitchFamily="34" charset="0"/>
              </a:rPr>
              <a:t>Yes</a:t>
            </a:r>
            <a:r>
              <a:rPr kumimoji="0" lang="en-US" altLang="en-US" sz="2000" b="1" i="0" u="none" strike="noStrike" cap="none" normalizeH="0" baseline="0" dirty="0">
                <a:ln>
                  <a:noFill/>
                </a:ln>
                <a:solidFill>
                  <a:schemeClr val="tx1"/>
                </a:solidFill>
                <a:effectLst/>
                <a:latin typeface="Arial" panose="020B0604020202020204" pitchFamily="34" charset="0"/>
              </a:rPr>
              <a:t> or </a:t>
            </a:r>
            <a:r>
              <a:rPr kumimoji="0" lang="en-US" altLang="en-US" sz="2000" b="1" i="1" u="none" strike="noStrike" cap="none" normalizeH="0" baseline="0" dirty="0">
                <a:ln>
                  <a:noFill/>
                </a:ln>
                <a:solidFill>
                  <a:schemeClr val="tx1"/>
                </a:solidFill>
                <a:effectLst/>
                <a:latin typeface="Arial" panose="020B0604020202020204" pitchFamily="34" charset="0"/>
              </a:rPr>
              <a:t>No</a:t>
            </a:r>
            <a:r>
              <a:rPr kumimoji="0" lang="en-US" altLang="en-US" sz="2000" b="1"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Arial" panose="020B0604020202020204" pitchFamily="34" charset="0"/>
              </a:rPr>
              <a:t>In regression: represents a predicted value (e.g., </a:t>
            </a:r>
            <a:r>
              <a:rPr kumimoji="0" lang="en-US" altLang="en-US" sz="2000" b="1" i="1" u="none" strike="noStrike" cap="none" normalizeH="0" baseline="0" dirty="0">
                <a:ln>
                  <a:noFill/>
                </a:ln>
                <a:solidFill>
                  <a:schemeClr val="tx1"/>
                </a:solidFill>
                <a:effectLst/>
                <a:latin typeface="Arial" panose="020B0604020202020204" pitchFamily="34" charset="0"/>
              </a:rPr>
              <a:t>House price = ₹45 lakh</a:t>
            </a:r>
            <a:r>
              <a:rPr kumimoji="0" lang="en-US" altLang="en-US" sz="2000" b="1" i="0" u="none" strike="noStrike" cap="none" normalizeH="0" baseline="0" dirty="0">
                <a:ln>
                  <a:noFill/>
                </a:ln>
                <a:solidFill>
                  <a:schemeClr val="tx1"/>
                </a:solidFill>
                <a:effectLst/>
                <a:latin typeface="Arial" panose="020B0604020202020204" pitchFamily="34" charset="0"/>
              </a:rPr>
              <a:t>).</a:t>
            </a:r>
          </a:p>
        </p:txBody>
      </p:sp>
      <p:sp>
        <p:nvSpPr>
          <p:cNvPr id="10" name="TextBox 9">
            <a:extLst>
              <a:ext uri="{FF2B5EF4-FFF2-40B4-BE49-F238E27FC236}">
                <a16:creationId xmlns:a16="http://schemas.microsoft.com/office/drawing/2014/main" id="{129A733E-BF12-E8E1-BE6A-0AF4772F5894}"/>
              </a:ext>
            </a:extLst>
          </p:cNvPr>
          <p:cNvSpPr txBox="1"/>
          <p:nvPr/>
        </p:nvSpPr>
        <p:spPr>
          <a:xfrm>
            <a:off x="2117034" y="5526156"/>
            <a:ext cx="9561444" cy="1292662"/>
          </a:xfrm>
          <a:prstGeom prst="rect">
            <a:avLst/>
          </a:prstGeom>
          <a:noFill/>
        </p:spPr>
        <p:txBody>
          <a:bodyPr wrap="square">
            <a:spAutoFit/>
          </a:bodyPr>
          <a:lstStyle/>
          <a:p>
            <a:pPr>
              <a:buNone/>
            </a:pPr>
            <a:r>
              <a:rPr lang="en-US" sz="2000" b="1" dirty="0"/>
              <a:t>Example:</a:t>
            </a:r>
          </a:p>
          <a:p>
            <a:pPr>
              <a:buNone/>
            </a:pPr>
            <a:br>
              <a:rPr lang="en-US" dirty="0"/>
            </a:br>
            <a:r>
              <a:rPr lang="en-US" sz="2000" b="1" dirty="0"/>
              <a:t>If all conditions lead to a subset where all examples belong to “Play = Yes,” then that leaf node predicts “Yes.”</a:t>
            </a:r>
          </a:p>
        </p:txBody>
      </p:sp>
    </p:spTree>
    <p:extLst>
      <p:ext uri="{BB962C8B-B14F-4D97-AF65-F5344CB8AC3E}">
        <p14:creationId xmlns:p14="http://schemas.microsoft.com/office/powerpoint/2010/main" val="2310579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E328B9-6FCD-E6C2-2923-851A303284FC}"/>
              </a:ext>
            </a:extLst>
          </p:cNvPr>
          <p:cNvSpPr>
            <a:spLocks noGrp="1"/>
          </p:cNvSpPr>
          <p:nvPr>
            <p:ph type="sldNum" sz="quarter" idx="12"/>
          </p:nvPr>
        </p:nvSpPr>
        <p:spPr/>
        <p:txBody>
          <a:bodyPr/>
          <a:lstStyle/>
          <a:p>
            <a:fld id="{6D22F896-40B5-4ADD-8801-0D06FADFA095}" type="slidenum">
              <a:rPr lang="en-US" smtClean="0"/>
              <a:t>7</a:t>
            </a:fld>
            <a:endParaRPr lang="en-US" dirty="0"/>
          </a:p>
        </p:txBody>
      </p:sp>
      <p:sp>
        <p:nvSpPr>
          <p:cNvPr id="4" name="TextBox 3">
            <a:extLst>
              <a:ext uri="{FF2B5EF4-FFF2-40B4-BE49-F238E27FC236}">
                <a16:creationId xmlns:a16="http://schemas.microsoft.com/office/drawing/2014/main" id="{93926E9C-52A7-3F4C-DC6A-D49F63364335}"/>
              </a:ext>
            </a:extLst>
          </p:cNvPr>
          <p:cNvSpPr txBox="1"/>
          <p:nvPr/>
        </p:nvSpPr>
        <p:spPr>
          <a:xfrm>
            <a:off x="1639957" y="665922"/>
            <a:ext cx="7476709" cy="523220"/>
          </a:xfrm>
          <a:prstGeom prst="rect">
            <a:avLst/>
          </a:prstGeom>
          <a:noFill/>
        </p:spPr>
        <p:txBody>
          <a:bodyPr wrap="square">
            <a:spAutoFit/>
          </a:bodyPr>
          <a:lstStyle/>
          <a:p>
            <a:pPr>
              <a:buNone/>
            </a:pPr>
            <a:r>
              <a:rPr lang="en-US" sz="2800" b="1" dirty="0"/>
              <a:t>How Does a Decision Tree Work?</a:t>
            </a:r>
          </a:p>
        </p:txBody>
      </p:sp>
      <p:sp>
        <p:nvSpPr>
          <p:cNvPr id="5" name="Arrow: Down 4">
            <a:extLst>
              <a:ext uri="{FF2B5EF4-FFF2-40B4-BE49-F238E27FC236}">
                <a16:creationId xmlns:a16="http://schemas.microsoft.com/office/drawing/2014/main" id="{83EE06CB-A51B-8EB0-B3F2-DB6E70157222}"/>
              </a:ext>
            </a:extLst>
          </p:cNvPr>
          <p:cNvSpPr/>
          <p:nvPr/>
        </p:nvSpPr>
        <p:spPr>
          <a:xfrm>
            <a:off x="1560443" y="1540564"/>
            <a:ext cx="964096" cy="1888435"/>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D2770871-9868-65DC-F3AE-AE64C88F5B0B}"/>
              </a:ext>
            </a:extLst>
          </p:cNvPr>
          <p:cNvSpPr txBox="1"/>
          <p:nvPr/>
        </p:nvSpPr>
        <p:spPr>
          <a:xfrm>
            <a:off x="2524539" y="1540565"/>
            <a:ext cx="3756991" cy="2031325"/>
          </a:xfrm>
          <a:prstGeom prst="rect">
            <a:avLst/>
          </a:prstGeom>
          <a:noFill/>
        </p:spPr>
        <p:txBody>
          <a:bodyPr wrap="square" rtlCol="0">
            <a:spAutoFit/>
          </a:bodyPr>
          <a:lstStyle/>
          <a:p>
            <a:r>
              <a:rPr lang="en-US" b="1" dirty="0"/>
              <a:t>Root Question</a:t>
            </a:r>
          </a:p>
          <a:p>
            <a:r>
              <a:rPr lang="en-US" b="1" dirty="0"/>
              <a:t>Is income &gt; $50,000?</a:t>
            </a:r>
            <a:endParaRPr lang="en-US" dirty="0"/>
          </a:p>
          <a:p>
            <a:r>
              <a:rPr lang="en-US" dirty="0"/>
              <a:t>The algorithm starts by asking the most informative question about the customer's income level.</a:t>
            </a:r>
          </a:p>
          <a:p>
            <a:endParaRPr lang="en-US" dirty="0"/>
          </a:p>
        </p:txBody>
      </p:sp>
      <p:sp>
        <p:nvSpPr>
          <p:cNvPr id="8" name="Arrow: Down 7">
            <a:extLst>
              <a:ext uri="{FF2B5EF4-FFF2-40B4-BE49-F238E27FC236}">
                <a16:creationId xmlns:a16="http://schemas.microsoft.com/office/drawing/2014/main" id="{1C10C69C-64C3-E713-BB73-BCDE522A509F}"/>
              </a:ext>
            </a:extLst>
          </p:cNvPr>
          <p:cNvSpPr/>
          <p:nvPr/>
        </p:nvSpPr>
        <p:spPr>
          <a:xfrm>
            <a:off x="2623930" y="3571890"/>
            <a:ext cx="775253" cy="16660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Down 8">
            <a:extLst>
              <a:ext uri="{FF2B5EF4-FFF2-40B4-BE49-F238E27FC236}">
                <a16:creationId xmlns:a16="http://schemas.microsoft.com/office/drawing/2014/main" id="{AD84A102-40FA-2809-1E29-6F5C542D9E54}"/>
              </a:ext>
            </a:extLst>
          </p:cNvPr>
          <p:cNvSpPr/>
          <p:nvPr/>
        </p:nvSpPr>
        <p:spPr>
          <a:xfrm>
            <a:off x="3578088" y="5237922"/>
            <a:ext cx="675860" cy="156664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9933506-6D93-86A4-6D42-AF536689320B}"/>
              </a:ext>
            </a:extLst>
          </p:cNvPr>
          <p:cNvSpPr txBox="1"/>
          <p:nvPr/>
        </p:nvSpPr>
        <p:spPr>
          <a:xfrm>
            <a:off x="3309730" y="3727174"/>
            <a:ext cx="3756991" cy="1200329"/>
          </a:xfrm>
          <a:prstGeom prst="rect">
            <a:avLst/>
          </a:prstGeom>
          <a:noFill/>
        </p:spPr>
        <p:txBody>
          <a:bodyPr wrap="square">
            <a:spAutoFit/>
          </a:bodyPr>
          <a:lstStyle/>
          <a:p>
            <a:pPr>
              <a:buNone/>
            </a:pPr>
            <a:r>
              <a:rPr lang="en-US" b="1" dirty="0"/>
              <a:t>Branch Decision</a:t>
            </a:r>
          </a:p>
          <a:p>
            <a:pPr>
              <a:buNone/>
            </a:pPr>
            <a:r>
              <a:rPr lang="en-US" dirty="0"/>
              <a:t>If </a:t>
            </a:r>
            <a:r>
              <a:rPr lang="en-US" b="1" dirty="0"/>
              <a:t>No</a:t>
            </a:r>
            <a:r>
              <a:rPr lang="en-US" dirty="0"/>
              <a:t> → Predict "No Purchase"</a:t>
            </a:r>
          </a:p>
          <a:p>
            <a:pPr>
              <a:buNone/>
            </a:pPr>
            <a:r>
              <a:rPr lang="en-US" dirty="0"/>
              <a:t>If </a:t>
            </a:r>
            <a:r>
              <a:rPr lang="en-US" b="1" dirty="0"/>
              <a:t>Yes</a:t>
            </a:r>
            <a:r>
              <a:rPr lang="en-US" dirty="0"/>
              <a:t> → Continue to next question: "Is age &gt; 30?"</a:t>
            </a:r>
          </a:p>
        </p:txBody>
      </p:sp>
      <p:sp>
        <p:nvSpPr>
          <p:cNvPr id="13" name="TextBox 12">
            <a:extLst>
              <a:ext uri="{FF2B5EF4-FFF2-40B4-BE49-F238E27FC236}">
                <a16:creationId xmlns:a16="http://schemas.microsoft.com/office/drawing/2014/main" id="{15FCB545-CA38-E63F-7443-1CF5779E2EB9}"/>
              </a:ext>
            </a:extLst>
          </p:cNvPr>
          <p:cNvSpPr txBox="1"/>
          <p:nvPr/>
        </p:nvSpPr>
        <p:spPr>
          <a:xfrm>
            <a:off x="4253948" y="5237922"/>
            <a:ext cx="4892535" cy="1477328"/>
          </a:xfrm>
          <a:prstGeom prst="rect">
            <a:avLst/>
          </a:prstGeom>
          <a:noFill/>
        </p:spPr>
        <p:txBody>
          <a:bodyPr wrap="square">
            <a:spAutoFit/>
          </a:bodyPr>
          <a:lstStyle/>
          <a:p>
            <a:pPr>
              <a:buNone/>
            </a:pPr>
            <a:r>
              <a:rPr lang="en-US" b="1" dirty="0"/>
              <a:t>Refine Prediction</a:t>
            </a:r>
          </a:p>
          <a:p>
            <a:pPr>
              <a:buNone/>
            </a:pPr>
            <a:r>
              <a:rPr lang="en-US" dirty="0"/>
              <a:t>For customers with age &gt; 30, check: "Any previous purchases?"</a:t>
            </a:r>
          </a:p>
          <a:p>
            <a:pPr>
              <a:buNone/>
            </a:pPr>
            <a:r>
              <a:rPr lang="en-US" b="1" dirty="0"/>
              <a:t>Yes</a:t>
            </a:r>
            <a:r>
              <a:rPr lang="en-US" dirty="0"/>
              <a:t> → Predict "Purchase" | </a:t>
            </a:r>
            <a:r>
              <a:rPr lang="en-US" b="1" dirty="0"/>
              <a:t>No</a:t>
            </a:r>
            <a:r>
              <a:rPr lang="en-US" dirty="0"/>
              <a:t> → Predict "No Purchase"</a:t>
            </a:r>
          </a:p>
        </p:txBody>
      </p:sp>
      <p:pic>
        <p:nvPicPr>
          <p:cNvPr id="15" name="Picture 14">
            <a:extLst>
              <a:ext uri="{FF2B5EF4-FFF2-40B4-BE49-F238E27FC236}">
                <a16:creationId xmlns:a16="http://schemas.microsoft.com/office/drawing/2014/main" id="{447FE928-6637-0AF1-2C1F-4116769365FE}"/>
              </a:ext>
            </a:extLst>
          </p:cNvPr>
          <p:cNvPicPr>
            <a:picLocks noChangeAspect="1"/>
          </p:cNvPicPr>
          <p:nvPr/>
        </p:nvPicPr>
        <p:blipFill>
          <a:blip r:embed="rId2"/>
          <a:stretch>
            <a:fillRect/>
          </a:stretch>
        </p:blipFill>
        <p:spPr>
          <a:xfrm>
            <a:off x="6748670" y="1130577"/>
            <a:ext cx="5268840" cy="2963723"/>
          </a:xfrm>
          <a:prstGeom prst="rect">
            <a:avLst/>
          </a:prstGeom>
        </p:spPr>
      </p:pic>
    </p:spTree>
    <p:extLst>
      <p:ext uri="{BB962C8B-B14F-4D97-AF65-F5344CB8AC3E}">
        <p14:creationId xmlns:p14="http://schemas.microsoft.com/office/powerpoint/2010/main" val="749365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286A34-6513-9BB1-FBCE-5627E1BE364C}"/>
              </a:ext>
            </a:extLst>
          </p:cNvPr>
          <p:cNvSpPr>
            <a:spLocks noGrp="1"/>
          </p:cNvSpPr>
          <p:nvPr>
            <p:ph type="sldNum" sz="quarter" idx="12"/>
          </p:nvPr>
        </p:nvSpPr>
        <p:spPr/>
        <p:txBody>
          <a:bodyPr/>
          <a:lstStyle/>
          <a:p>
            <a:fld id="{6D22F896-40B5-4ADD-8801-0D06FADFA095}" type="slidenum">
              <a:rPr lang="en-US" smtClean="0"/>
              <a:t>8</a:t>
            </a:fld>
            <a:endParaRPr lang="en-US" dirty="0"/>
          </a:p>
        </p:txBody>
      </p:sp>
      <p:sp>
        <p:nvSpPr>
          <p:cNvPr id="4" name="TextBox 3">
            <a:extLst>
              <a:ext uri="{FF2B5EF4-FFF2-40B4-BE49-F238E27FC236}">
                <a16:creationId xmlns:a16="http://schemas.microsoft.com/office/drawing/2014/main" id="{0CB5F498-49A0-2774-AD83-A73FAE7CBC4C}"/>
              </a:ext>
            </a:extLst>
          </p:cNvPr>
          <p:cNvSpPr txBox="1"/>
          <p:nvPr/>
        </p:nvSpPr>
        <p:spPr>
          <a:xfrm>
            <a:off x="1729409" y="715617"/>
            <a:ext cx="7417075" cy="461665"/>
          </a:xfrm>
          <a:prstGeom prst="rect">
            <a:avLst/>
          </a:prstGeom>
          <a:noFill/>
        </p:spPr>
        <p:txBody>
          <a:bodyPr wrap="square">
            <a:spAutoFit/>
          </a:bodyPr>
          <a:lstStyle/>
          <a:p>
            <a:pPr>
              <a:buNone/>
            </a:pPr>
            <a:r>
              <a:rPr lang="en-US" sz="2400" b="1" dirty="0"/>
              <a:t>Key Concepts: Entropy &amp; Information Gain</a:t>
            </a:r>
          </a:p>
        </p:txBody>
      </p:sp>
      <p:sp>
        <p:nvSpPr>
          <p:cNvPr id="6" name="TextBox 5">
            <a:extLst>
              <a:ext uri="{FF2B5EF4-FFF2-40B4-BE49-F238E27FC236}">
                <a16:creationId xmlns:a16="http://schemas.microsoft.com/office/drawing/2014/main" id="{30F2E028-DC9D-F88C-AE86-639BCC30186F}"/>
              </a:ext>
            </a:extLst>
          </p:cNvPr>
          <p:cNvSpPr txBox="1"/>
          <p:nvPr/>
        </p:nvSpPr>
        <p:spPr>
          <a:xfrm>
            <a:off x="1311579" y="1321904"/>
            <a:ext cx="7834905" cy="369332"/>
          </a:xfrm>
          <a:prstGeom prst="rect">
            <a:avLst/>
          </a:prstGeom>
          <a:noFill/>
        </p:spPr>
        <p:txBody>
          <a:bodyPr wrap="square">
            <a:spAutoFit/>
          </a:bodyPr>
          <a:lstStyle/>
          <a:p>
            <a:pPr marL="285750" indent="-285750">
              <a:buFont typeface="Wingdings" panose="05000000000000000000" pitchFamily="2" charset="2"/>
              <a:buChar char="Ø"/>
            </a:pPr>
            <a:r>
              <a:rPr lang="en-US" b="1" dirty="0"/>
              <a:t>Understanding the Math Behind Splits</a:t>
            </a:r>
          </a:p>
        </p:txBody>
      </p:sp>
      <p:sp>
        <p:nvSpPr>
          <p:cNvPr id="8" name="TextBox 7">
            <a:extLst>
              <a:ext uri="{FF2B5EF4-FFF2-40B4-BE49-F238E27FC236}">
                <a16:creationId xmlns:a16="http://schemas.microsoft.com/office/drawing/2014/main" id="{8664BDCC-22C8-0633-7A21-F7ABDF412AE0}"/>
              </a:ext>
            </a:extLst>
          </p:cNvPr>
          <p:cNvSpPr txBox="1"/>
          <p:nvPr/>
        </p:nvSpPr>
        <p:spPr>
          <a:xfrm>
            <a:off x="1113183" y="1835859"/>
            <a:ext cx="8818492" cy="923330"/>
          </a:xfrm>
          <a:prstGeom prst="rect">
            <a:avLst/>
          </a:prstGeom>
          <a:noFill/>
        </p:spPr>
        <p:txBody>
          <a:bodyPr wrap="square">
            <a:spAutoFit/>
          </a:bodyPr>
          <a:lstStyle/>
          <a:p>
            <a:pPr marL="285750" indent="-285750">
              <a:buFont typeface="Wingdings" panose="05000000000000000000" pitchFamily="2" charset="2"/>
              <a:buChar char="q"/>
            </a:pPr>
            <a:r>
              <a:rPr lang="en-US" b="1" dirty="0"/>
              <a:t>Entropy</a:t>
            </a:r>
            <a:r>
              <a:rPr lang="en-US" dirty="0"/>
              <a:t> </a:t>
            </a:r>
            <a:r>
              <a:rPr lang="en-US" i="1" dirty="0"/>
              <a:t>measures the uncertainty or impurity in your data. High entropy means mixed classes; low entropy means pure groups. The formula quantifies disorder in the dataset.</a:t>
            </a:r>
          </a:p>
        </p:txBody>
      </p:sp>
      <p:sp>
        <p:nvSpPr>
          <p:cNvPr id="10" name="TextBox 9">
            <a:extLst>
              <a:ext uri="{FF2B5EF4-FFF2-40B4-BE49-F238E27FC236}">
                <a16:creationId xmlns:a16="http://schemas.microsoft.com/office/drawing/2014/main" id="{6842E7EF-88F0-9EDE-9AB7-34BCB3C78FFD}"/>
              </a:ext>
            </a:extLst>
          </p:cNvPr>
          <p:cNvSpPr txBox="1"/>
          <p:nvPr/>
        </p:nvSpPr>
        <p:spPr>
          <a:xfrm>
            <a:off x="1113183" y="2833805"/>
            <a:ext cx="8488017" cy="923330"/>
          </a:xfrm>
          <a:prstGeom prst="rect">
            <a:avLst/>
          </a:prstGeom>
          <a:noFill/>
        </p:spPr>
        <p:txBody>
          <a:bodyPr wrap="square">
            <a:spAutoFit/>
          </a:bodyPr>
          <a:lstStyle/>
          <a:p>
            <a:pPr marL="285750" indent="-285750">
              <a:buFont typeface="Wingdings" panose="05000000000000000000" pitchFamily="2" charset="2"/>
              <a:buChar char="q"/>
            </a:pPr>
            <a:r>
              <a:rPr lang="en-US" b="1" dirty="0"/>
              <a:t>Information Gain</a:t>
            </a:r>
            <a:r>
              <a:rPr lang="en-US" dirty="0"/>
              <a:t> </a:t>
            </a:r>
            <a:r>
              <a:rPr lang="en-US" i="1" dirty="0"/>
              <a:t>calculates the reduction in entropy after making a split. The feature that provides the highest information gain becomes the splitting criterion.</a:t>
            </a:r>
          </a:p>
        </p:txBody>
      </p:sp>
      <p:sp>
        <p:nvSpPr>
          <p:cNvPr id="12" name="TextBox 11">
            <a:extLst>
              <a:ext uri="{FF2B5EF4-FFF2-40B4-BE49-F238E27FC236}">
                <a16:creationId xmlns:a16="http://schemas.microsoft.com/office/drawing/2014/main" id="{53AA6226-FEBF-A4C3-CF7A-9DA5F0DB84DF}"/>
              </a:ext>
            </a:extLst>
          </p:cNvPr>
          <p:cNvSpPr txBox="1"/>
          <p:nvPr/>
        </p:nvSpPr>
        <p:spPr>
          <a:xfrm>
            <a:off x="1182757" y="4015409"/>
            <a:ext cx="7963728" cy="646331"/>
          </a:xfrm>
          <a:prstGeom prst="rect">
            <a:avLst/>
          </a:prstGeom>
          <a:noFill/>
        </p:spPr>
        <p:txBody>
          <a:bodyPr wrap="square">
            <a:spAutoFit/>
          </a:bodyPr>
          <a:lstStyle/>
          <a:p>
            <a:pPr marL="285750" indent="-285750">
              <a:buFont typeface="Wingdings" panose="05000000000000000000" pitchFamily="2" charset="2"/>
              <a:buChar char="q"/>
            </a:pPr>
            <a:r>
              <a:rPr lang="en-US" dirty="0"/>
              <a:t>When a perfect split is achieved, entropy drops to zero, giving you crystal-clear classification with no ambiguity.</a:t>
            </a:r>
          </a:p>
        </p:txBody>
      </p:sp>
      <p:sp>
        <p:nvSpPr>
          <p:cNvPr id="13" name="Arrow: Chevron 12">
            <a:extLst>
              <a:ext uri="{FF2B5EF4-FFF2-40B4-BE49-F238E27FC236}">
                <a16:creationId xmlns:a16="http://schemas.microsoft.com/office/drawing/2014/main" id="{ED294391-0DBD-F353-C907-BC833DF0154E}"/>
              </a:ext>
            </a:extLst>
          </p:cNvPr>
          <p:cNvSpPr/>
          <p:nvPr/>
        </p:nvSpPr>
        <p:spPr>
          <a:xfrm rot="5400000">
            <a:off x="9124121" y="1331844"/>
            <a:ext cx="1311965" cy="596348"/>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 name="TextBox 14">
            <a:extLst>
              <a:ext uri="{FF2B5EF4-FFF2-40B4-BE49-F238E27FC236}">
                <a16:creationId xmlns:a16="http://schemas.microsoft.com/office/drawing/2014/main" id="{26BDE14F-900A-911C-EAD2-6A29A932EBA2}"/>
              </a:ext>
            </a:extLst>
          </p:cNvPr>
          <p:cNvSpPr txBox="1"/>
          <p:nvPr/>
        </p:nvSpPr>
        <p:spPr>
          <a:xfrm>
            <a:off x="10090701" y="1177281"/>
            <a:ext cx="1895890" cy="369332"/>
          </a:xfrm>
          <a:prstGeom prst="rect">
            <a:avLst/>
          </a:prstGeom>
          <a:noFill/>
        </p:spPr>
        <p:txBody>
          <a:bodyPr wrap="square">
            <a:spAutoFit/>
          </a:bodyPr>
          <a:lstStyle/>
          <a:p>
            <a:pPr>
              <a:buNone/>
            </a:pPr>
            <a:r>
              <a:rPr lang="en-US" b="1" dirty="0"/>
              <a:t>High Entropy</a:t>
            </a:r>
          </a:p>
        </p:txBody>
      </p:sp>
      <p:sp>
        <p:nvSpPr>
          <p:cNvPr id="16" name="Arrow: Chevron 15">
            <a:extLst>
              <a:ext uri="{FF2B5EF4-FFF2-40B4-BE49-F238E27FC236}">
                <a16:creationId xmlns:a16="http://schemas.microsoft.com/office/drawing/2014/main" id="{00F2FD38-4F21-53CC-B9A2-9B312BEE7B37}"/>
              </a:ext>
            </a:extLst>
          </p:cNvPr>
          <p:cNvSpPr/>
          <p:nvPr/>
        </p:nvSpPr>
        <p:spPr>
          <a:xfrm rot="5400000">
            <a:off x="9124121" y="2864198"/>
            <a:ext cx="1311965" cy="596348"/>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Arrow: Chevron 16">
            <a:extLst>
              <a:ext uri="{FF2B5EF4-FFF2-40B4-BE49-F238E27FC236}">
                <a16:creationId xmlns:a16="http://schemas.microsoft.com/office/drawing/2014/main" id="{DE7EF835-990C-0E5E-0FA5-3CB8B4CC54DE}"/>
              </a:ext>
            </a:extLst>
          </p:cNvPr>
          <p:cNvSpPr/>
          <p:nvPr/>
        </p:nvSpPr>
        <p:spPr>
          <a:xfrm rot="5400000">
            <a:off x="9136544" y="4363566"/>
            <a:ext cx="1311965" cy="596348"/>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TextBox 17">
            <a:extLst>
              <a:ext uri="{FF2B5EF4-FFF2-40B4-BE49-F238E27FC236}">
                <a16:creationId xmlns:a16="http://schemas.microsoft.com/office/drawing/2014/main" id="{F5EA5941-8F2C-732C-7689-3C9A7770C20A}"/>
              </a:ext>
            </a:extLst>
          </p:cNvPr>
          <p:cNvSpPr txBox="1"/>
          <p:nvPr/>
        </p:nvSpPr>
        <p:spPr>
          <a:xfrm>
            <a:off x="10078278" y="2572003"/>
            <a:ext cx="2037522" cy="923330"/>
          </a:xfrm>
          <a:prstGeom prst="rect">
            <a:avLst/>
          </a:prstGeom>
          <a:noFill/>
        </p:spPr>
        <p:txBody>
          <a:bodyPr wrap="square" rtlCol="0">
            <a:spAutoFit/>
          </a:bodyPr>
          <a:lstStyle/>
          <a:p>
            <a:r>
              <a:rPr lang="en-US" b="1" dirty="0"/>
              <a:t>Calculate Information Gain</a:t>
            </a:r>
          </a:p>
          <a:p>
            <a:endParaRPr lang="en-US" dirty="0"/>
          </a:p>
        </p:txBody>
      </p:sp>
      <p:sp>
        <p:nvSpPr>
          <p:cNvPr id="19" name="TextBox 18">
            <a:extLst>
              <a:ext uri="{FF2B5EF4-FFF2-40B4-BE49-F238E27FC236}">
                <a16:creationId xmlns:a16="http://schemas.microsoft.com/office/drawing/2014/main" id="{2C39E52F-CDD1-A7E8-B42D-C436D26993CB}"/>
              </a:ext>
            </a:extLst>
          </p:cNvPr>
          <p:cNvSpPr txBox="1"/>
          <p:nvPr/>
        </p:nvSpPr>
        <p:spPr>
          <a:xfrm>
            <a:off x="10078278" y="4328779"/>
            <a:ext cx="2063414" cy="646331"/>
          </a:xfrm>
          <a:prstGeom prst="rect">
            <a:avLst/>
          </a:prstGeom>
          <a:noFill/>
        </p:spPr>
        <p:txBody>
          <a:bodyPr wrap="square" rtlCol="0">
            <a:spAutoFit/>
          </a:bodyPr>
          <a:lstStyle/>
          <a:p>
            <a:r>
              <a:rPr lang="en-US" b="1" dirty="0"/>
              <a:t>Low Entropy</a:t>
            </a:r>
          </a:p>
          <a:p>
            <a:endParaRPr lang="en-US" dirty="0"/>
          </a:p>
        </p:txBody>
      </p:sp>
    </p:spTree>
    <p:extLst>
      <p:ext uri="{BB962C8B-B14F-4D97-AF65-F5344CB8AC3E}">
        <p14:creationId xmlns:p14="http://schemas.microsoft.com/office/powerpoint/2010/main" val="3930478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60F554-E47F-6260-DF9F-37224B947ED0}"/>
              </a:ext>
            </a:extLst>
          </p:cNvPr>
          <p:cNvSpPr>
            <a:spLocks noGrp="1"/>
          </p:cNvSpPr>
          <p:nvPr>
            <p:ph type="sldNum" sz="quarter" idx="12"/>
          </p:nvPr>
        </p:nvSpPr>
        <p:spPr/>
        <p:txBody>
          <a:bodyPr/>
          <a:lstStyle/>
          <a:p>
            <a:fld id="{6D22F896-40B5-4ADD-8801-0D06FADFA095}" type="slidenum">
              <a:rPr lang="en-US" smtClean="0"/>
              <a:t>9</a:t>
            </a:fld>
            <a:endParaRPr lang="en-US" dirty="0"/>
          </a:p>
        </p:txBody>
      </p:sp>
      <p:sp>
        <p:nvSpPr>
          <p:cNvPr id="4" name="TextBox 3">
            <a:extLst>
              <a:ext uri="{FF2B5EF4-FFF2-40B4-BE49-F238E27FC236}">
                <a16:creationId xmlns:a16="http://schemas.microsoft.com/office/drawing/2014/main" id="{88932FB6-C349-9793-556D-42E1F8D9725E}"/>
              </a:ext>
            </a:extLst>
          </p:cNvPr>
          <p:cNvSpPr txBox="1"/>
          <p:nvPr/>
        </p:nvSpPr>
        <p:spPr>
          <a:xfrm>
            <a:off x="1669775" y="787782"/>
            <a:ext cx="7476710" cy="461665"/>
          </a:xfrm>
          <a:prstGeom prst="rect">
            <a:avLst/>
          </a:prstGeom>
          <a:noFill/>
        </p:spPr>
        <p:txBody>
          <a:bodyPr wrap="square">
            <a:spAutoFit/>
          </a:bodyPr>
          <a:lstStyle/>
          <a:p>
            <a:r>
              <a:rPr lang="en-US" sz="2400" b="1" dirty="0"/>
              <a:t>Entropy – Measure of Impurity or Disorder</a:t>
            </a:r>
          </a:p>
        </p:txBody>
      </p:sp>
      <p:sp>
        <p:nvSpPr>
          <p:cNvPr id="5" name="TextBox 4">
            <a:extLst>
              <a:ext uri="{FF2B5EF4-FFF2-40B4-BE49-F238E27FC236}">
                <a16:creationId xmlns:a16="http://schemas.microsoft.com/office/drawing/2014/main" id="{41E60261-FCEB-EB22-ED33-E757320E2B64}"/>
              </a:ext>
            </a:extLst>
          </p:cNvPr>
          <p:cNvSpPr txBox="1"/>
          <p:nvPr/>
        </p:nvSpPr>
        <p:spPr>
          <a:xfrm>
            <a:off x="1818861" y="1480931"/>
            <a:ext cx="8786191" cy="923330"/>
          </a:xfrm>
          <a:prstGeom prst="rect">
            <a:avLst/>
          </a:prstGeom>
          <a:noFill/>
        </p:spPr>
        <p:txBody>
          <a:bodyPr wrap="square">
            <a:spAutoFit/>
          </a:bodyPr>
          <a:lstStyle/>
          <a:p>
            <a:pPr marL="285750" indent="-285750">
              <a:buFont typeface="Wingdings" panose="05000000000000000000" pitchFamily="2" charset="2"/>
              <a:buChar char="q"/>
            </a:pPr>
            <a:r>
              <a:rPr lang="en-US" b="1" dirty="0"/>
              <a:t>Entropy</a:t>
            </a:r>
            <a:r>
              <a:rPr lang="en-US" dirty="0"/>
              <a:t> quantifies </a:t>
            </a:r>
            <a:r>
              <a:rPr lang="en-US" b="1" dirty="0"/>
              <a:t>uncertainty or impurity</a:t>
            </a:r>
            <a:r>
              <a:rPr lang="en-US" dirty="0"/>
              <a:t> in a dataset.</a:t>
            </a:r>
          </a:p>
          <a:p>
            <a:endParaRPr lang="en-US" dirty="0"/>
          </a:p>
          <a:p>
            <a:pPr marL="285750" indent="-285750">
              <a:buFont typeface="Wingdings" panose="05000000000000000000" pitchFamily="2" charset="2"/>
              <a:buChar char="q"/>
            </a:pPr>
            <a:r>
              <a:rPr lang="en-US" dirty="0"/>
              <a:t>It tells us </a:t>
            </a:r>
            <a:r>
              <a:rPr lang="en-US" b="1" dirty="0"/>
              <a:t>how mixed</a:t>
            </a:r>
            <a:r>
              <a:rPr lang="en-US" dirty="0"/>
              <a:t> the data is in terms of class labels.</a:t>
            </a:r>
          </a:p>
        </p:txBody>
      </p:sp>
      <p:sp>
        <p:nvSpPr>
          <p:cNvPr id="7" name="TextBox 6">
            <a:extLst>
              <a:ext uri="{FF2B5EF4-FFF2-40B4-BE49-F238E27FC236}">
                <a16:creationId xmlns:a16="http://schemas.microsoft.com/office/drawing/2014/main" id="{89249DE8-378D-421C-84E2-1FD42D769ECB}"/>
              </a:ext>
            </a:extLst>
          </p:cNvPr>
          <p:cNvSpPr txBox="1"/>
          <p:nvPr/>
        </p:nvSpPr>
        <p:spPr>
          <a:xfrm>
            <a:off x="1818860" y="2556806"/>
            <a:ext cx="9491869" cy="1631216"/>
          </a:xfrm>
          <a:prstGeom prst="rect">
            <a:avLst/>
          </a:prstGeom>
          <a:noFill/>
        </p:spPr>
        <p:txBody>
          <a:bodyPr wrap="square">
            <a:spAutoFit/>
          </a:bodyPr>
          <a:lstStyle/>
          <a:p>
            <a:pPr>
              <a:buNone/>
            </a:pPr>
            <a:r>
              <a:rPr lang="en-US" sz="2400" b="1" dirty="0"/>
              <a:t>Intuition:</a:t>
            </a:r>
          </a:p>
          <a:p>
            <a:pPr marL="342900" indent="-342900">
              <a:buFont typeface="Wingdings" panose="05000000000000000000" pitchFamily="2" charset="2"/>
              <a:buChar char="§"/>
            </a:pPr>
            <a:r>
              <a:rPr lang="en-US" sz="2000" b="1" dirty="0"/>
              <a:t> </a:t>
            </a:r>
            <a:r>
              <a:rPr lang="en-US" sz="2000" dirty="0"/>
              <a:t>If all samples belong to the </a:t>
            </a:r>
            <a:r>
              <a:rPr lang="en-US" sz="2000" b="1" dirty="0"/>
              <a:t>same class</a:t>
            </a:r>
            <a:r>
              <a:rPr lang="en-US" sz="2000" dirty="0"/>
              <a:t>, there’s </a:t>
            </a:r>
            <a:r>
              <a:rPr lang="en-US" sz="2000" b="1" dirty="0"/>
              <a:t>no uncertainty</a:t>
            </a:r>
            <a:r>
              <a:rPr lang="en-US" sz="2000" dirty="0"/>
              <a:t> → </a:t>
            </a:r>
            <a:r>
              <a:rPr lang="en-US" sz="2000" b="1" dirty="0"/>
              <a:t>Entropy = 0</a:t>
            </a:r>
            <a:r>
              <a:rPr lang="en-US" sz="2000" dirty="0"/>
              <a:t>.</a:t>
            </a:r>
          </a:p>
          <a:p>
            <a:pPr marL="285750" indent="-285750">
              <a:buFont typeface="Wingdings" panose="05000000000000000000" pitchFamily="2" charset="2"/>
              <a:buChar char="§"/>
            </a:pPr>
            <a:r>
              <a:rPr lang="en-US" dirty="0"/>
              <a:t>If samples are </a:t>
            </a:r>
            <a:r>
              <a:rPr lang="en-US" b="1" dirty="0"/>
              <a:t>evenly split</a:t>
            </a:r>
            <a:r>
              <a:rPr lang="en-US" dirty="0"/>
              <a:t> among classes, uncertainty is </a:t>
            </a:r>
            <a:r>
              <a:rPr lang="en-US" b="1" dirty="0"/>
              <a:t>maximum</a:t>
            </a:r>
            <a:r>
              <a:rPr lang="en-US" dirty="0"/>
              <a:t> → </a:t>
            </a:r>
            <a:r>
              <a:rPr lang="en-US" b="1" dirty="0"/>
              <a:t>Entropy = 1 (for binary classes)</a:t>
            </a:r>
            <a:r>
              <a:rPr lang="en-US" dirty="0"/>
              <a:t>.</a:t>
            </a: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43FB36D-80EF-AF58-32AE-DF3A4BF04F13}"/>
                  </a:ext>
                </a:extLst>
              </p:cNvPr>
              <p:cNvSpPr txBox="1"/>
              <p:nvPr/>
            </p:nvSpPr>
            <p:spPr>
              <a:xfrm rot="10800000" flipV="1">
                <a:off x="1818860" y="4323523"/>
                <a:ext cx="8895522" cy="2619356"/>
              </a:xfrm>
              <a:prstGeom prst="rect">
                <a:avLst/>
              </a:prstGeom>
              <a:noFill/>
            </p:spPr>
            <p:txBody>
              <a:bodyPr wrap="square">
                <a:spAutoFit/>
              </a:bodyPr>
              <a:lstStyle/>
              <a:p>
                <a:pPr>
                  <a:buNone/>
                </a:pPr>
                <a:r>
                  <a:rPr lang="en-US" b="1" dirty="0"/>
                  <a:t>Formula (for binary classification):</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𝐸𝑛𝑡𝑟𝑜𝑝𝑦</m:t>
                      </m:r>
                      <m:d>
                        <m:dPr>
                          <m:ctrlPr>
                            <a:rPr lang="ar-AE" i="1">
                              <a:latin typeface="Cambria Math" panose="02040503050406030204" pitchFamily="18" charset="0"/>
                            </a:rPr>
                          </m:ctrlPr>
                        </m:dPr>
                        <m:e>
                          <m:r>
                            <a:rPr lang="ar-AE" i="1">
                              <a:latin typeface="Cambria Math" panose="02040503050406030204" pitchFamily="18" charset="0"/>
                            </a:rPr>
                            <m:t>𝑆</m:t>
                          </m:r>
                        </m:e>
                      </m:d>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0">
                              <a:latin typeface="Cambria Math" panose="02040503050406030204" pitchFamily="18" charset="0"/>
                            </a:rPr>
                            <m:t>1</m:t>
                          </m:r>
                        </m:sub>
                      </m:sSub>
                      <m:sSub>
                        <m:sSubPr>
                          <m:ctrlPr>
                            <a:rPr lang="ar-AE" i="1">
                              <a:latin typeface="Cambria Math" panose="02040503050406030204" pitchFamily="18" charset="0"/>
                            </a:rPr>
                          </m:ctrlPr>
                        </m:sSubPr>
                        <m:e>
                          <m:func>
                            <m:funcPr>
                              <m:ctrlPr>
                                <a:rPr lang="ar-AE" i="1">
                                  <a:latin typeface="Cambria Math" panose="02040503050406030204" pitchFamily="18" charset="0"/>
                                </a:rPr>
                              </m:ctrlPr>
                            </m:funcPr>
                            <m:fName>
                              <m:r>
                                <m:rPr>
                                  <m:sty m:val="p"/>
                                </m:rPr>
                                <a:rPr lang="en-US" i="0">
                                  <a:latin typeface="Cambria Math" panose="02040503050406030204" pitchFamily="18" charset="0"/>
                                </a:rPr>
                                <m:t>log</m:t>
                              </m:r>
                            </m:fName>
                            <m:e/>
                          </m:func>
                        </m:e>
                        <m:sub>
                          <m:r>
                            <a:rPr lang="ar-AE" i="0">
                              <a:latin typeface="Cambria Math" panose="02040503050406030204" pitchFamily="18" charset="0"/>
                            </a:rPr>
                            <m:t>2</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0">
                                  <a:latin typeface="Cambria Math" panose="02040503050406030204" pitchFamily="18" charset="0"/>
                                </a:rPr>
                                <m:t>1</m:t>
                              </m:r>
                            </m:sub>
                          </m:sSub>
                        </m:e>
                      </m:d>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0">
                              <a:latin typeface="Cambria Math" panose="02040503050406030204" pitchFamily="18" charset="0"/>
                            </a:rPr>
                            <m:t>2</m:t>
                          </m:r>
                        </m:sub>
                      </m:sSub>
                      <m:sSub>
                        <m:sSubPr>
                          <m:ctrlPr>
                            <a:rPr lang="ar-AE" i="1">
                              <a:latin typeface="Cambria Math" panose="02040503050406030204" pitchFamily="18" charset="0"/>
                            </a:rPr>
                          </m:ctrlPr>
                        </m:sSubPr>
                        <m:e>
                          <m:func>
                            <m:funcPr>
                              <m:ctrlPr>
                                <a:rPr lang="ar-AE" i="1">
                                  <a:latin typeface="Cambria Math" panose="02040503050406030204" pitchFamily="18" charset="0"/>
                                </a:rPr>
                              </m:ctrlPr>
                            </m:funcPr>
                            <m:fName>
                              <m:r>
                                <m:rPr>
                                  <m:sty m:val="p"/>
                                </m:rPr>
                                <a:rPr lang="en-US" i="0">
                                  <a:latin typeface="Cambria Math" panose="02040503050406030204" pitchFamily="18" charset="0"/>
                                </a:rPr>
                                <m:t>log</m:t>
                              </m:r>
                            </m:fName>
                            <m:e/>
                          </m:func>
                        </m:e>
                        <m:sub>
                          <m:r>
                            <a:rPr lang="ar-AE" i="0">
                              <a:latin typeface="Cambria Math" panose="02040503050406030204" pitchFamily="18" charset="0"/>
                            </a:rPr>
                            <m:t>2</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0">
                                  <a:latin typeface="Cambria Math" panose="02040503050406030204" pitchFamily="18" charset="0"/>
                                </a:rPr>
                                <m:t>2</m:t>
                              </m:r>
                            </m:sub>
                          </m:sSub>
                        </m:e>
                      </m:d>
                    </m:oMath>
                  </m:oMathPara>
                </a14:m>
                <a:endParaRPr lang="ar-AE" dirty="0"/>
              </a:p>
              <a:p>
                <a:pPr>
                  <a:buNone/>
                </a:pPr>
                <a:r>
                  <a:rPr lang="en-US" b="1" dirty="0"/>
                  <a:t>where:</a:t>
                </a:r>
              </a:p>
              <a:p>
                <a:pPr marL="285750" indent="-285750">
                  <a:buFont typeface="Wingdings" panose="05000000000000000000" pitchFamily="2" charset="2"/>
                  <a:buChar char="q"/>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0">
                            <a:latin typeface="Cambria Math" panose="02040503050406030204" pitchFamily="18" charset="0"/>
                          </a:rPr>
                          <m:t>1</m:t>
                        </m:r>
                      </m:sub>
                    </m:sSub>
                  </m:oMath>
                </a14:m>
                <a:r>
                  <a:rPr lang="ar-AE" dirty="0"/>
                  <a:t>= </a:t>
                </a:r>
                <a:r>
                  <a:rPr lang="en-US" dirty="0"/>
                  <a:t>proportion of Class 1</a:t>
                </a:r>
              </a:p>
              <a:p>
                <a:pPr marL="285750" indent="-285750">
                  <a:buFont typeface="Wingdings" panose="05000000000000000000" pitchFamily="2" charset="2"/>
                  <a:buChar char="q"/>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0">
                            <a:latin typeface="Cambria Math" panose="02040503050406030204" pitchFamily="18" charset="0"/>
                          </a:rPr>
                          <m:t>2</m:t>
                        </m:r>
                      </m:sub>
                    </m:sSub>
                  </m:oMath>
                </a14:m>
                <a:r>
                  <a:rPr lang="ar-AE" dirty="0"/>
                  <a:t>= </a:t>
                </a:r>
                <a:r>
                  <a:rPr lang="en-US" dirty="0"/>
                  <a:t>proportion of Class 2</a:t>
                </a:r>
              </a:p>
              <a:p>
                <a:pPr>
                  <a:buNone/>
                </a:pPr>
                <a:r>
                  <a:rPr lang="en-US" b="1" dirty="0"/>
                  <a:t>For multiple classes:</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𝐸𝑛𝑡𝑟𝑜𝑝𝑦</m:t>
                      </m:r>
                      <m:d>
                        <m:dPr>
                          <m:ctrlPr>
                            <a:rPr lang="ar-AE" i="1">
                              <a:latin typeface="Cambria Math" panose="02040503050406030204" pitchFamily="18" charset="0"/>
                            </a:rPr>
                          </m:ctrlPr>
                        </m:dPr>
                        <m:e>
                          <m:r>
                            <a:rPr lang="ar-AE" i="1">
                              <a:latin typeface="Cambria Math" panose="02040503050406030204" pitchFamily="18" charset="0"/>
                            </a:rPr>
                            <m:t>𝑆</m:t>
                          </m:r>
                        </m:e>
                      </m:d>
                      <m:r>
                        <a:rPr lang="ar-AE" i="0">
                          <a:latin typeface="Cambria Math" panose="02040503050406030204" pitchFamily="18" charset="0"/>
                        </a:rPr>
                        <m:t>=−</m:t>
                      </m:r>
                      <m:nary>
                        <m:naryPr>
                          <m:chr m:val="∑"/>
                          <m:grow m:val="on"/>
                          <m:ctrlPr>
                            <a:rPr lang="ar-AE" i="1">
                              <a:latin typeface="Cambria Math" panose="02040503050406030204" pitchFamily="18" charset="0"/>
                            </a:rPr>
                          </m:ctrlPr>
                        </m:naryPr>
                        <m:sub>
                          <m:r>
                            <a:rPr lang="ar-AE" i="1">
                              <a:latin typeface="Cambria Math" panose="02040503050406030204" pitchFamily="18" charset="0"/>
                            </a:rPr>
                            <m:t>𝑖</m:t>
                          </m:r>
                          <m:r>
                            <a:rPr lang="ar-AE" i="0">
                              <a:latin typeface="Cambria Math" panose="02040503050406030204" pitchFamily="18" charset="0"/>
                            </a:rPr>
                            <m:t>=</m:t>
                          </m:r>
                          <m:r>
                            <a:rPr lang="ar-AE" i="0">
                              <a:latin typeface="Cambria Math" panose="02040503050406030204" pitchFamily="18" charset="0"/>
                            </a:rPr>
                            <m:t>1</m:t>
                          </m:r>
                        </m:sub>
                        <m:sup>
                          <m:r>
                            <a:rPr lang="ar-AE" i="1">
                              <a:latin typeface="Cambria Math" panose="02040503050406030204" pitchFamily="18" charset="0"/>
                            </a:rPr>
                            <m:t>𝑛</m:t>
                          </m:r>
                        </m:sup>
                        <m:e>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𝑖</m:t>
                              </m:r>
                            </m:sub>
                          </m:sSub>
                        </m:e>
                      </m:nary>
                      <m:sSub>
                        <m:sSubPr>
                          <m:ctrlPr>
                            <a:rPr lang="ar-AE" i="1">
                              <a:latin typeface="Cambria Math" panose="02040503050406030204" pitchFamily="18" charset="0"/>
                            </a:rPr>
                          </m:ctrlPr>
                        </m:sSubPr>
                        <m:e>
                          <m:func>
                            <m:funcPr>
                              <m:ctrlPr>
                                <a:rPr lang="ar-AE" i="1">
                                  <a:latin typeface="Cambria Math" panose="02040503050406030204" pitchFamily="18" charset="0"/>
                                </a:rPr>
                              </m:ctrlPr>
                            </m:funcPr>
                            <m:fName>
                              <m:r>
                                <m:rPr>
                                  <m:sty m:val="p"/>
                                </m:rPr>
                                <a:rPr lang="en-US" i="0">
                                  <a:latin typeface="Cambria Math" panose="02040503050406030204" pitchFamily="18" charset="0"/>
                                </a:rPr>
                                <m:t>log</m:t>
                              </m:r>
                            </m:fName>
                            <m:e/>
                          </m:func>
                        </m:e>
                        <m:sub>
                          <m:r>
                            <a:rPr lang="ar-AE" i="0">
                              <a:latin typeface="Cambria Math" panose="02040503050406030204" pitchFamily="18" charset="0"/>
                            </a:rPr>
                            <m:t>2</m:t>
                          </m:r>
                        </m:sub>
                      </m:sSub>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𝑝</m:t>
                              </m:r>
                            </m:e>
                            <m:sub>
                              <m:r>
                                <a:rPr lang="ar-AE" i="1">
                                  <a:latin typeface="Cambria Math" panose="02040503050406030204" pitchFamily="18" charset="0"/>
                                </a:rPr>
                                <m:t>𝑖</m:t>
                              </m:r>
                            </m:sub>
                          </m:sSub>
                        </m:e>
                      </m:d>
                    </m:oMath>
                  </m:oMathPara>
                </a14:m>
                <a:endParaRPr lang="ar-AE" dirty="0"/>
              </a:p>
            </p:txBody>
          </p:sp>
        </mc:Choice>
        <mc:Fallback xmlns="">
          <p:sp>
            <p:nvSpPr>
              <p:cNvPr id="9" name="TextBox 8">
                <a:extLst>
                  <a:ext uri="{FF2B5EF4-FFF2-40B4-BE49-F238E27FC236}">
                    <a16:creationId xmlns:a16="http://schemas.microsoft.com/office/drawing/2014/main" id="{243FB36D-80EF-AF58-32AE-DF3A4BF04F13}"/>
                  </a:ext>
                </a:extLst>
              </p:cNvPr>
              <p:cNvSpPr txBox="1">
                <a:spLocks noRot="1" noChangeAspect="1" noMove="1" noResize="1" noEditPoints="1" noAdjustHandles="1" noChangeArrowheads="1" noChangeShapeType="1" noTextEdit="1"/>
              </p:cNvSpPr>
              <p:nvPr/>
            </p:nvSpPr>
            <p:spPr>
              <a:xfrm rot="10800000" flipV="1">
                <a:off x="1818860" y="4323523"/>
                <a:ext cx="8895522" cy="2619356"/>
              </a:xfrm>
              <a:prstGeom prst="rect">
                <a:avLst/>
              </a:prstGeom>
              <a:blipFill>
                <a:blip r:embed="rId2"/>
                <a:stretch>
                  <a:fillRect l="-548" t="-1163"/>
                </a:stretch>
              </a:blipFill>
            </p:spPr>
            <p:txBody>
              <a:bodyPr/>
              <a:lstStyle/>
              <a:p>
                <a:r>
                  <a:rPr lang="en-US">
                    <a:noFill/>
                  </a:rPr>
                  <a:t> </a:t>
                </a:r>
              </a:p>
            </p:txBody>
          </p:sp>
        </mc:Fallback>
      </mc:AlternateContent>
    </p:spTree>
    <p:extLst>
      <p:ext uri="{BB962C8B-B14F-4D97-AF65-F5344CB8AC3E}">
        <p14:creationId xmlns:p14="http://schemas.microsoft.com/office/powerpoint/2010/main" val="22486215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77BE20-6294-10B1-BA08-95293EB3C417}"/>
              </a:ext>
            </a:extLst>
          </p:cNvPr>
          <p:cNvSpPr>
            <a:spLocks noGrp="1"/>
          </p:cNvSpPr>
          <p:nvPr>
            <p:ph type="sldNum" sz="quarter" idx="12"/>
          </p:nvPr>
        </p:nvSpPr>
        <p:spPr/>
        <p:txBody>
          <a:bodyPr/>
          <a:lstStyle/>
          <a:p>
            <a:fld id="{6D22F896-40B5-4ADD-8801-0D06FADFA095}" type="slidenum">
              <a:rPr lang="en-US" smtClean="0"/>
              <a:t>10</a:t>
            </a:fld>
            <a:endParaRPr lang="en-US"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A538586-9548-AFD9-B5FE-FDAD4CC4F589}"/>
                  </a:ext>
                </a:extLst>
              </p:cNvPr>
              <p:cNvSpPr txBox="1"/>
              <p:nvPr/>
            </p:nvSpPr>
            <p:spPr>
              <a:xfrm>
                <a:off x="1918251" y="787782"/>
                <a:ext cx="9273209" cy="4830233"/>
              </a:xfrm>
              <a:prstGeom prst="rect">
                <a:avLst/>
              </a:prstGeom>
              <a:noFill/>
            </p:spPr>
            <p:txBody>
              <a:bodyPr wrap="square">
                <a:spAutoFit/>
              </a:bodyPr>
              <a:lstStyle/>
              <a:p>
                <a:pPr>
                  <a:buNone/>
                </a:pPr>
                <a:r>
                  <a:rPr lang="en-US" b="1" dirty="0"/>
                  <a:t>Example:</a:t>
                </a:r>
              </a:p>
              <a:p>
                <a:pPr>
                  <a:buNone/>
                </a:pPr>
                <a:endParaRPr lang="en-US" b="1" dirty="0"/>
              </a:p>
              <a:p>
                <a:pPr>
                  <a:buNone/>
                </a:pPr>
                <a:r>
                  <a:rPr lang="en-US" b="1" dirty="0"/>
                  <a:t>Suppose a dataset has 10 samples:</a:t>
                </a:r>
              </a:p>
              <a:p>
                <a:pPr>
                  <a:buNone/>
                </a:pPr>
                <a:endParaRPr lang="en-US" b="1" dirty="0"/>
              </a:p>
              <a:p>
                <a:pPr marL="285750" indent="-285750">
                  <a:buFont typeface="Wingdings" panose="05000000000000000000" pitchFamily="2" charset="2"/>
                  <a:buChar char="q"/>
                </a:pPr>
                <a:r>
                  <a:rPr lang="en-US" b="1" dirty="0"/>
                  <a:t>6 belong to Class A</a:t>
                </a:r>
              </a:p>
              <a:p>
                <a:endParaRPr lang="en-US" b="1" dirty="0"/>
              </a:p>
              <a:p>
                <a:pPr marL="342900" indent="-342900">
                  <a:buFont typeface="Wingdings" panose="05000000000000000000" pitchFamily="2" charset="2"/>
                  <a:buChar char="q"/>
                </a:pPr>
                <a:r>
                  <a:rPr lang="en-US" b="1" dirty="0"/>
                  <a:t>4 belong to Class B</a:t>
                </a:r>
              </a:p>
              <a:p>
                <a:pPr marL="342900" indent="-342900">
                  <a:buFont typeface="Wingdings" panose="05000000000000000000" pitchFamily="2" charset="2"/>
                  <a:buChar char="q"/>
                </a:pPr>
                <a:endParaRPr lang="en-US" b="1" dirty="0"/>
              </a:p>
              <a:p>
                <a:pPr marL="342900" indent="-342900">
                  <a:buFont typeface="Wingdings" panose="05000000000000000000" pitchFamily="2" charset="2"/>
                  <a:buChar char="q"/>
                </a:pPr>
                <a:endParaRPr lang="en-US" b="1" dirty="0"/>
              </a:p>
              <a:p>
                <a:pPr marL="342900" indent="-342900">
                  <a:buFont typeface="Wingdings" panose="05000000000000000000" pitchFamily="2" charset="2"/>
                  <a:buChar char="q"/>
                </a:pPr>
                <a:endParaRPr lang="en-US" b="1" dirty="0"/>
              </a:p>
              <a:p>
                <a:pPr>
                  <a:buNone/>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𝑬𝒏𝒕𝒓𝒐𝒑𝒚</m:t>
                      </m:r>
                      <m:r>
                        <a:rPr lang="en-US" b="1" i="0">
                          <a:latin typeface="Cambria Math" panose="02040503050406030204" pitchFamily="18" charset="0"/>
                        </a:rPr>
                        <m:t>=−</m:t>
                      </m:r>
                      <m:d>
                        <m:dPr>
                          <m:ctrlPr>
                            <a:rPr lang="ar-AE" b="1" i="1">
                              <a:latin typeface="Cambria Math" panose="02040503050406030204" pitchFamily="18" charset="0"/>
                            </a:rPr>
                          </m:ctrlPr>
                        </m:dPr>
                        <m:e>
                          <m:r>
                            <a:rPr lang="ar-AE" b="1" i="0">
                              <a:latin typeface="Cambria Math" panose="02040503050406030204" pitchFamily="18" charset="0"/>
                            </a:rPr>
                            <m:t>𝟎</m:t>
                          </m:r>
                          <m:r>
                            <a:rPr lang="ar-AE" b="1" i="0">
                              <a:latin typeface="Cambria Math" panose="02040503050406030204" pitchFamily="18" charset="0"/>
                            </a:rPr>
                            <m:t>.</m:t>
                          </m:r>
                          <m:r>
                            <a:rPr lang="ar-AE" b="1" i="0">
                              <a:latin typeface="Cambria Math" panose="02040503050406030204" pitchFamily="18" charset="0"/>
                            </a:rPr>
                            <m:t>𝟔</m:t>
                          </m:r>
                        </m:e>
                      </m:d>
                      <m:sSub>
                        <m:sSubPr>
                          <m:ctrlPr>
                            <a:rPr lang="ar-AE" b="1" i="1">
                              <a:latin typeface="Cambria Math" panose="02040503050406030204" pitchFamily="18" charset="0"/>
                            </a:rPr>
                          </m:ctrlPr>
                        </m:sSubPr>
                        <m:e>
                          <m:func>
                            <m:funcPr>
                              <m:ctrlPr>
                                <a:rPr lang="ar-AE" b="1" i="1">
                                  <a:latin typeface="Cambria Math" panose="02040503050406030204" pitchFamily="18" charset="0"/>
                                </a:rPr>
                              </m:ctrlPr>
                            </m:funcPr>
                            <m:fName>
                              <m:r>
                                <a:rPr lang="en-US" b="1" i="0">
                                  <a:latin typeface="Cambria Math" panose="02040503050406030204" pitchFamily="18" charset="0"/>
                                </a:rPr>
                                <m:t>𝐥𝐨𝐠</m:t>
                              </m:r>
                            </m:fName>
                            <m:e/>
                          </m:func>
                        </m:e>
                        <m:sub>
                          <m:r>
                            <a:rPr lang="ar-AE" b="1" i="0">
                              <a:latin typeface="Cambria Math" panose="02040503050406030204" pitchFamily="18" charset="0"/>
                            </a:rPr>
                            <m:t>𝟐</m:t>
                          </m:r>
                        </m:sub>
                      </m:sSub>
                      <m:d>
                        <m:dPr>
                          <m:ctrlPr>
                            <a:rPr lang="ar-AE" b="1" i="1">
                              <a:latin typeface="Cambria Math" panose="02040503050406030204" pitchFamily="18" charset="0"/>
                            </a:rPr>
                          </m:ctrlPr>
                        </m:dPr>
                        <m:e>
                          <m:r>
                            <a:rPr lang="ar-AE" b="1" i="0">
                              <a:latin typeface="Cambria Math" panose="02040503050406030204" pitchFamily="18" charset="0"/>
                            </a:rPr>
                            <m:t>𝟎</m:t>
                          </m:r>
                          <m:r>
                            <a:rPr lang="ar-AE" b="1" i="0">
                              <a:latin typeface="Cambria Math" panose="02040503050406030204" pitchFamily="18" charset="0"/>
                            </a:rPr>
                            <m:t>.</m:t>
                          </m:r>
                          <m:r>
                            <a:rPr lang="ar-AE" b="1" i="0">
                              <a:latin typeface="Cambria Math" panose="02040503050406030204" pitchFamily="18" charset="0"/>
                            </a:rPr>
                            <m:t>𝟔</m:t>
                          </m:r>
                        </m:e>
                      </m:d>
                      <m:r>
                        <a:rPr lang="ar-AE" b="1" i="0">
                          <a:latin typeface="Cambria Math" panose="02040503050406030204" pitchFamily="18" charset="0"/>
                        </a:rPr>
                        <m:t>−</m:t>
                      </m:r>
                      <m:d>
                        <m:dPr>
                          <m:ctrlPr>
                            <a:rPr lang="ar-AE" b="1" i="1">
                              <a:latin typeface="Cambria Math" panose="02040503050406030204" pitchFamily="18" charset="0"/>
                            </a:rPr>
                          </m:ctrlPr>
                        </m:dPr>
                        <m:e>
                          <m:r>
                            <a:rPr lang="ar-AE" b="1" i="0">
                              <a:latin typeface="Cambria Math" panose="02040503050406030204" pitchFamily="18" charset="0"/>
                            </a:rPr>
                            <m:t>𝟎</m:t>
                          </m:r>
                          <m:r>
                            <a:rPr lang="ar-AE" b="1" i="0">
                              <a:latin typeface="Cambria Math" panose="02040503050406030204" pitchFamily="18" charset="0"/>
                            </a:rPr>
                            <m:t>.</m:t>
                          </m:r>
                          <m:r>
                            <a:rPr lang="ar-AE" b="1" i="0">
                              <a:latin typeface="Cambria Math" panose="02040503050406030204" pitchFamily="18" charset="0"/>
                            </a:rPr>
                            <m:t>𝟒</m:t>
                          </m:r>
                        </m:e>
                      </m:d>
                      <m:sSub>
                        <m:sSubPr>
                          <m:ctrlPr>
                            <a:rPr lang="ar-AE" b="1" i="1">
                              <a:latin typeface="Cambria Math" panose="02040503050406030204" pitchFamily="18" charset="0"/>
                            </a:rPr>
                          </m:ctrlPr>
                        </m:sSubPr>
                        <m:e>
                          <m:func>
                            <m:funcPr>
                              <m:ctrlPr>
                                <a:rPr lang="ar-AE" b="1" i="1">
                                  <a:latin typeface="Cambria Math" panose="02040503050406030204" pitchFamily="18" charset="0"/>
                                </a:rPr>
                              </m:ctrlPr>
                            </m:funcPr>
                            <m:fName>
                              <m:r>
                                <a:rPr lang="en-US" b="1" i="0">
                                  <a:latin typeface="Cambria Math" panose="02040503050406030204" pitchFamily="18" charset="0"/>
                                </a:rPr>
                                <m:t>𝐥𝐨𝐠</m:t>
                              </m:r>
                            </m:fName>
                            <m:e/>
                          </m:func>
                        </m:e>
                        <m:sub>
                          <m:r>
                            <a:rPr lang="ar-AE" b="1" i="0">
                              <a:latin typeface="Cambria Math" panose="02040503050406030204" pitchFamily="18" charset="0"/>
                            </a:rPr>
                            <m:t>𝟐</m:t>
                          </m:r>
                        </m:sub>
                      </m:sSub>
                      <m:d>
                        <m:dPr>
                          <m:ctrlPr>
                            <a:rPr lang="ar-AE" b="1" i="1">
                              <a:latin typeface="Cambria Math" panose="02040503050406030204" pitchFamily="18" charset="0"/>
                            </a:rPr>
                          </m:ctrlPr>
                        </m:dPr>
                        <m:e>
                          <m:r>
                            <a:rPr lang="ar-AE" b="1" i="0">
                              <a:latin typeface="Cambria Math" panose="02040503050406030204" pitchFamily="18" charset="0"/>
                            </a:rPr>
                            <m:t>𝟎</m:t>
                          </m:r>
                          <m:r>
                            <a:rPr lang="ar-AE" b="1" i="0">
                              <a:latin typeface="Cambria Math" panose="02040503050406030204" pitchFamily="18" charset="0"/>
                            </a:rPr>
                            <m:t>.</m:t>
                          </m:r>
                          <m:r>
                            <a:rPr lang="ar-AE" b="1" i="0">
                              <a:latin typeface="Cambria Math" panose="02040503050406030204" pitchFamily="18" charset="0"/>
                            </a:rPr>
                            <m:t>𝟒</m:t>
                          </m:r>
                        </m:e>
                      </m:d>
                    </m:oMath>
                  </m:oMathPara>
                </a14:m>
                <a:endParaRPr lang="ar-AE" b="1" dirty="0"/>
              </a:p>
              <a:p>
                <a:pPr>
                  <a:buNone/>
                </a:pPr>
                <a14:m>
                  <m:oMathPara xmlns:m="http://schemas.openxmlformats.org/officeDocument/2006/math">
                    <m:oMathParaPr>
                      <m:jc m:val="centerGroup"/>
                    </m:oMathParaPr>
                    <m:oMath xmlns:m="http://schemas.openxmlformats.org/officeDocument/2006/math">
                      <m:r>
                        <a:rPr lang="ar-AE" b="1" i="1">
                          <a:latin typeface="Cambria Math" panose="02040503050406030204" pitchFamily="18" charset="0"/>
                        </a:rPr>
                        <m:t>𝑬𝒏𝒕𝒓𝒐𝒑𝒚</m:t>
                      </m:r>
                      <m:r>
                        <a:rPr lang="ar-AE" b="1" i="0">
                          <a:latin typeface="Cambria Math" panose="02040503050406030204" pitchFamily="18" charset="0"/>
                        </a:rPr>
                        <m:t>=</m:t>
                      </m:r>
                      <m:r>
                        <a:rPr lang="ar-AE" b="1" i="0">
                          <a:latin typeface="Cambria Math" panose="02040503050406030204" pitchFamily="18" charset="0"/>
                        </a:rPr>
                        <m:t>𝟎</m:t>
                      </m:r>
                      <m:r>
                        <a:rPr lang="ar-AE" b="1" i="0">
                          <a:latin typeface="Cambria Math" panose="02040503050406030204" pitchFamily="18" charset="0"/>
                        </a:rPr>
                        <m:t>.</m:t>
                      </m:r>
                      <m:r>
                        <a:rPr lang="ar-AE" b="1" i="0">
                          <a:latin typeface="Cambria Math" panose="02040503050406030204" pitchFamily="18" charset="0"/>
                        </a:rPr>
                        <m:t>𝟗𝟕𝟏</m:t>
                      </m:r>
                    </m:oMath>
                  </m:oMathPara>
                </a14:m>
                <a:endParaRPr lang="ar-AE" b="1" dirty="0"/>
              </a:p>
              <a:p>
                <a:pPr>
                  <a:buNone/>
                </a:pPr>
                <a:endParaRPr lang="en-US" dirty="0"/>
              </a:p>
              <a:p>
                <a:pPr>
                  <a:buNone/>
                </a:pPr>
                <a:endParaRPr lang="en-US" dirty="0"/>
              </a:p>
              <a:p>
                <a:pPr>
                  <a:buNone/>
                </a:pPr>
                <a:endParaRPr lang="en-US" dirty="0"/>
              </a:p>
              <a:p>
                <a:pPr>
                  <a:buNone/>
                </a:pPr>
                <a:endParaRPr lang="en-US" dirty="0"/>
              </a:p>
              <a:p>
                <a:pPr>
                  <a:buNone/>
                </a:pPr>
                <a:r>
                  <a:rPr lang="en-US" dirty="0"/>
                  <a:t>The entropy is close to 1, so the dataset is </a:t>
                </a:r>
                <a:r>
                  <a:rPr lang="en-US" b="1" dirty="0"/>
                  <a:t>fairly impure</a:t>
                </a:r>
                <a:r>
                  <a:rPr lang="en-US" dirty="0"/>
                  <a:t>.</a:t>
                </a:r>
              </a:p>
            </p:txBody>
          </p:sp>
        </mc:Choice>
        <mc:Fallback xmlns="">
          <p:sp>
            <p:nvSpPr>
              <p:cNvPr id="4" name="TextBox 3">
                <a:extLst>
                  <a:ext uri="{FF2B5EF4-FFF2-40B4-BE49-F238E27FC236}">
                    <a16:creationId xmlns:a16="http://schemas.microsoft.com/office/drawing/2014/main" id="{7A538586-9548-AFD9-B5FE-FDAD4CC4F589}"/>
                  </a:ext>
                </a:extLst>
              </p:cNvPr>
              <p:cNvSpPr txBox="1">
                <a:spLocks noRot="1" noChangeAspect="1" noMove="1" noResize="1" noEditPoints="1" noAdjustHandles="1" noChangeArrowheads="1" noChangeShapeType="1" noTextEdit="1"/>
              </p:cNvSpPr>
              <p:nvPr/>
            </p:nvSpPr>
            <p:spPr>
              <a:xfrm>
                <a:off x="1918251" y="787782"/>
                <a:ext cx="9273209" cy="4830233"/>
              </a:xfrm>
              <a:prstGeom prst="rect">
                <a:avLst/>
              </a:prstGeom>
              <a:blipFill>
                <a:blip r:embed="rId2"/>
                <a:stretch>
                  <a:fillRect l="-592" t="-631" b="-883"/>
                </a:stretch>
              </a:blipFill>
            </p:spPr>
            <p:txBody>
              <a:bodyPr/>
              <a:lstStyle/>
              <a:p>
                <a:r>
                  <a:rPr lang="en-US">
                    <a:noFill/>
                  </a:rPr>
                  <a:t> </a:t>
                </a:r>
              </a:p>
            </p:txBody>
          </p:sp>
        </mc:Fallback>
      </mc:AlternateContent>
    </p:spTree>
    <p:extLst>
      <p:ext uri="{BB962C8B-B14F-4D97-AF65-F5344CB8AC3E}">
        <p14:creationId xmlns:p14="http://schemas.microsoft.com/office/powerpoint/2010/main" val="17119800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0A8639-6CA6-5574-4E9D-41D9E4C4AD66}"/>
              </a:ext>
            </a:extLst>
          </p:cNvPr>
          <p:cNvSpPr>
            <a:spLocks noGrp="1"/>
          </p:cNvSpPr>
          <p:nvPr>
            <p:ph type="sldNum" sz="quarter" idx="12"/>
          </p:nvPr>
        </p:nvSpPr>
        <p:spPr/>
        <p:txBody>
          <a:bodyPr/>
          <a:lstStyle/>
          <a:p>
            <a:fld id="{6D22F896-40B5-4ADD-8801-0D06FADFA095}" type="slidenum">
              <a:rPr lang="en-US" smtClean="0"/>
              <a:t>11</a:t>
            </a:fld>
            <a:endParaRPr lang="en-US" dirty="0"/>
          </a:p>
        </p:txBody>
      </p:sp>
      <p:sp>
        <p:nvSpPr>
          <p:cNvPr id="4" name="TextBox 3">
            <a:extLst>
              <a:ext uri="{FF2B5EF4-FFF2-40B4-BE49-F238E27FC236}">
                <a16:creationId xmlns:a16="http://schemas.microsoft.com/office/drawing/2014/main" id="{B613501D-4402-30FA-247A-691D5873D6DD}"/>
              </a:ext>
            </a:extLst>
          </p:cNvPr>
          <p:cNvSpPr txBox="1"/>
          <p:nvPr/>
        </p:nvSpPr>
        <p:spPr>
          <a:xfrm>
            <a:off x="1898374" y="787782"/>
            <a:ext cx="7248110" cy="400110"/>
          </a:xfrm>
          <a:prstGeom prst="rect">
            <a:avLst/>
          </a:prstGeom>
          <a:noFill/>
        </p:spPr>
        <p:txBody>
          <a:bodyPr wrap="square">
            <a:spAutoFit/>
          </a:bodyPr>
          <a:lstStyle/>
          <a:p>
            <a:r>
              <a:rPr lang="en-US" sz="2000" b="1" dirty="0"/>
              <a:t>Information Gain – Reduction in Entropy</a:t>
            </a:r>
          </a:p>
        </p:txBody>
      </p:sp>
      <p:sp>
        <p:nvSpPr>
          <p:cNvPr id="6" name="TextBox 5">
            <a:extLst>
              <a:ext uri="{FF2B5EF4-FFF2-40B4-BE49-F238E27FC236}">
                <a16:creationId xmlns:a16="http://schemas.microsoft.com/office/drawing/2014/main" id="{A4F95EAD-49E8-2C5B-8EB4-1B2CBE41DC13}"/>
              </a:ext>
            </a:extLst>
          </p:cNvPr>
          <p:cNvSpPr txBox="1"/>
          <p:nvPr/>
        </p:nvSpPr>
        <p:spPr>
          <a:xfrm>
            <a:off x="1855304" y="1461052"/>
            <a:ext cx="10336696" cy="1477328"/>
          </a:xfrm>
          <a:prstGeom prst="rect">
            <a:avLst/>
          </a:prstGeom>
          <a:noFill/>
        </p:spPr>
        <p:txBody>
          <a:bodyPr wrap="square">
            <a:spAutoFit/>
          </a:bodyPr>
          <a:lstStyle/>
          <a:p>
            <a:pPr marL="285750" indent="-285750">
              <a:buFont typeface="Wingdings" panose="05000000000000000000" pitchFamily="2" charset="2"/>
              <a:buChar char="q"/>
            </a:pPr>
            <a:r>
              <a:rPr lang="en-US" b="1" dirty="0"/>
              <a:t>Information Gain (IG)</a:t>
            </a:r>
            <a:r>
              <a:rPr lang="en-US" dirty="0"/>
              <a:t> tells us </a:t>
            </a:r>
            <a:r>
              <a:rPr lang="en-US" b="1" dirty="0"/>
              <a:t>how much “information” a feature gives us</a:t>
            </a:r>
            <a:r>
              <a:rPr lang="en-US" dirty="0"/>
              <a:t> about the class labels.</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r>
              <a:rPr lang="en-US" dirty="0"/>
              <a:t>In other words, it measures </a:t>
            </a:r>
            <a:r>
              <a:rPr lang="en-US" b="1" dirty="0"/>
              <a:t>how much uncertainty decreases</a:t>
            </a:r>
            <a:r>
              <a:rPr lang="en-US" dirty="0"/>
              <a:t> when we split the data based on a feature.</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5719A2B-F522-DE8D-4864-9DA633E7F056}"/>
                  </a:ext>
                </a:extLst>
              </p:cNvPr>
              <p:cNvSpPr txBox="1"/>
              <p:nvPr/>
            </p:nvSpPr>
            <p:spPr>
              <a:xfrm>
                <a:off x="1898373" y="3110947"/>
                <a:ext cx="9680713" cy="3235758"/>
              </a:xfrm>
              <a:prstGeom prst="rect">
                <a:avLst/>
              </a:prstGeom>
              <a:noFill/>
            </p:spPr>
            <p:txBody>
              <a:bodyPr wrap="square">
                <a:spAutoFit/>
              </a:bodyPr>
              <a:lstStyle/>
              <a:p>
                <a:pPr>
                  <a:buNone/>
                </a:pPr>
                <a:r>
                  <a:rPr lang="en-US" b="1" dirty="0"/>
                  <a:t>Formula:</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𝐼𝑛𝑓𝑜𝑟𝑚𝑎𝑡𝑖𝑜𝑛𝐺𝑎𝑖𝑛</m:t>
                      </m:r>
                      <m:d>
                        <m:dPr>
                          <m:sepChr m:val=","/>
                          <m:ctrlPr>
                            <a:rPr lang="ar-AE" i="1">
                              <a:latin typeface="Cambria Math" panose="02040503050406030204" pitchFamily="18" charset="0"/>
                            </a:rPr>
                          </m:ctrlPr>
                        </m:dPr>
                        <m:e>
                          <m:r>
                            <a:rPr lang="ar-AE" i="1">
                              <a:latin typeface="Cambria Math" panose="02040503050406030204" pitchFamily="18" charset="0"/>
                            </a:rPr>
                            <m:t>𝑆</m:t>
                          </m:r>
                        </m:e>
                        <m:e>
                          <m:r>
                            <a:rPr lang="ar-AE" i="1">
                              <a:latin typeface="Cambria Math" panose="02040503050406030204" pitchFamily="18" charset="0"/>
                            </a:rPr>
                            <m:t>𝐴</m:t>
                          </m:r>
                        </m:e>
                      </m:d>
                      <m:r>
                        <a:rPr lang="ar-AE" i="0">
                          <a:latin typeface="Cambria Math" panose="02040503050406030204" pitchFamily="18" charset="0"/>
                        </a:rPr>
                        <m:t>=</m:t>
                      </m:r>
                      <m:r>
                        <a:rPr lang="ar-AE" i="1">
                          <a:latin typeface="Cambria Math" panose="02040503050406030204" pitchFamily="18" charset="0"/>
                        </a:rPr>
                        <m:t>𝐸𝑛𝑡𝑟𝑜𝑝𝑦</m:t>
                      </m:r>
                      <m:d>
                        <m:dPr>
                          <m:ctrlPr>
                            <a:rPr lang="ar-AE" i="1">
                              <a:latin typeface="Cambria Math" panose="02040503050406030204" pitchFamily="18" charset="0"/>
                            </a:rPr>
                          </m:ctrlPr>
                        </m:dPr>
                        <m:e>
                          <m:r>
                            <a:rPr lang="ar-AE" i="1">
                              <a:latin typeface="Cambria Math" panose="02040503050406030204" pitchFamily="18" charset="0"/>
                            </a:rPr>
                            <m:t>𝑆</m:t>
                          </m:r>
                        </m:e>
                      </m:d>
                      <m:r>
                        <a:rPr lang="ar-AE" i="0">
                          <a:latin typeface="Cambria Math" panose="02040503050406030204" pitchFamily="18" charset="0"/>
                        </a:rPr>
                        <m:t>−</m:t>
                      </m:r>
                      <m:nary>
                        <m:naryPr>
                          <m:chr m:val="∑"/>
                          <m:grow m:val="on"/>
                          <m:supHide m:val="on"/>
                          <m:ctrlPr>
                            <a:rPr lang="ar-AE" i="1">
                              <a:latin typeface="Cambria Math" panose="02040503050406030204" pitchFamily="18" charset="0"/>
                            </a:rPr>
                          </m:ctrlPr>
                        </m:naryPr>
                        <m:sub>
                          <m:r>
                            <a:rPr lang="ar-AE" i="1">
                              <a:latin typeface="Cambria Math" panose="02040503050406030204" pitchFamily="18" charset="0"/>
                            </a:rPr>
                            <m:t>𝑣</m:t>
                          </m:r>
                          <m:r>
                            <a:rPr lang="ar-AE" i="0">
                              <a:latin typeface="Cambria Math" panose="02040503050406030204" pitchFamily="18" charset="0"/>
                            </a:rPr>
                            <m:t>∈</m:t>
                          </m:r>
                          <m:r>
                            <a:rPr lang="ar-AE" i="1">
                              <a:latin typeface="Cambria Math" panose="02040503050406030204" pitchFamily="18" charset="0"/>
                            </a:rPr>
                            <m:t>𝑉𝑎𝑙𝑢𝑒𝑠</m:t>
                          </m:r>
                          <m:d>
                            <m:dPr>
                              <m:ctrlPr>
                                <a:rPr lang="ar-AE" i="1">
                                  <a:latin typeface="Cambria Math" panose="02040503050406030204" pitchFamily="18" charset="0"/>
                                </a:rPr>
                              </m:ctrlPr>
                            </m:dPr>
                            <m:e>
                              <m:r>
                                <a:rPr lang="ar-AE" i="1">
                                  <a:latin typeface="Cambria Math" panose="02040503050406030204" pitchFamily="18" charset="0"/>
                                </a:rPr>
                                <m:t>𝐴</m:t>
                              </m:r>
                            </m:e>
                          </m:d>
                        </m:sub>
                        <m:sup/>
                        <m:e>
                          <m:f>
                            <m:fPr>
                              <m:ctrlPr>
                                <a:rPr lang="ar-AE" i="1">
                                  <a:latin typeface="Cambria Math" panose="02040503050406030204" pitchFamily="18" charset="0"/>
                                </a:rPr>
                              </m:ctrlPr>
                            </m:fPr>
                            <m:num>
                              <m:r>
                                <a:rPr lang="ar-AE" i="0">
                                  <a:latin typeface="Cambria Math" panose="02040503050406030204" pitchFamily="18" charset="0"/>
                                </a:rPr>
                                <m:t>∣</m:t>
                              </m:r>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𝑣</m:t>
                                  </m:r>
                                </m:sub>
                              </m:sSub>
                              <m:r>
                                <a:rPr lang="ar-AE" i="0">
                                  <a:latin typeface="Cambria Math" panose="02040503050406030204" pitchFamily="18" charset="0"/>
                                </a:rPr>
                                <m:t>∣</m:t>
                              </m:r>
                            </m:num>
                            <m:den>
                              <m:r>
                                <a:rPr lang="ar-AE" i="0">
                                  <a:latin typeface="Cambria Math" panose="02040503050406030204" pitchFamily="18" charset="0"/>
                                </a:rPr>
                                <m:t>∣</m:t>
                              </m:r>
                              <m:r>
                                <a:rPr lang="ar-AE" i="1">
                                  <a:latin typeface="Cambria Math" panose="02040503050406030204" pitchFamily="18" charset="0"/>
                                </a:rPr>
                                <m:t>𝑆</m:t>
                              </m:r>
                              <m:r>
                                <a:rPr lang="ar-AE" i="0">
                                  <a:latin typeface="Cambria Math" panose="02040503050406030204" pitchFamily="18" charset="0"/>
                                </a:rPr>
                                <m:t>∣</m:t>
                              </m:r>
                            </m:den>
                          </m:f>
                        </m:e>
                      </m:nary>
                      <m:r>
                        <a:rPr lang="ar-AE" i="0">
                          <a:latin typeface="Cambria Math" panose="02040503050406030204" pitchFamily="18" charset="0"/>
                        </a:rPr>
                        <m:t>×</m:t>
                      </m:r>
                      <m:r>
                        <a:rPr lang="ar-AE" i="1">
                          <a:latin typeface="Cambria Math" panose="02040503050406030204" pitchFamily="18" charset="0"/>
                        </a:rPr>
                        <m:t>𝐸𝑛𝑡𝑟𝑜𝑝𝑦</m:t>
                      </m:r>
                      <m:d>
                        <m:dPr>
                          <m:ctrlPr>
                            <a:rPr lang="ar-AE" i="1">
                              <a:latin typeface="Cambria Math" panose="02040503050406030204" pitchFamily="18" charset="0"/>
                            </a:rPr>
                          </m:ctrlPr>
                        </m:dPr>
                        <m:e>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𝑣</m:t>
                              </m:r>
                            </m:sub>
                          </m:sSub>
                        </m:e>
                      </m:d>
                    </m:oMath>
                  </m:oMathPara>
                </a14:m>
                <a:endParaRPr lang="ar-AE" dirty="0"/>
              </a:p>
              <a:p>
                <a:pPr>
                  <a:buNone/>
                </a:pPr>
                <a:r>
                  <a:rPr lang="en-US" b="1" dirty="0"/>
                  <a:t>where:</a:t>
                </a:r>
              </a:p>
              <a:p>
                <a:pPr>
                  <a:buNone/>
                </a:pPr>
                <a:endParaRPr lang="en-US" b="1" dirty="0"/>
              </a:p>
              <a:p>
                <a:pPr marL="285750" indent="-285750">
                  <a:buFont typeface="Wingdings" panose="05000000000000000000" pitchFamily="2" charset="2"/>
                  <a:buChar char="q"/>
                </a:pPr>
                <a14:m>
                  <m:oMath xmlns:m="http://schemas.openxmlformats.org/officeDocument/2006/math">
                    <m:r>
                      <a:rPr lang="en-US" i="1">
                        <a:latin typeface="Cambria Math" panose="02040503050406030204" pitchFamily="18" charset="0"/>
                      </a:rPr>
                      <m:t>𝑆</m:t>
                    </m:r>
                  </m:oMath>
                </a14:m>
                <a:r>
                  <a:rPr lang="en-US" dirty="0"/>
                  <a:t>= parent dataset</a:t>
                </a:r>
              </a:p>
              <a:p>
                <a:pPr marL="285750" indent="-285750">
                  <a:buFont typeface="Wingdings" panose="05000000000000000000" pitchFamily="2" charset="2"/>
                  <a:buChar char="q"/>
                </a:pPr>
                <a:endParaRPr lang="en-US" dirty="0"/>
              </a:p>
              <a:p>
                <a:pPr marL="285750" indent="-285750">
                  <a:buFont typeface="Wingdings" panose="05000000000000000000" pitchFamily="2" charset="2"/>
                  <a:buChar char="q"/>
                </a:pPr>
                <a14:m>
                  <m:oMath xmlns:m="http://schemas.openxmlformats.org/officeDocument/2006/math">
                    <m:r>
                      <a:rPr lang="en-US" i="1">
                        <a:latin typeface="Cambria Math" panose="02040503050406030204" pitchFamily="18" charset="0"/>
                      </a:rPr>
                      <m:t>𝐴</m:t>
                    </m:r>
                  </m:oMath>
                </a14:m>
                <a:r>
                  <a:rPr lang="en-US" dirty="0"/>
                  <a:t>= attribute (feature)</a:t>
                </a:r>
              </a:p>
              <a:p>
                <a:endParaRPr lang="en-US" dirty="0"/>
              </a:p>
              <a:p>
                <a:pPr marL="285750" indent="-285750">
                  <a:buFont typeface="Wingdings" panose="05000000000000000000" pitchFamily="2" charset="2"/>
                  <a:buChar char="q"/>
                </a:pPr>
                <a14:m>
                  <m:oMath xmlns:m="http://schemas.openxmlformats.org/officeDocument/2006/math">
                    <m:sSub>
                      <m:sSubPr>
                        <m:ctrlPr>
                          <a:rPr lang="ar-AE" i="1">
                            <a:latin typeface="Cambria Math" panose="02040503050406030204" pitchFamily="18" charset="0"/>
                          </a:rPr>
                        </m:ctrlPr>
                      </m:sSubPr>
                      <m:e>
                        <m:r>
                          <a:rPr lang="ar-AE" i="1">
                            <a:latin typeface="Cambria Math" panose="02040503050406030204" pitchFamily="18" charset="0"/>
                          </a:rPr>
                          <m:t>𝑆</m:t>
                        </m:r>
                      </m:e>
                      <m:sub>
                        <m:r>
                          <a:rPr lang="ar-AE" i="1">
                            <a:latin typeface="Cambria Math" panose="02040503050406030204" pitchFamily="18" charset="0"/>
                          </a:rPr>
                          <m:t>𝑣</m:t>
                        </m:r>
                      </m:sub>
                    </m:sSub>
                  </m:oMath>
                </a14:m>
                <a:r>
                  <a:rPr lang="ar-AE" dirty="0"/>
                  <a:t>= </a:t>
                </a:r>
                <a:r>
                  <a:rPr lang="en-US" dirty="0"/>
                  <a:t>subset of </a:t>
                </a:r>
                <a14:m>
                  <m:oMath xmlns:m="http://schemas.openxmlformats.org/officeDocument/2006/math">
                    <m:r>
                      <a:rPr lang="en-US" i="1">
                        <a:latin typeface="Cambria Math" panose="02040503050406030204" pitchFamily="18" charset="0"/>
                      </a:rPr>
                      <m:t>𝑆</m:t>
                    </m:r>
                  </m:oMath>
                </a14:m>
                <a:r>
                  <a:rPr lang="en-US" dirty="0"/>
                  <a:t>for which attribute </a:t>
                </a:r>
                <a14:m>
                  <m:oMath xmlns:m="http://schemas.openxmlformats.org/officeDocument/2006/math">
                    <m:r>
                      <a:rPr lang="en-US" i="1">
                        <a:latin typeface="Cambria Math" panose="02040503050406030204" pitchFamily="18" charset="0"/>
                      </a:rPr>
                      <m:t>𝐴</m:t>
                    </m:r>
                  </m:oMath>
                </a14:m>
                <a:r>
                  <a:rPr lang="en-US" dirty="0"/>
                  <a:t>has value </a:t>
                </a:r>
                <a14:m>
                  <m:oMath xmlns:m="http://schemas.openxmlformats.org/officeDocument/2006/math">
                    <m:r>
                      <a:rPr lang="en-US" i="1">
                        <a:latin typeface="Cambria Math" panose="02040503050406030204" pitchFamily="18" charset="0"/>
                      </a:rPr>
                      <m:t>𝑣</m:t>
                    </m:r>
                  </m:oMath>
                </a14:m>
                <a:endParaRPr lang="en-US" dirty="0"/>
              </a:p>
            </p:txBody>
          </p:sp>
        </mc:Choice>
        <mc:Fallback xmlns="">
          <p:sp>
            <p:nvSpPr>
              <p:cNvPr id="8" name="TextBox 7">
                <a:extLst>
                  <a:ext uri="{FF2B5EF4-FFF2-40B4-BE49-F238E27FC236}">
                    <a16:creationId xmlns:a16="http://schemas.microsoft.com/office/drawing/2014/main" id="{55719A2B-F522-DE8D-4864-9DA633E7F056}"/>
                  </a:ext>
                </a:extLst>
              </p:cNvPr>
              <p:cNvSpPr txBox="1">
                <a:spLocks noRot="1" noChangeAspect="1" noMove="1" noResize="1" noEditPoints="1" noAdjustHandles="1" noChangeArrowheads="1" noChangeShapeType="1" noTextEdit="1"/>
              </p:cNvSpPr>
              <p:nvPr/>
            </p:nvSpPr>
            <p:spPr>
              <a:xfrm>
                <a:off x="1898373" y="3110947"/>
                <a:ext cx="9680713" cy="3235758"/>
              </a:xfrm>
              <a:prstGeom prst="rect">
                <a:avLst/>
              </a:prstGeom>
              <a:blipFill>
                <a:blip r:embed="rId2"/>
                <a:stretch>
                  <a:fillRect l="-504" t="-942" b="-1883"/>
                </a:stretch>
              </a:blipFill>
            </p:spPr>
            <p:txBody>
              <a:bodyPr/>
              <a:lstStyle/>
              <a:p>
                <a:r>
                  <a:rPr lang="en-US">
                    <a:noFill/>
                  </a:rPr>
                  <a:t> </a:t>
                </a:r>
              </a:p>
            </p:txBody>
          </p:sp>
        </mc:Fallback>
      </mc:AlternateContent>
    </p:spTree>
    <p:extLst>
      <p:ext uri="{BB962C8B-B14F-4D97-AF65-F5344CB8AC3E}">
        <p14:creationId xmlns:p14="http://schemas.microsoft.com/office/powerpoint/2010/main" val="26116170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F04D783-BD9A-0F54-76E5-68F1CBF91B02}"/>
              </a:ext>
            </a:extLst>
          </p:cNvPr>
          <p:cNvSpPr>
            <a:spLocks noGrp="1"/>
          </p:cNvSpPr>
          <p:nvPr>
            <p:ph type="sldNum" sz="quarter" idx="12"/>
          </p:nvPr>
        </p:nvSpPr>
        <p:spPr/>
        <p:txBody>
          <a:bodyPr/>
          <a:lstStyle/>
          <a:p>
            <a:fld id="{6D22F896-40B5-4ADD-8801-0D06FADFA095}" type="slidenum">
              <a:rPr lang="en-US" smtClean="0"/>
              <a:t>12</a:t>
            </a:fld>
            <a:endParaRPr lang="en-US" dirty="0"/>
          </a:p>
        </p:txBody>
      </p:sp>
      <p:sp>
        <p:nvSpPr>
          <p:cNvPr id="4" name="TextBox 3">
            <a:extLst>
              <a:ext uri="{FF2B5EF4-FFF2-40B4-BE49-F238E27FC236}">
                <a16:creationId xmlns:a16="http://schemas.microsoft.com/office/drawing/2014/main" id="{F9C191E9-1241-E1B1-C930-67E16DA23F2A}"/>
              </a:ext>
            </a:extLst>
          </p:cNvPr>
          <p:cNvSpPr txBox="1"/>
          <p:nvPr/>
        </p:nvSpPr>
        <p:spPr>
          <a:xfrm>
            <a:off x="1779105" y="787782"/>
            <a:ext cx="9780104" cy="1754326"/>
          </a:xfrm>
          <a:prstGeom prst="rect">
            <a:avLst/>
          </a:prstGeom>
          <a:noFill/>
        </p:spPr>
        <p:txBody>
          <a:bodyPr wrap="square">
            <a:spAutoFit/>
          </a:bodyPr>
          <a:lstStyle/>
          <a:p>
            <a:pPr>
              <a:buNone/>
            </a:pPr>
            <a:r>
              <a:rPr lang="en-US" b="1" dirty="0"/>
              <a:t>Intuition:</a:t>
            </a:r>
          </a:p>
          <a:p>
            <a:pPr>
              <a:buNone/>
            </a:pPr>
            <a:endParaRPr lang="en-US" b="1" dirty="0"/>
          </a:p>
          <a:p>
            <a:pPr marL="285750" indent="-285750">
              <a:buFont typeface="Wingdings" panose="05000000000000000000" pitchFamily="2" charset="2"/>
              <a:buChar char="q"/>
            </a:pPr>
            <a:r>
              <a:rPr lang="en-US" dirty="0"/>
              <a:t>The </a:t>
            </a:r>
            <a:r>
              <a:rPr lang="en-US" b="1" dirty="0"/>
              <a:t>feature with the highest Information Gain</a:t>
            </a:r>
            <a:r>
              <a:rPr lang="en-US" dirty="0"/>
              <a:t> gives the </a:t>
            </a:r>
            <a:r>
              <a:rPr lang="en-US" b="1" dirty="0"/>
              <a:t>most effective split</a:t>
            </a:r>
            <a:r>
              <a:rPr lang="en-US" dirty="0"/>
              <a:t>.</a:t>
            </a:r>
          </a:p>
          <a:p>
            <a:endParaRPr lang="en-US" dirty="0"/>
          </a:p>
          <a:p>
            <a:pPr marL="285750" indent="-285750">
              <a:buFont typeface="Wingdings" panose="05000000000000000000" pitchFamily="2" charset="2"/>
              <a:buChar char="q"/>
            </a:pPr>
            <a:r>
              <a:rPr lang="en-US" dirty="0"/>
              <a:t>Decision Trees (like </a:t>
            </a:r>
            <a:r>
              <a:rPr lang="en-US" b="1" dirty="0"/>
              <a:t>ID3</a:t>
            </a:r>
            <a:r>
              <a:rPr lang="en-US" dirty="0"/>
              <a:t> and </a:t>
            </a:r>
            <a:r>
              <a:rPr lang="en-US" b="1" dirty="0"/>
              <a:t>C4.5</a:t>
            </a:r>
            <a:r>
              <a:rPr lang="en-US" dirty="0"/>
              <a:t>) use Information Gain to </a:t>
            </a:r>
            <a:r>
              <a:rPr lang="en-US" b="1" dirty="0"/>
              <a:t>choose the best feature</a:t>
            </a:r>
            <a:r>
              <a:rPr lang="en-US" dirty="0"/>
              <a:t> at each node.</a:t>
            </a:r>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7164D576-3429-F6EF-C67D-A89B785B71E1}"/>
                  </a:ext>
                </a:extLst>
              </p:cNvPr>
              <p:cNvSpPr txBox="1"/>
              <p:nvPr/>
            </p:nvSpPr>
            <p:spPr>
              <a:xfrm>
                <a:off x="1699591" y="2802835"/>
                <a:ext cx="9988826" cy="2585323"/>
              </a:xfrm>
              <a:prstGeom prst="rect">
                <a:avLst/>
              </a:prstGeom>
              <a:noFill/>
            </p:spPr>
            <p:txBody>
              <a:bodyPr wrap="square">
                <a:spAutoFit/>
              </a:bodyPr>
              <a:lstStyle/>
              <a:p>
                <a:pPr>
                  <a:buNone/>
                </a:pPr>
                <a:r>
                  <a:rPr lang="en-US" b="1" dirty="0"/>
                  <a:t>Example:</a:t>
                </a:r>
              </a:p>
              <a:p>
                <a:pPr>
                  <a:buNone/>
                </a:pPr>
                <a:endParaRPr lang="en-US" b="1" dirty="0"/>
              </a:p>
              <a:p>
                <a:pPr>
                  <a:buNone/>
                </a:pPr>
                <a:r>
                  <a:rPr lang="en-US" dirty="0"/>
                  <a:t>Let’s say before splitting, entropy = 0.971.</a:t>
                </a:r>
              </a:p>
              <a:p>
                <a:pPr>
                  <a:buNone/>
                </a:pPr>
                <a:br>
                  <a:rPr lang="en-US" dirty="0"/>
                </a:br>
                <a:r>
                  <a:rPr lang="en-US" dirty="0"/>
                  <a:t>After splitting by “Weather” (e.g., Sunny, Rainy), the weighted average entropy of child nodes = 0.5.</a:t>
                </a:r>
              </a:p>
              <a:p>
                <a:pPr>
                  <a:buNone/>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𝐼𝑛𝑓𝑜𝑟𝑚𝑎𝑡𝑖𝑜𝑛𝐺𝑎𝑖𝑛</m:t>
                      </m:r>
                      <m:r>
                        <a:rPr lang="en-US" i="0">
                          <a:latin typeface="Cambria Math" panose="02040503050406030204" pitchFamily="18" charset="0"/>
                        </a:rPr>
                        <m:t>=</m:t>
                      </m:r>
                      <m:r>
                        <a:rPr lang="en-US" i="0">
                          <a:latin typeface="Cambria Math" panose="02040503050406030204" pitchFamily="18" charset="0"/>
                        </a:rPr>
                        <m:t>0</m:t>
                      </m:r>
                      <m:r>
                        <a:rPr lang="en-US" i="0">
                          <a:latin typeface="Cambria Math" panose="02040503050406030204" pitchFamily="18" charset="0"/>
                        </a:rPr>
                        <m:t>.</m:t>
                      </m:r>
                      <m:r>
                        <a:rPr lang="en-US" i="0">
                          <a:latin typeface="Cambria Math" panose="02040503050406030204" pitchFamily="18" charset="0"/>
                        </a:rPr>
                        <m:t>971</m:t>
                      </m:r>
                      <m:r>
                        <a:rPr lang="en-US" i="0">
                          <a:latin typeface="Cambria Math" panose="02040503050406030204" pitchFamily="18" charset="0"/>
                        </a:rPr>
                        <m:t>−</m:t>
                      </m:r>
                      <m:r>
                        <a:rPr lang="en-US" i="0">
                          <a:latin typeface="Cambria Math" panose="02040503050406030204" pitchFamily="18" charset="0"/>
                        </a:rPr>
                        <m:t>0</m:t>
                      </m:r>
                      <m:r>
                        <a:rPr lang="en-US" i="0">
                          <a:latin typeface="Cambria Math" panose="02040503050406030204" pitchFamily="18" charset="0"/>
                        </a:rPr>
                        <m:t>.</m:t>
                      </m:r>
                      <m:r>
                        <a:rPr lang="en-US" i="0">
                          <a:latin typeface="Cambria Math" panose="02040503050406030204" pitchFamily="18" charset="0"/>
                        </a:rPr>
                        <m:t>5</m:t>
                      </m:r>
                      <m:r>
                        <a:rPr lang="en-US" i="0">
                          <a:latin typeface="Cambria Math" panose="02040503050406030204" pitchFamily="18" charset="0"/>
                        </a:rPr>
                        <m:t>=</m:t>
                      </m:r>
                      <m:r>
                        <a:rPr lang="en-US" i="0">
                          <a:latin typeface="Cambria Math" panose="02040503050406030204" pitchFamily="18" charset="0"/>
                        </a:rPr>
                        <m:t>0</m:t>
                      </m:r>
                      <m:r>
                        <a:rPr lang="en-US" i="0">
                          <a:latin typeface="Cambria Math" panose="02040503050406030204" pitchFamily="18" charset="0"/>
                        </a:rPr>
                        <m:t>.</m:t>
                      </m:r>
                      <m:r>
                        <a:rPr lang="en-US" i="0">
                          <a:latin typeface="Cambria Math" panose="02040503050406030204" pitchFamily="18" charset="0"/>
                        </a:rPr>
                        <m:t>471</m:t>
                      </m:r>
                    </m:oMath>
                  </m:oMathPara>
                </a14:m>
                <a:endParaRPr lang="en-US" dirty="0"/>
              </a:p>
              <a:p>
                <a:pPr>
                  <a:buNone/>
                </a:pPr>
                <a:endParaRPr lang="en-US" dirty="0"/>
              </a:p>
              <a:p>
                <a:pPr>
                  <a:buNone/>
                </a:pPr>
                <a:r>
                  <a:rPr lang="en-US" dirty="0"/>
                  <a:t> “Weather” gives us </a:t>
                </a:r>
                <a:r>
                  <a:rPr lang="en-US" b="1" dirty="0"/>
                  <a:t>0.471 bits</a:t>
                </a:r>
                <a:r>
                  <a:rPr lang="en-US" dirty="0"/>
                  <a:t> of information, reducing uncertainty significantly.</a:t>
                </a:r>
              </a:p>
            </p:txBody>
          </p:sp>
        </mc:Choice>
        <mc:Fallback xmlns="">
          <p:sp>
            <p:nvSpPr>
              <p:cNvPr id="6" name="TextBox 5">
                <a:extLst>
                  <a:ext uri="{FF2B5EF4-FFF2-40B4-BE49-F238E27FC236}">
                    <a16:creationId xmlns:a16="http://schemas.microsoft.com/office/drawing/2014/main" id="{7164D576-3429-F6EF-C67D-A89B785B71E1}"/>
                  </a:ext>
                </a:extLst>
              </p:cNvPr>
              <p:cNvSpPr txBox="1">
                <a:spLocks noRot="1" noChangeAspect="1" noMove="1" noResize="1" noEditPoints="1" noAdjustHandles="1" noChangeArrowheads="1" noChangeShapeType="1" noTextEdit="1"/>
              </p:cNvSpPr>
              <p:nvPr/>
            </p:nvSpPr>
            <p:spPr>
              <a:xfrm>
                <a:off x="1699591" y="2802835"/>
                <a:ext cx="9988826" cy="2585323"/>
              </a:xfrm>
              <a:prstGeom prst="rect">
                <a:avLst/>
              </a:prstGeom>
              <a:blipFill>
                <a:blip r:embed="rId2"/>
                <a:stretch>
                  <a:fillRect l="-549" t="-1415" b="-2830"/>
                </a:stretch>
              </a:blipFill>
            </p:spPr>
            <p:txBody>
              <a:bodyPr/>
              <a:lstStyle/>
              <a:p>
                <a:r>
                  <a:rPr lang="en-US">
                    <a:noFill/>
                  </a:rPr>
                  <a:t> </a:t>
                </a:r>
              </a:p>
            </p:txBody>
          </p:sp>
        </mc:Fallback>
      </mc:AlternateContent>
    </p:spTree>
    <p:extLst>
      <p:ext uri="{BB962C8B-B14F-4D97-AF65-F5344CB8AC3E}">
        <p14:creationId xmlns:p14="http://schemas.microsoft.com/office/powerpoint/2010/main" val="2035290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BFA1B-D7CE-DE95-8687-4C271B281941}"/>
              </a:ext>
            </a:extLst>
          </p:cNvPr>
          <p:cNvSpPr>
            <a:spLocks noGrp="1"/>
          </p:cNvSpPr>
          <p:nvPr>
            <p:ph type="title"/>
          </p:nvPr>
        </p:nvSpPr>
        <p:spPr>
          <a:xfrm>
            <a:off x="1689652" y="624110"/>
            <a:ext cx="9814959" cy="836942"/>
          </a:xfrm>
        </p:spPr>
        <p:txBody>
          <a:bodyPr>
            <a:normAutofit fontScale="90000"/>
          </a:bodyPr>
          <a:lstStyle/>
          <a:p>
            <a:r>
              <a:rPr lang="en-US" b="1" dirty="0"/>
              <a:t>Types of Decision Trees</a:t>
            </a:r>
            <a:br>
              <a:rPr lang="en-US" b="1" dirty="0"/>
            </a:br>
            <a:br>
              <a:rPr lang="en-US" b="1" dirty="0"/>
            </a:br>
            <a:r>
              <a:rPr lang="en-US" sz="2700" b="1" dirty="0"/>
              <a:t>Classification Trees</a:t>
            </a:r>
            <a:br>
              <a:rPr lang="en-US" sz="2700" b="1" dirty="0"/>
            </a:br>
            <a:r>
              <a:rPr lang="en-US" sz="2200" dirty="0"/>
              <a:t>Designed to predict </a:t>
            </a:r>
            <a:r>
              <a:rPr lang="en-US" sz="2200" b="1" dirty="0"/>
              <a:t>discrete categories</a:t>
            </a:r>
            <a:r>
              <a:rPr lang="en-US" sz="2200" dirty="0"/>
              <a:t> or class labels. Perfect for yes/no decisions, customer segments, or disease diagnosis.</a:t>
            </a:r>
            <a:br>
              <a:rPr lang="en-US" sz="2200" dirty="0"/>
            </a:br>
            <a:br>
              <a:rPr lang="en-US" sz="2200" dirty="0"/>
            </a:br>
            <a:br>
              <a:rPr lang="en-US" sz="2200" dirty="0"/>
            </a:br>
            <a:br>
              <a:rPr lang="en-US" sz="2200" dirty="0"/>
            </a:br>
            <a:br>
              <a:rPr lang="en-US" sz="2200" dirty="0"/>
            </a:br>
            <a:br>
              <a:rPr lang="en-US" sz="2200" dirty="0"/>
            </a:br>
            <a:br>
              <a:rPr lang="en-US" sz="2200" dirty="0"/>
            </a:br>
            <a:br>
              <a:rPr lang="en-US" sz="2200" dirty="0"/>
            </a:br>
            <a:br>
              <a:rPr lang="en-US" sz="2200" dirty="0"/>
            </a:br>
            <a:br>
              <a:rPr lang="en-US" sz="2200" dirty="0"/>
            </a:br>
            <a:br>
              <a:rPr lang="en-US" dirty="0"/>
            </a:br>
            <a:endParaRPr lang="en-US" dirty="0"/>
          </a:p>
        </p:txBody>
      </p:sp>
      <p:sp>
        <p:nvSpPr>
          <p:cNvPr id="3" name="Slide Number Placeholder 2">
            <a:extLst>
              <a:ext uri="{FF2B5EF4-FFF2-40B4-BE49-F238E27FC236}">
                <a16:creationId xmlns:a16="http://schemas.microsoft.com/office/drawing/2014/main" id="{25780948-F864-0449-E554-5D8C9C1EB3B9}"/>
              </a:ext>
            </a:extLst>
          </p:cNvPr>
          <p:cNvSpPr>
            <a:spLocks noGrp="1"/>
          </p:cNvSpPr>
          <p:nvPr>
            <p:ph type="sldNum" sz="quarter" idx="12"/>
          </p:nvPr>
        </p:nvSpPr>
        <p:spPr/>
        <p:txBody>
          <a:bodyPr/>
          <a:lstStyle/>
          <a:p>
            <a:fld id="{6D22F896-40B5-4ADD-8801-0D06FADFA095}" type="slidenum">
              <a:rPr lang="en-US" smtClean="0"/>
              <a:t>13</a:t>
            </a:fld>
            <a:endParaRPr lang="en-US" dirty="0"/>
          </a:p>
        </p:txBody>
      </p:sp>
      <p:sp>
        <p:nvSpPr>
          <p:cNvPr id="4" name="Rectangle 1">
            <a:extLst>
              <a:ext uri="{FF2B5EF4-FFF2-40B4-BE49-F238E27FC236}">
                <a16:creationId xmlns:a16="http://schemas.microsoft.com/office/drawing/2014/main" id="{32263AEF-5095-BFBB-2724-80623359EE55}"/>
              </a:ext>
            </a:extLst>
          </p:cNvPr>
          <p:cNvSpPr>
            <a:spLocks noChangeArrowheads="1"/>
          </p:cNvSpPr>
          <p:nvPr/>
        </p:nvSpPr>
        <p:spPr bwMode="auto">
          <a:xfrm rot="10800000" flipV="1">
            <a:off x="1651943" y="1632264"/>
            <a:ext cx="9342782" cy="4647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lang="en-US" altLang="en-US" sz="2000" b="1" dirty="0">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Arial" panose="020B0604020202020204" pitchFamily="34" charset="0"/>
              </a:rPr>
              <a:t>Used for:</a:t>
            </a:r>
            <a:r>
              <a:rPr kumimoji="0" lang="en-US" altLang="en-US" sz="2000" b="0" i="0" u="none" strike="noStrike" cap="none" normalizeH="0" baseline="0" dirty="0">
                <a:ln>
                  <a:noFill/>
                </a:ln>
                <a:solidFill>
                  <a:schemeClr val="tx1"/>
                </a:solidFill>
                <a:effectLst/>
                <a:latin typeface="Arial" panose="020B0604020202020204" pitchFamily="34" charset="0"/>
              </a:rPr>
              <a:t> Categorical target variables</a:t>
            </a:r>
            <a:br>
              <a:rPr kumimoji="0" lang="en-US" altLang="en-US" sz="2000" b="0" i="0" u="none" strike="noStrike" cap="none" normalizeH="0" baseline="0" dirty="0">
                <a:ln>
                  <a:noFill/>
                </a:ln>
                <a:solidFill>
                  <a:schemeClr val="tx1"/>
                </a:solidFill>
                <a:effectLst/>
                <a:latin typeface="Arial" panose="020B0604020202020204" pitchFamily="34" charset="0"/>
              </a:rPr>
            </a:br>
            <a:r>
              <a:rPr kumimoji="0" lang="en-US" altLang="en-US" sz="2000" b="0" i="0" u="none" strike="noStrike" cap="none" normalizeH="0" baseline="0" dirty="0">
                <a:ln>
                  <a:noFill/>
                </a:ln>
                <a:solidFill>
                  <a:schemeClr val="tx1"/>
                </a:solidFill>
                <a:effectLst/>
                <a:latin typeface="Arial" panose="020B0604020202020204" pitchFamily="34" charset="0"/>
              </a:rPr>
              <a:t>(e.g., </a:t>
            </a:r>
            <a:r>
              <a:rPr kumimoji="0" lang="en-US" altLang="en-US" sz="2000" b="0" i="1" u="none" strike="noStrike" cap="none" normalizeH="0" baseline="0" dirty="0">
                <a:ln>
                  <a:noFill/>
                </a:ln>
                <a:solidFill>
                  <a:schemeClr val="tx1"/>
                </a:solidFill>
                <a:effectLst/>
                <a:latin typeface="Arial" panose="020B0604020202020204" pitchFamily="34" charset="0"/>
              </a:rPr>
              <a:t>Yes/No</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1" u="none" strike="noStrike" cap="none" normalizeH="0" baseline="0" dirty="0">
                <a:ln>
                  <a:noFill/>
                </a:ln>
                <a:solidFill>
                  <a:schemeClr val="tx1"/>
                </a:solidFill>
                <a:effectLst/>
                <a:latin typeface="Arial" panose="020B0604020202020204" pitchFamily="34" charset="0"/>
              </a:rPr>
              <a:t>Spam/Not Spam</a:t>
            </a:r>
            <a:r>
              <a:rPr kumimoji="0" lang="en-US" altLang="en-US" sz="2000" b="0" i="0" u="none" strike="noStrike" cap="none" normalizeH="0" baseline="0" dirty="0">
                <a:ln>
                  <a:noFill/>
                </a:ln>
                <a:solidFill>
                  <a:schemeClr val="tx1"/>
                </a:solidFill>
                <a:effectLst/>
                <a:latin typeface="Arial" panose="020B0604020202020204" pitchFamily="34" charset="0"/>
              </a:rPr>
              <a:t>, </a:t>
            </a:r>
            <a:r>
              <a:rPr kumimoji="0" lang="en-US" altLang="en-US" sz="2000" b="0" i="1" u="none" strike="noStrike" cap="none" normalizeH="0" baseline="0" dirty="0">
                <a:ln>
                  <a:noFill/>
                </a:ln>
                <a:solidFill>
                  <a:schemeClr val="tx1"/>
                </a:solidFill>
                <a:effectLst/>
                <a:latin typeface="Arial" panose="020B0604020202020204" pitchFamily="34" charset="0"/>
              </a:rPr>
              <a:t>Disease/No Disease</a:t>
            </a:r>
            <a:r>
              <a:rPr kumimoji="0" lang="en-US" altLang="en-US" sz="2000" b="0" i="0" u="none" strike="noStrike" cap="none" normalizeH="0" baseline="0" dirty="0">
                <a:ln>
                  <a:noFill/>
                </a:ln>
                <a:solidFill>
                  <a:schemeClr val="tx1"/>
                </a:solidFill>
                <a:effectLst/>
                <a:latin typeface="Arial" panose="020B0604020202020204" pitchFamily="34" charset="0"/>
              </a:rPr>
              <a: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Arial" panose="020B0604020202020204" pitchFamily="34" charset="0"/>
              </a:rPr>
              <a:t>Goal:</a:t>
            </a:r>
            <a:r>
              <a:rPr kumimoji="0" lang="en-US" altLang="en-US" sz="2000" b="0" i="0" u="none" strike="noStrike" cap="none" normalizeH="0" baseline="0" dirty="0">
                <a:ln>
                  <a:noFill/>
                </a:ln>
                <a:solidFill>
                  <a:schemeClr val="tx1"/>
                </a:solidFill>
                <a:effectLst/>
                <a:latin typeface="Arial" panose="020B0604020202020204" pitchFamily="34" charset="0"/>
              </a:rPr>
              <a:t> To classify data into discrete classes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2000" b="1" i="0" u="none" strike="noStrike" cap="none" normalizeH="0" baseline="0" dirty="0">
                <a:ln>
                  <a:noFill/>
                </a:ln>
                <a:solidFill>
                  <a:schemeClr val="tx1"/>
                </a:solidFill>
                <a:effectLst/>
                <a:latin typeface="Arial" panose="020B0604020202020204" pitchFamily="34" charset="0"/>
              </a:rPr>
              <a:t>Splitting Criteria:</a:t>
            </a:r>
            <a:r>
              <a:rPr kumimoji="0" lang="en-US" altLang="en-US" sz="2000" b="0" i="0" u="none" strike="noStrike" cap="none" normalizeH="0" baseline="0" dirty="0">
                <a:ln>
                  <a:noFill/>
                </a:ln>
                <a:solidFill>
                  <a:schemeClr val="tx1"/>
                </a:solidFill>
                <a:effectLst/>
                <a:latin typeface="Arial" panose="020B0604020202020204" pitchFamily="34" charset="0"/>
              </a:rPr>
              <a:t> Measures like</a:t>
            </a:r>
          </a:p>
          <a:p>
            <a:pPr marR="0" lvl="0" algn="l" defTabSz="914400" rtl="0" eaLnBrk="0" fontAlgn="base" latinLnBrk="0" hangingPunct="0">
              <a:lnSpc>
                <a:spcPct val="100000"/>
              </a:lnSpc>
              <a:spcBef>
                <a:spcPct val="0"/>
              </a:spcBef>
              <a:spcAft>
                <a:spcPct val="0"/>
              </a:spcAft>
              <a:buClrTx/>
              <a:buSzTx/>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rPr>
              <a:t>   Gini Index</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rPr>
              <a:t>   Entropy / Information Gain</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000" b="1" i="0" u="none" strike="noStrike" cap="none" normalizeH="0" baseline="0" dirty="0">
                <a:ln>
                  <a:noFill/>
                </a:ln>
                <a:solidFill>
                  <a:schemeClr val="tx1"/>
                </a:solidFill>
                <a:effectLst/>
                <a:latin typeface="Arial" panose="020B0604020202020204" pitchFamily="34" charset="0"/>
              </a:rPr>
              <a:t>   Chi-square</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6" name="Picture 5">
            <a:extLst>
              <a:ext uri="{FF2B5EF4-FFF2-40B4-BE49-F238E27FC236}">
                <a16:creationId xmlns:a16="http://schemas.microsoft.com/office/drawing/2014/main" id="{1573E09F-B743-871C-9788-C32BCCCE556A}"/>
              </a:ext>
            </a:extLst>
          </p:cNvPr>
          <p:cNvPicPr>
            <a:picLocks noChangeAspect="1"/>
          </p:cNvPicPr>
          <p:nvPr/>
        </p:nvPicPr>
        <p:blipFill>
          <a:blip r:embed="rId2"/>
          <a:srcRect/>
          <a:stretch/>
        </p:blipFill>
        <p:spPr>
          <a:xfrm>
            <a:off x="7277493" y="3789497"/>
            <a:ext cx="4666268" cy="2903534"/>
          </a:xfrm>
          <a:prstGeom prst="rect">
            <a:avLst/>
          </a:prstGeom>
        </p:spPr>
      </p:pic>
    </p:spTree>
    <p:extLst>
      <p:ext uri="{BB962C8B-B14F-4D97-AF65-F5344CB8AC3E}">
        <p14:creationId xmlns:p14="http://schemas.microsoft.com/office/powerpoint/2010/main" val="5471844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F5BE0C-B4C8-48B3-D31F-F52735CC577A}"/>
              </a:ext>
            </a:extLst>
          </p:cNvPr>
          <p:cNvSpPr>
            <a:spLocks noGrp="1"/>
          </p:cNvSpPr>
          <p:nvPr>
            <p:ph type="sldNum" sz="quarter" idx="12"/>
          </p:nvPr>
        </p:nvSpPr>
        <p:spPr/>
        <p:txBody>
          <a:bodyPr/>
          <a:lstStyle/>
          <a:p>
            <a:fld id="{6D22F896-40B5-4ADD-8801-0D06FADFA095}" type="slidenum">
              <a:rPr lang="en-US" smtClean="0"/>
              <a:t>14</a:t>
            </a:fld>
            <a:endParaRPr lang="en-US" dirty="0"/>
          </a:p>
        </p:txBody>
      </p:sp>
      <p:sp>
        <p:nvSpPr>
          <p:cNvPr id="4" name="TextBox 3">
            <a:extLst>
              <a:ext uri="{FF2B5EF4-FFF2-40B4-BE49-F238E27FC236}">
                <a16:creationId xmlns:a16="http://schemas.microsoft.com/office/drawing/2014/main" id="{DBA02B29-EF70-1BE7-BA5F-D6A7C73B5F43}"/>
              </a:ext>
            </a:extLst>
          </p:cNvPr>
          <p:cNvSpPr txBox="1"/>
          <p:nvPr/>
        </p:nvSpPr>
        <p:spPr>
          <a:xfrm>
            <a:off x="1715678" y="787782"/>
            <a:ext cx="7425965" cy="461665"/>
          </a:xfrm>
          <a:prstGeom prst="rect">
            <a:avLst/>
          </a:prstGeom>
          <a:noFill/>
        </p:spPr>
        <p:txBody>
          <a:bodyPr wrap="square">
            <a:spAutoFit/>
          </a:bodyPr>
          <a:lstStyle/>
          <a:p>
            <a:pPr>
              <a:buNone/>
            </a:pPr>
            <a:r>
              <a:rPr lang="en-US" sz="2400" b="1" dirty="0"/>
              <a:t>Regression Trees</a:t>
            </a:r>
          </a:p>
        </p:txBody>
      </p:sp>
      <p:sp>
        <p:nvSpPr>
          <p:cNvPr id="6" name="TextBox 5">
            <a:extLst>
              <a:ext uri="{FF2B5EF4-FFF2-40B4-BE49-F238E27FC236}">
                <a16:creationId xmlns:a16="http://schemas.microsoft.com/office/drawing/2014/main" id="{DE68EEAA-0F34-4834-8986-09B860DE7116}"/>
              </a:ext>
            </a:extLst>
          </p:cNvPr>
          <p:cNvSpPr txBox="1"/>
          <p:nvPr/>
        </p:nvSpPr>
        <p:spPr>
          <a:xfrm>
            <a:off x="1838227" y="1564849"/>
            <a:ext cx="9144000" cy="646331"/>
          </a:xfrm>
          <a:prstGeom prst="rect">
            <a:avLst/>
          </a:prstGeom>
          <a:noFill/>
        </p:spPr>
        <p:txBody>
          <a:bodyPr wrap="square">
            <a:spAutoFit/>
          </a:bodyPr>
          <a:lstStyle/>
          <a:p>
            <a:pPr marL="285750" indent="-285750">
              <a:buFont typeface="Wingdings" panose="05000000000000000000" pitchFamily="2" charset="2"/>
              <a:buChar char="q"/>
            </a:pPr>
            <a:r>
              <a:rPr lang="en-US" dirty="0"/>
              <a:t>Built to predict </a:t>
            </a:r>
            <a:r>
              <a:rPr lang="en-US" b="1" dirty="0"/>
              <a:t>continuous numerical values</a:t>
            </a:r>
            <a:r>
              <a:rPr lang="en-US" dirty="0"/>
              <a:t>. Ideal for forecasting quantities, prices, or measurements.</a:t>
            </a:r>
          </a:p>
        </p:txBody>
      </p:sp>
      <p:sp>
        <p:nvSpPr>
          <p:cNvPr id="8" name="TextBox 7">
            <a:extLst>
              <a:ext uri="{FF2B5EF4-FFF2-40B4-BE49-F238E27FC236}">
                <a16:creationId xmlns:a16="http://schemas.microsoft.com/office/drawing/2014/main" id="{4F15C6E2-68AE-AB82-41C4-420E6A72E253}"/>
              </a:ext>
            </a:extLst>
          </p:cNvPr>
          <p:cNvSpPr txBox="1"/>
          <p:nvPr/>
        </p:nvSpPr>
        <p:spPr>
          <a:xfrm>
            <a:off x="1838226" y="2403835"/>
            <a:ext cx="8738647" cy="2308324"/>
          </a:xfrm>
          <a:prstGeom prst="rect">
            <a:avLst/>
          </a:prstGeom>
          <a:noFill/>
        </p:spPr>
        <p:txBody>
          <a:bodyPr wrap="square">
            <a:spAutoFit/>
          </a:bodyPr>
          <a:lstStyle/>
          <a:p>
            <a:pPr marL="285750" indent="-285750">
              <a:buFont typeface="Wingdings" panose="05000000000000000000" pitchFamily="2" charset="2"/>
              <a:buChar char="q"/>
            </a:pPr>
            <a:r>
              <a:rPr lang="en-US" b="1" dirty="0"/>
              <a:t>Used for:</a:t>
            </a:r>
            <a:r>
              <a:rPr lang="en-US" dirty="0"/>
              <a:t> Continuous target variables</a:t>
            </a:r>
            <a:br>
              <a:rPr lang="en-US" dirty="0"/>
            </a:br>
            <a:r>
              <a:rPr lang="en-US" dirty="0"/>
              <a:t>(e.g., </a:t>
            </a:r>
            <a:r>
              <a:rPr lang="en-US" i="1" dirty="0"/>
              <a:t>Price</a:t>
            </a:r>
            <a:r>
              <a:rPr lang="en-US" dirty="0"/>
              <a:t>, </a:t>
            </a:r>
            <a:r>
              <a:rPr lang="en-US" i="1" dirty="0"/>
              <a:t>Salary</a:t>
            </a:r>
            <a:r>
              <a:rPr lang="en-US" dirty="0"/>
              <a:t>, </a:t>
            </a:r>
            <a:r>
              <a:rPr lang="en-US" i="1" dirty="0"/>
              <a:t>Temperature</a:t>
            </a:r>
            <a:r>
              <a:rPr lang="en-US" dirty="0"/>
              <a:t>)</a:t>
            </a:r>
          </a:p>
          <a:p>
            <a:endParaRPr lang="en-US" dirty="0"/>
          </a:p>
          <a:p>
            <a:pPr marL="285750" indent="-285750">
              <a:buFont typeface="Wingdings" panose="05000000000000000000" pitchFamily="2" charset="2"/>
              <a:buChar char="q"/>
            </a:pPr>
            <a:r>
              <a:rPr lang="en-US" b="1" dirty="0"/>
              <a:t>Goal:</a:t>
            </a:r>
            <a:r>
              <a:rPr lang="en-US" dirty="0"/>
              <a:t> To predict numerical values.</a:t>
            </a:r>
          </a:p>
          <a:p>
            <a:endParaRPr lang="en-US" dirty="0"/>
          </a:p>
          <a:p>
            <a:pPr marL="285750" indent="-285750">
              <a:buFont typeface="Wingdings" panose="05000000000000000000" pitchFamily="2" charset="2"/>
              <a:buChar char="q"/>
            </a:pPr>
            <a:r>
              <a:rPr lang="en-US" b="1" dirty="0"/>
              <a:t>Splitting Criteria:</a:t>
            </a:r>
            <a:endParaRPr lang="en-US" dirty="0"/>
          </a:p>
          <a:p>
            <a:pPr marL="742950" lvl="1" indent="-285750">
              <a:buFont typeface="Wingdings" panose="05000000000000000000" pitchFamily="2" charset="2"/>
              <a:buChar char="Ø"/>
            </a:pPr>
            <a:r>
              <a:rPr lang="en-US" b="1" dirty="0"/>
              <a:t>Variance reduction</a:t>
            </a:r>
            <a:endParaRPr lang="en-US" dirty="0"/>
          </a:p>
          <a:p>
            <a:pPr marL="742950" lvl="1" indent="-285750">
              <a:buFont typeface="Wingdings" panose="05000000000000000000" pitchFamily="2" charset="2"/>
              <a:buChar char="Ø"/>
            </a:pPr>
            <a:r>
              <a:rPr lang="en-US" b="1" dirty="0"/>
              <a:t>Mean Squared Error (MSE)</a:t>
            </a:r>
            <a:endParaRPr lang="en-US" dirty="0"/>
          </a:p>
        </p:txBody>
      </p:sp>
      <p:sp>
        <p:nvSpPr>
          <p:cNvPr id="10" name="TextBox 9">
            <a:extLst>
              <a:ext uri="{FF2B5EF4-FFF2-40B4-BE49-F238E27FC236}">
                <a16:creationId xmlns:a16="http://schemas.microsoft.com/office/drawing/2014/main" id="{D782C7E1-0303-27A7-9B18-ACD1B9FD7019}"/>
              </a:ext>
            </a:extLst>
          </p:cNvPr>
          <p:cNvSpPr txBox="1"/>
          <p:nvPr/>
        </p:nvSpPr>
        <p:spPr>
          <a:xfrm>
            <a:off x="1838226" y="4816349"/>
            <a:ext cx="6853287" cy="1200329"/>
          </a:xfrm>
          <a:prstGeom prst="rect">
            <a:avLst/>
          </a:prstGeom>
          <a:noFill/>
        </p:spPr>
        <p:txBody>
          <a:bodyPr wrap="square">
            <a:spAutoFit/>
          </a:bodyPr>
          <a:lstStyle/>
          <a:p>
            <a:r>
              <a:rPr lang="en-US" b="1" dirty="0"/>
              <a:t>Example:</a:t>
            </a:r>
          </a:p>
          <a:p>
            <a:br>
              <a:rPr lang="en-US" dirty="0"/>
            </a:br>
            <a:r>
              <a:rPr lang="en-US" dirty="0"/>
              <a:t>Predicting the price of a house based on area, location, and number of rooms.</a:t>
            </a:r>
          </a:p>
        </p:txBody>
      </p:sp>
      <p:pic>
        <p:nvPicPr>
          <p:cNvPr id="12" name="Picture 11">
            <a:extLst>
              <a:ext uri="{FF2B5EF4-FFF2-40B4-BE49-F238E27FC236}">
                <a16:creationId xmlns:a16="http://schemas.microsoft.com/office/drawing/2014/main" id="{4F0352EE-7C32-550E-72F0-23B2C45C09A1}"/>
              </a:ext>
            </a:extLst>
          </p:cNvPr>
          <p:cNvPicPr>
            <a:picLocks noChangeAspect="1"/>
          </p:cNvPicPr>
          <p:nvPr/>
        </p:nvPicPr>
        <p:blipFill>
          <a:blip r:embed="rId2"/>
          <a:stretch>
            <a:fillRect/>
          </a:stretch>
        </p:blipFill>
        <p:spPr>
          <a:xfrm>
            <a:off x="6711885" y="2041652"/>
            <a:ext cx="5415963" cy="3381011"/>
          </a:xfrm>
          <a:prstGeom prst="rect">
            <a:avLst/>
          </a:prstGeom>
        </p:spPr>
      </p:pic>
    </p:spTree>
    <p:extLst>
      <p:ext uri="{BB962C8B-B14F-4D97-AF65-F5344CB8AC3E}">
        <p14:creationId xmlns:p14="http://schemas.microsoft.com/office/powerpoint/2010/main" val="1058152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5BA22-1D2C-3A21-97BD-8B3364E483C5}"/>
              </a:ext>
            </a:extLst>
          </p:cNvPr>
          <p:cNvSpPr>
            <a:spLocks noGrp="1"/>
          </p:cNvSpPr>
          <p:nvPr>
            <p:ph type="title"/>
          </p:nvPr>
        </p:nvSpPr>
        <p:spPr>
          <a:xfrm>
            <a:off x="1583704" y="603315"/>
            <a:ext cx="9920908" cy="1301685"/>
          </a:xfrm>
        </p:spPr>
        <p:txBody>
          <a:bodyPr>
            <a:normAutofit/>
          </a:bodyPr>
          <a:lstStyle/>
          <a:p>
            <a:r>
              <a:rPr lang="en-US" sz="2800" b="1" dirty="0"/>
              <a:t>Advantages of Decision Trees</a:t>
            </a:r>
            <a:br>
              <a:rPr lang="en-US" sz="2800" b="1" dirty="0"/>
            </a:br>
            <a:endParaRPr lang="en-US" sz="2800" dirty="0"/>
          </a:p>
        </p:txBody>
      </p:sp>
      <p:sp>
        <p:nvSpPr>
          <p:cNvPr id="3" name="Slide Number Placeholder 2">
            <a:extLst>
              <a:ext uri="{FF2B5EF4-FFF2-40B4-BE49-F238E27FC236}">
                <a16:creationId xmlns:a16="http://schemas.microsoft.com/office/drawing/2014/main" id="{E7233B03-34BA-FCED-B764-0FCE8ED8D57F}"/>
              </a:ext>
            </a:extLst>
          </p:cNvPr>
          <p:cNvSpPr>
            <a:spLocks noGrp="1"/>
          </p:cNvSpPr>
          <p:nvPr>
            <p:ph type="sldNum" sz="quarter" idx="12"/>
          </p:nvPr>
        </p:nvSpPr>
        <p:spPr/>
        <p:txBody>
          <a:bodyPr/>
          <a:lstStyle/>
          <a:p>
            <a:fld id="{6D22F896-40B5-4ADD-8801-0D06FADFA095}" type="slidenum">
              <a:rPr lang="en-US" smtClean="0"/>
              <a:t>15</a:t>
            </a:fld>
            <a:endParaRPr lang="en-US" dirty="0"/>
          </a:p>
        </p:txBody>
      </p:sp>
      <p:sp>
        <p:nvSpPr>
          <p:cNvPr id="5" name="TextBox 4">
            <a:extLst>
              <a:ext uri="{FF2B5EF4-FFF2-40B4-BE49-F238E27FC236}">
                <a16:creationId xmlns:a16="http://schemas.microsoft.com/office/drawing/2014/main" id="{9CF26B63-D546-66EF-D96F-689F8E6BEF65}"/>
              </a:ext>
            </a:extLst>
          </p:cNvPr>
          <p:cNvSpPr txBox="1"/>
          <p:nvPr/>
        </p:nvSpPr>
        <p:spPr>
          <a:xfrm>
            <a:off x="2102177" y="1442301"/>
            <a:ext cx="7039466" cy="369332"/>
          </a:xfrm>
          <a:prstGeom prst="rect">
            <a:avLst/>
          </a:prstGeom>
          <a:noFill/>
        </p:spPr>
        <p:txBody>
          <a:bodyPr wrap="square">
            <a:spAutoFit/>
          </a:bodyPr>
          <a:lstStyle/>
          <a:p>
            <a:pPr marL="285750" indent="-285750">
              <a:buFont typeface="Wingdings" panose="05000000000000000000" pitchFamily="2" charset="2"/>
              <a:buChar char="Ø"/>
            </a:pPr>
            <a:r>
              <a:rPr lang="en-US" b="1" dirty="0"/>
              <a:t>Highly Interpretable</a:t>
            </a:r>
          </a:p>
        </p:txBody>
      </p:sp>
      <p:sp>
        <p:nvSpPr>
          <p:cNvPr id="7" name="TextBox 6">
            <a:extLst>
              <a:ext uri="{FF2B5EF4-FFF2-40B4-BE49-F238E27FC236}">
                <a16:creationId xmlns:a16="http://schemas.microsoft.com/office/drawing/2014/main" id="{A4F8FEB9-DA2C-A695-3918-82A67FEC6227}"/>
              </a:ext>
            </a:extLst>
          </p:cNvPr>
          <p:cNvSpPr txBox="1"/>
          <p:nvPr/>
        </p:nvSpPr>
        <p:spPr>
          <a:xfrm>
            <a:off x="2422688" y="2064470"/>
            <a:ext cx="8616099" cy="646331"/>
          </a:xfrm>
          <a:prstGeom prst="rect">
            <a:avLst/>
          </a:prstGeom>
          <a:noFill/>
        </p:spPr>
        <p:txBody>
          <a:bodyPr wrap="square">
            <a:spAutoFit/>
          </a:bodyPr>
          <a:lstStyle/>
          <a:p>
            <a:pPr marL="285750" indent="-285750">
              <a:buFont typeface="Wingdings" panose="05000000000000000000" pitchFamily="2" charset="2"/>
              <a:buChar char="q"/>
            </a:pPr>
            <a:r>
              <a:rPr lang="en-US" dirty="0"/>
              <a:t>Easy to understand, explain, and visualize. Non-technical stakeholders can follow the decision logic without difficulty.</a:t>
            </a:r>
          </a:p>
        </p:txBody>
      </p:sp>
      <p:sp>
        <p:nvSpPr>
          <p:cNvPr id="9" name="TextBox 8">
            <a:extLst>
              <a:ext uri="{FF2B5EF4-FFF2-40B4-BE49-F238E27FC236}">
                <a16:creationId xmlns:a16="http://schemas.microsoft.com/office/drawing/2014/main" id="{5D2FDFD6-1E25-A5F4-2DAF-5CFEECF2F908}"/>
              </a:ext>
            </a:extLst>
          </p:cNvPr>
          <p:cNvSpPr txBox="1"/>
          <p:nvPr/>
        </p:nvSpPr>
        <p:spPr>
          <a:xfrm>
            <a:off x="2102178" y="2870271"/>
            <a:ext cx="7039466" cy="369332"/>
          </a:xfrm>
          <a:prstGeom prst="rect">
            <a:avLst/>
          </a:prstGeom>
          <a:noFill/>
        </p:spPr>
        <p:txBody>
          <a:bodyPr wrap="square">
            <a:spAutoFit/>
          </a:bodyPr>
          <a:lstStyle/>
          <a:p>
            <a:pPr marL="285750" indent="-285750">
              <a:buFont typeface="Wingdings" panose="05000000000000000000" pitchFamily="2" charset="2"/>
              <a:buChar char="Ø"/>
            </a:pPr>
            <a:r>
              <a:rPr lang="en-US" b="1" dirty="0"/>
              <a:t>Minimal Preprocessing</a:t>
            </a:r>
          </a:p>
        </p:txBody>
      </p:sp>
      <p:sp>
        <p:nvSpPr>
          <p:cNvPr id="11" name="TextBox 10">
            <a:extLst>
              <a:ext uri="{FF2B5EF4-FFF2-40B4-BE49-F238E27FC236}">
                <a16:creationId xmlns:a16="http://schemas.microsoft.com/office/drawing/2014/main" id="{FA4941D3-9947-6CB2-96EF-71CB3F2E213A}"/>
              </a:ext>
            </a:extLst>
          </p:cNvPr>
          <p:cNvSpPr txBox="1"/>
          <p:nvPr/>
        </p:nvSpPr>
        <p:spPr>
          <a:xfrm>
            <a:off x="2422688" y="3428999"/>
            <a:ext cx="8880050" cy="646331"/>
          </a:xfrm>
          <a:prstGeom prst="rect">
            <a:avLst/>
          </a:prstGeom>
          <a:noFill/>
        </p:spPr>
        <p:txBody>
          <a:bodyPr wrap="square">
            <a:spAutoFit/>
          </a:bodyPr>
          <a:lstStyle/>
          <a:p>
            <a:pPr marL="285750" indent="-285750">
              <a:buFont typeface="Wingdings" panose="05000000000000000000" pitchFamily="2" charset="2"/>
              <a:buChar char="q"/>
            </a:pPr>
            <a:r>
              <a:rPr lang="en-US" dirty="0"/>
              <a:t>Requires little data preparation. No need for normalization or scaling. Missing values can be handled naturally.</a:t>
            </a:r>
          </a:p>
        </p:txBody>
      </p:sp>
      <p:sp>
        <p:nvSpPr>
          <p:cNvPr id="13" name="TextBox 12">
            <a:extLst>
              <a:ext uri="{FF2B5EF4-FFF2-40B4-BE49-F238E27FC236}">
                <a16:creationId xmlns:a16="http://schemas.microsoft.com/office/drawing/2014/main" id="{6931290A-9A17-0F6B-A6CF-059D9C017AFA}"/>
              </a:ext>
            </a:extLst>
          </p:cNvPr>
          <p:cNvSpPr txBox="1"/>
          <p:nvPr/>
        </p:nvSpPr>
        <p:spPr>
          <a:xfrm>
            <a:off x="2102177" y="4264726"/>
            <a:ext cx="7039465" cy="369332"/>
          </a:xfrm>
          <a:prstGeom prst="rect">
            <a:avLst/>
          </a:prstGeom>
          <a:noFill/>
        </p:spPr>
        <p:txBody>
          <a:bodyPr wrap="square">
            <a:spAutoFit/>
          </a:bodyPr>
          <a:lstStyle/>
          <a:p>
            <a:pPr marL="285750" indent="-285750">
              <a:buFont typeface="Wingdings" panose="05000000000000000000" pitchFamily="2" charset="2"/>
              <a:buChar char="Ø"/>
            </a:pPr>
            <a:r>
              <a:rPr lang="en-US" b="1" dirty="0"/>
              <a:t>Versatile Data Handling</a:t>
            </a:r>
          </a:p>
        </p:txBody>
      </p:sp>
      <p:sp>
        <p:nvSpPr>
          <p:cNvPr id="15" name="TextBox 14">
            <a:extLst>
              <a:ext uri="{FF2B5EF4-FFF2-40B4-BE49-F238E27FC236}">
                <a16:creationId xmlns:a16="http://schemas.microsoft.com/office/drawing/2014/main" id="{7825D273-DA9E-9643-8A2F-90882B046E1C}"/>
              </a:ext>
            </a:extLst>
          </p:cNvPr>
          <p:cNvSpPr txBox="1"/>
          <p:nvPr/>
        </p:nvSpPr>
        <p:spPr>
          <a:xfrm rot="10800000" flipV="1">
            <a:off x="2601796" y="4905393"/>
            <a:ext cx="8361576" cy="646331"/>
          </a:xfrm>
          <a:prstGeom prst="rect">
            <a:avLst/>
          </a:prstGeom>
          <a:noFill/>
        </p:spPr>
        <p:txBody>
          <a:bodyPr wrap="square">
            <a:spAutoFit/>
          </a:bodyPr>
          <a:lstStyle/>
          <a:p>
            <a:pPr marL="285750" indent="-285750">
              <a:buFont typeface="Wingdings" panose="05000000000000000000" pitchFamily="2" charset="2"/>
              <a:buChar char="q"/>
            </a:pPr>
            <a:r>
              <a:rPr lang="en-US" dirty="0"/>
              <a:t>Works seamlessly with both numerical and categorical features without conversion or encoding.</a:t>
            </a:r>
          </a:p>
        </p:txBody>
      </p:sp>
      <p:sp>
        <p:nvSpPr>
          <p:cNvPr id="17" name="TextBox 16">
            <a:extLst>
              <a:ext uri="{FF2B5EF4-FFF2-40B4-BE49-F238E27FC236}">
                <a16:creationId xmlns:a16="http://schemas.microsoft.com/office/drawing/2014/main" id="{DED4A527-3F4B-ABC8-3F11-5AD47EF82A40}"/>
              </a:ext>
            </a:extLst>
          </p:cNvPr>
          <p:cNvSpPr txBox="1"/>
          <p:nvPr/>
        </p:nvSpPr>
        <p:spPr>
          <a:xfrm>
            <a:off x="2102177" y="5599329"/>
            <a:ext cx="9719035" cy="369332"/>
          </a:xfrm>
          <a:prstGeom prst="rect">
            <a:avLst/>
          </a:prstGeom>
          <a:noFill/>
        </p:spPr>
        <p:txBody>
          <a:bodyPr wrap="square">
            <a:spAutoFit/>
          </a:bodyPr>
          <a:lstStyle/>
          <a:p>
            <a:pPr marL="285750" indent="-285750">
              <a:buFont typeface="Wingdings" panose="05000000000000000000" pitchFamily="2" charset="2"/>
              <a:buChar char="Ø"/>
            </a:pPr>
            <a:r>
              <a:rPr lang="en-US" b="1" dirty="0"/>
              <a:t>Fast Predictions</a:t>
            </a:r>
          </a:p>
        </p:txBody>
      </p:sp>
      <p:sp>
        <p:nvSpPr>
          <p:cNvPr id="19" name="TextBox 18">
            <a:extLst>
              <a:ext uri="{FF2B5EF4-FFF2-40B4-BE49-F238E27FC236}">
                <a16:creationId xmlns:a16="http://schemas.microsoft.com/office/drawing/2014/main" id="{232E1A05-5F70-5E72-74AF-E30FAD8B152E}"/>
              </a:ext>
            </a:extLst>
          </p:cNvPr>
          <p:cNvSpPr txBox="1"/>
          <p:nvPr/>
        </p:nvSpPr>
        <p:spPr>
          <a:xfrm rot="10800000" flipV="1">
            <a:off x="2601795" y="6048906"/>
            <a:ext cx="8559538" cy="646331"/>
          </a:xfrm>
          <a:prstGeom prst="rect">
            <a:avLst/>
          </a:prstGeom>
          <a:noFill/>
        </p:spPr>
        <p:txBody>
          <a:bodyPr wrap="square">
            <a:spAutoFit/>
          </a:bodyPr>
          <a:lstStyle/>
          <a:p>
            <a:pPr marL="285750" indent="-285750">
              <a:buFont typeface="Wingdings" panose="05000000000000000000" pitchFamily="2" charset="2"/>
              <a:buChar char="q"/>
            </a:pPr>
            <a:r>
              <a:rPr lang="en-US" dirty="0"/>
              <a:t>Achieves logarithmic time complexity for predictions, making it efficient even with large datasets.</a:t>
            </a:r>
          </a:p>
        </p:txBody>
      </p:sp>
    </p:spTree>
    <p:extLst>
      <p:ext uri="{BB962C8B-B14F-4D97-AF65-F5344CB8AC3E}">
        <p14:creationId xmlns:p14="http://schemas.microsoft.com/office/powerpoint/2010/main" val="1190413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C664A-471B-CB12-26C0-910D0811846A}"/>
              </a:ext>
            </a:extLst>
          </p:cNvPr>
          <p:cNvSpPr>
            <a:spLocks noGrp="1"/>
          </p:cNvSpPr>
          <p:nvPr>
            <p:ph type="title"/>
          </p:nvPr>
        </p:nvSpPr>
        <p:spPr>
          <a:xfrm>
            <a:off x="1725106" y="624110"/>
            <a:ext cx="9779506" cy="648509"/>
          </a:xfrm>
        </p:spPr>
        <p:txBody>
          <a:bodyPr/>
          <a:lstStyle/>
          <a:p>
            <a:r>
              <a:rPr lang="en-US" b="1" dirty="0"/>
              <a:t>Challenges &amp; Limitations</a:t>
            </a:r>
          </a:p>
        </p:txBody>
      </p:sp>
      <p:sp>
        <p:nvSpPr>
          <p:cNvPr id="3" name="Slide Number Placeholder 2">
            <a:extLst>
              <a:ext uri="{FF2B5EF4-FFF2-40B4-BE49-F238E27FC236}">
                <a16:creationId xmlns:a16="http://schemas.microsoft.com/office/drawing/2014/main" id="{606B83C4-8810-1181-D693-4F6C8BEEDDA0}"/>
              </a:ext>
            </a:extLst>
          </p:cNvPr>
          <p:cNvSpPr>
            <a:spLocks noGrp="1"/>
          </p:cNvSpPr>
          <p:nvPr>
            <p:ph type="sldNum" sz="quarter" idx="12"/>
          </p:nvPr>
        </p:nvSpPr>
        <p:spPr/>
        <p:txBody>
          <a:bodyPr/>
          <a:lstStyle/>
          <a:p>
            <a:fld id="{6D22F896-40B5-4ADD-8801-0D06FADFA095}" type="slidenum">
              <a:rPr lang="en-US" smtClean="0"/>
              <a:t>16</a:t>
            </a:fld>
            <a:endParaRPr lang="en-US" dirty="0"/>
          </a:p>
        </p:txBody>
      </p:sp>
      <p:sp>
        <p:nvSpPr>
          <p:cNvPr id="5" name="TextBox 4">
            <a:extLst>
              <a:ext uri="{FF2B5EF4-FFF2-40B4-BE49-F238E27FC236}">
                <a16:creationId xmlns:a16="http://schemas.microsoft.com/office/drawing/2014/main" id="{CA2D28BC-723D-A377-C317-BD0528ED09C5}"/>
              </a:ext>
            </a:extLst>
          </p:cNvPr>
          <p:cNvSpPr txBox="1"/>
          <p:nvPr/>
        </p:nvSpPr>
        <p:spPr>
          <a:xfrm>
            <a:off x="1838228" y="1442301"/>
            <a:ext cx="7303416" cy="461665"/>
          </a:xfrm>
          <a:prstGeom prst="rect">
            <a:avLst/>
          </a:prstGeom>
          <a:noFill/>
        </p:spPr>
        <p:txBody>
          <a:bodyPr wrap="square">
            <a:spAutoFit/>
          </a:bodyPr>
          <a:lstStyle/>
          <a:p>
            <a:pPr marL="285750" indent="-285750">
              <a:buFont typeface="Wingdings" panose="05000000000000000000" pitchFamily="2" charset="2"/>
              <a:buChar char="Ø"/>
            </a:pPr>
            <a:r>
              <a:rPr lang="en-US" sz="2400" b="1" dirty="0"/>
              <a:t>Overfitting Risk</a:t>
            </a:r>
          </a:p>
        </p:txBody>
      </p:sp>
      <p:sp>
        <p:nvSpPr>
          <p:cNvPr id="7" name="TextBox 6">
            <a:extLst>
              <a:ext uri="{FF2B5EF4-FFF2-40B4-BE49-F238E27FC236}">
                <a16:creationId xmlns:a16="http://schemas.microsoft.com/office/drawing/2014/main" id="{1A92466D-88E3-FB21-EE2A-B10E17DCBC58}"/>
              </a:ext>
            </a:extLst>
          </p:cNvPr>
          <p:cNvSpPr txBox="1"/>
          <p:nvPr/>
        </p:nvSpPr>
        <p:spPr>
          <a:xfrm>
            <a:off x="2262433" y="1981315"/>
            <a:ext cx="8578392" cy="1938992"/>
          </a:xfrm>
          <a:prstGeom prst="rect">
            <a:avLst/>
          </a:prstGeom>
          <a:noFill/>
        </p:spPr>
        <p:txBody>
          <a:bodyPr wrap="square">
            <a:spAutoFit/>
          </a:bodyPr>
          <a:lstStyle/>
          <a:p>
            <a:pPr marL="342900" indent="-342900">
              <a:buFont typeface="Wingdings" panose="05000000000000000000" pitchFamily="2" charset="2"/>
              <a:buChar char="q"/>
            </a:pPr>
            <a:r>
              <a:rPr lang="en-US" sz="2000" dirty="0"/>
              <a:t>Decision trees are highly susceptible to overfitting, especially when allowed to grow to full depth without pruning. This means the tree learns the training data, including noise and outliers, too well and performs poorly on unseen data.</a:t>
            </a:r>
          </a:p>
          <a:p>
            <a:pPr marL="342900" indent="-342900">
              <a:buFont typeface="Wingdings" panose="05000000000000000000" pitchFamily="2" charset="2"/>
              <a:buChar char="q"/>
            </a:pPr>
            <a:endParaRPr lang="en-US" sz="2000" dirty="0"/>
          </a:p>
          <a:p>
            <a:endParaRPr lang="en-US" sz="2000" dirty="0"/>
          </a:p>
        </p:txBody>
      </p:sp>
      <p:sp>
        <p:nvSpPr>
          <p:cNvPr id="11" name="TextBox 10">
            <a:extLst>
              <a:ext uri="{FF2B5EF4-FFF2-40B4-BE49-F238E27FC236}">
                <a16:creationId xmlns:a16="http://schemas.microsoft.com/office/drawing/2014/main" id="{A9D6A9EB-E477-FC4B-580A-48DD0FBA74DE}"/>
              </a:ext>
            </a:extLst>
          </p:cNvPr>
          <p:cNvSpPr txBox="1"/>
          <p:nvPr/>
        </p:nvSpPr>
        <p:spPr>
          <a:xfrm rot="10800000" flipV="1">
            <a:off x="1913641" y="3532024"/>
            <a:ext cx="7228002" cy="461665"/>
          </a:xfrm>
          <a:prstGeom prst="rect">
            <a:avLst/>
          </a:prstGeom>
          <a:noFill/>
        </p:spPr>
        <p:txBody>
          <a:bodyPr wrap="square">
            <a:spAutoFit/>
          </a:bodyPr>
          <a:lstStyle/>
          <a:p>
            <a:pPr marL="285750" indent="-285750">
              <a:buFont typeface="Wingdings" panose="05000000000000000000" pitchFamily="2" charset="2"/>
              <a:buChar char="Ø"/>
            </a:pPr>
            <a:r>
              <a:rPr lang="en-US" sz="2400" b="1" dirty="0"/>
              <a:t>Model Instability and High Variance</a:t>
            </a:r>
          </a:p>
        </p:txBody>
      </p:sp>
      <p:sp>
        <p:nvSpPr>
          <p:cNvPr id="13" name="TextBox 12">
            <a:extLst>
              <a:ext uri="{FF2B5EF4-FFF2-40B4-BE49-F238E27FC236}">
                <a16:creationId xmlns:a16="http://schemas.microsoft.com/office/drawing/2014/main" id="{1DF2CE96-C737-CD51-57A9-DFF63CB70E34}"/>
              </a:ext>
            </a:extLst>
          </p:cNvPr>
          <p:cNvSpPr txBox="1"/>
          <p:nvPr/>
        </p:nvSpPr>
        <p:spPr>
          <a:xfrm>
            <a:off x="2262432" y="4168879"/>
            <a:ext cx="8323868" cy="1631216"/>
          </a:xfrm>
          <a:prstGeom prst="rect">
            <a:avLst/>
          </a:prstGeom>
          <a:noFill/>
        </p:spPr>
        <p:txBody>
          <a:bodyPr wrap="square">
            <a:spAutoFit/>
          </a:bodyPr>
          <a:lstStyle/>
          <a:p>
            <a:pPr marL="285750" indent="-285750">
              <a:buFont typeface="Wingdings" panose="05000000000000000000" pitchFamily="2" charset="2"/>
              <a:buChar char="q"/>
            </a:pPr>
            <a:r>
              <a:rPr lang="en-US" sz="2000" dirty="0"/>
              <a:t>Small changes in the training data, such as adding or removing a few data points or features, can lead to significant changes in the tree structure and the resulting predictions. This instability makes decision trees less robust and can hinder their generalization ability.</a:t>
            </a:r>
          </a:p>
        </p:txBody>
      </p:sp>
    </p:spTree>
    <p:extLst>
      <p:ext uri="{BB962C8B-B14F-4D97-AF65-F5344CB8AC3E}">
        <p14:creationId xmlns:p14="http://schemas.microsoft.com/office/powerpoint/2010/main" val="37963209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E3C674B-2691-2CAC-3D5F-AE578DD46575}"/>
              </a:ext>
            </a:extLst>
          </p:cNvPr>
          <p:cNvSpPr>
            <a:spLocks noGrp="1"/>
          </p:cNvSpPr>
          <p:nvPr>
            <p:ph type="sldNum" sz="quarter" idx="12"/>
          </p:nvPr>
        </p:nvSpPr>
        <p:spPr/>
        <p:txBody>
          <a:bodyPr/>
          <a:lstStyle/>
          <a:p>
            <a:fld id="{6D22F896-40B5-4ADD-8801-0D06FADFA095}" type="slidenum">
              <a:rPr lang="en-US" smtClean="0"/>
              <a:t>17</a:t>
            </a:fld>
            <a:endParaRPr lang="en-US" dirty="0"/>
          </a:p>
        </p:txBody>
      </p:sp>
      <p:sp>
        <p:nvSpPr>
          <p:cNvPr id="6" name="TextBox 5">
            <a:extLst>
              <a:ext uri="{FF2B5EF4-FFF2-40B4-BE49-F238E27FC236}">
                <a16:creationId xmlns:a16="http://schemas.microsoft.com/office/drawing/2014/main" id="{E9B5CABC-49C5-E690-B79B-D005B7C5B741}"/>
              </a:ext>
            </a:extLst>
          </p:cNvPr>
          <p:cNvSpPr txBox="1"/>
          <p:nvPr/>
        </p:nvSpPr>
        <p:spPr>
          <a:xfrm>
            <a:off x="1696825" y="787782"/>
            <a:ext cx="7444818" cy="830997"/>
          </a:xfrm>
          <a:prstGeom prst="rect">
            <a:avLst/>
          </a:prstGeom>
          <a:noFill/>
        </p:spPr>
        <p:txBody>
          <a:bodyPr wrap="square">
            <a:spAutoFit/>
          </a:bodyPr>
          <a:lstStyle/>
          <a:p>
            <a:pPr>
              <a:buNone/>
            </a:pPr>
            <a:r>
              <a:rPr lang="en-US" sz="2400" b="1" dirty="0"/>
              <a:t>Difficulty in Capturing Complex Relationships:</a:t>
            </a:r>
          </a:p>
          <a:p>
            <a:pPr>
              <a:buNone/>
            </a:pPr>
            <a:endParaRPr lang="en-US" sz="2400" b="1" dirty="0"/>
          </a:p>
        </p:txBody>
      </p:sp>
      <p:sp>
        <p:nvSpPr>
          <p:cNvPr id="7" name="Rectangle 1">
            <a:extLst>
              <a:ext uri="{FF2B5EF4-FFF2-40B4-BE49-F238E27FC236}">
                <a16:creationId xmlns:a16="http://schemas.microsoft.com/office/drawing/2014/main" id="{2C19A511-95E8-AD91-C75D-A6E5FDB5FF13}"/>
              </a:ext>
            </a:extLst>
          </p:cNvPr>
          <p:cNvSpPr>
            <a:spLocks noChangeArrowheads="1"/>
          </p:cNvSpPr>
          <p:nvPr/>
        </p:nvSpPr>
        <p:spPr bwMode="auto">
          <a:xfrm>
            <a:off x="1894788" y="1019234"/>
            <a:ext cx="10297211"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defTabSz="914400" eaLnBrk="0" fontAlgn="base" hangingPunct="0">
              <a:spcBef>
                <a:spcPct val="0"/>
              </a:spcBef>
              <a:spcAft>
                <a:spcPct val="0"/>
              </a:spcAft>
              <a:buFont typeface="Wingdings" panose="05000000000000000000" pitchFamily="2" charset="2"/>
              <a:buChar char="q"/>
            </a:pPr>
            <a:endParaRPr lang="en-US" sz="2000" dirty="0"/>
          </a:p>
          <a:p>
            <a:pPr marL="285750" lvl="0" indent="-285750" defTabSz="914400" eaLnBrk="0" fontAlgn="base" hangingPunct="0">
              <a:spcBef>
                <a:spcPct val="0"/>
              </a:spcBef>
              <a:spcAft>
                <a:spcPct val="0"/>
              </a:spcAft>
              <a:buFont typeface="Wingdings" panose="05000000000000000000" pitchFamily="2" charset="2"/>
              <a:buChar char="q"/>
            </a:pPr>
            <a:r>
              <a:rPr lang="en-US" sz="2000" dirty="0"/>
              <a:t>Decision trees construct piecewise constant approximations of the underlying function. This makes them less effective at capturing complex, non-linear relationships or interactions between features, which are often present in real-world data.</a:t>
            </a:r>
            <a:endParaRPr kumimoji="0" lang="en-US" altLang="en-US" sz="2000" i="0" u="none" strike="noStrike" cap="none" normalizeH="0" baseline="0" dirty="0">
              <a:ln>
                <a:noFill/>
              </a:ln>
              <a:solidFill>
                <a:schemeClr val="tx1"/>
              </a:solidFill>
              <a:effectLst/>
              <a:latin typeface="Arial" panose="020B0604020202020204" pitchFamily="34" charset="0"/>
            </a:endParaRPr>
          </a:p>
        </p:txBody>
      </p:sp>
      <p:sp>
        <p:nvSpPr>
          <p:cNvPr id="11" name="TextBox 10">
            <a:extLst>
              <a:ext uri="{FF2B5EF4-FFF2-40B4-BE49-F238E27FC236}">
                <a16:creationId xmlns:a16="http://schemas.microsoft.com/office/drawing/2014/main" id="{9425C164-8E99-75B4-B8AA-AB9CE82EAEB0}"/>
              </a:ext>
            </a:extLst>
          </p:cNvPr>
          <p:cNvSpPr txBox="1"/>
          <p:nvPr/>
        </p:nvSpPr>
        <p:spPr>
          <a:xfrm>
            <a:off x="1696825" y="2733773"/>
            <a:ext cx="7444817" cy="461665"/>
          </a:xfrm>
          <a:prstGeom prst="rect">
            <a:avLst/>
          </a:prstGeom>
          <a:noFill/>
        </p:spPr>
        <p:txBody>
          <a:bodyPr wrap="square">
            <a:spAutoFit/>
          </a:bodyPr>
          <a:lstStyle/>
          <a:p>
            <a:r>
              <a:rPr lang="en-US" sz="2400" b="1" dirty="0"/>
              <a:t>Bias towards Features with Many Categories:</a:t>
            </a:r>
          </a:p>
        </p:txBody>
      </p:sp>
      <p:sp>
        <p:nvSpPr>
          <p:cNvPr id="13" name="TextBox 12">
            <a:extLst>
              <a:ext uri="{FF2B5EF4-FFF2-40B4-BE49-F238E27FC236}">
                <a16:creationId xmlns:a16="http://schemas.microsoft.com/office/drawing/2014/main" id="{5DE872AF-9B1A-2399-B0F7-AFE4306243A7}"/>
              </a:ext>
            </a:extLst>
          </p:cNvPr>
          <p:cNvSpPr txBox="1"/>
          <p:nvPr/>
        </p:nvSpPr>
        <p:spPr>
          <a:xfrm rot="10800000" flipV="1">
            <a:off x="1894788" y="3330797"/>
            <a:ext cx="9737884" cy="1600438"/>
          </a:xfrm>
          <a:prstGeom prst="rect">
            <a:avLst/>
          </a:prstGeom>
          <a:noFill/>
        </p:spPr>
        <p:txBody>
          <a:bodyPr wrap="square">
            <a:spAutoFit/>
          </a:bodyPr>
          <a:lstStyle/>
          <a:p>
            <a:pPr marL="342900" indent="-342900">
              <a:buFont typeface="Wingdings" panose="05000000000000000000" pitchFamily="2" charset="2"/>
              <a:buChar char="q"/>
            </a:pPr>
            <a:r>
              <a:rPr lang="en-US" sz="2000" dirty="0"/>
              <a:t>Decision trees can exhibit a bias towards features with a large number of distinct values or categories. The splitting criteria, such as information gain, might favor these features, potentially leading to suboptimal splits and reduced accuracy.</a:t>
            </a:r>
          </a:p>
          <a:p>
            <a:endParaRPr lang="en-US" dirty="0"/>
          </a:p>
        </p:txBody>
      </p:sp>
      <p:sp>
        <p:nvSpPr>
          <p:cNvPr id="4" name="TextBox 3">
            <a:extLst>
              <a:ext uri="{FF2B5EF4-FFF2-40B4-BE49-F238E27FC236}">
                <a16:creationId xmlns:a16="http://schemas.microsoft.com/office/drawing/2014/main" id="{B1303301-2A73-3D89-BBC1-09ABA99C3ADA}"/>
              </a:ext>
            </a:extLst>
          </p:cNvPr>
          <p:cNvSpPr txBox="1"/>
          <p:nvPr/>
        </p:nvSpPr>
        <p:spPr>
          <a:xfrm>
            <a:off x="1828800" y="4724016"/>
            <a:ext cx="7312843" cy="461665"/>
          </a:xfrm>
          <a:prstGeom prst="rect">
            <a:avLst/>
          </a:prstGeom>
          <a:noFill/>
        </p:spPr>
        <p:txBody>
          <a:bodyPr wrap="square">
            <a:spAutoFit/>
          </a:bodyPr>
          <a:lstStyle/>
          <a:p>
            <a:r>
              <a:rPr lang="en-US" sz="2400" b="1" i="0" dirty="0">
                <a:solidFill>
                  <a:srgbClr val="EEF0FF"/>
                </a:solidFill>
                <a:effectLst/>
                <a:latin typeface="Century Gothic" panose="020B0502020202020204" pitchFamily="34" charset="0"/>
              </a:rPr>
              <a:t>Imbalanced Datasets:</a:t>
            </a:r>
            <a:endParaRPr lang="en-US" sz="2400" b="1" dirty="0">
              <a:latin typeface="Century Gothic" panose="020B0502020202020204" pitchFamily="34" charset="0"/>
            </a:endParaRPr>
          </a:p>
        </p:txBody>
      </p:sp>
      <p:sp>
        <p:nvSpPr>
          <p:cNvPr id="8" name="TextBox 7">
            <a:extLst>
              <a:ext uri="{FF2B5EF4-FFF2-40B4-BE49-F238E27FC236}">
                <a16:creationId xmlns:a16="http://schemas.microsoft.com/office/drawing/2014/main" id="{5214B33A-E4A6-483D-74BA-66923C887076}"/>
              </a:ext>
            </a:extLst>
          </p:cNvPr>
          <p:cNvSpPr txBox="1"/>
          <p:nvPr/>
        </p:nvSpPr>
        <p:spPr>
          <a:xfrm>
            <a:off x="1970202" y="5408498"/>
            <a:ext cx="8955464" cy="1323439"/>
          </a:xfrm>
          <a:prstGeom prst="rect">
            <a:avLst/>
          </a:prstGeom>
          <a:noFill/>
        </p:spPr>
        <p:txBody>
          <a:bodyPr wrap="square">
            <a:spAutoFit/>
          </a:bodyPr>
          <a:lstStyle/>
          <a:p>
            <a:pPr marL="285750" indent="-285750">
              <a:buFont typeface="Wingdings" panose="05000000000000000000" pitchFamily="2" charset="2"/>
              <a:buChar char="q"/>
            </a:pPr>
            <a:r>
              <a:rPr lang="en-US" sz="2000" b="0" i="0" dirty="0">
                <a:solidFill>
                  <a:srgbClr val="EEF0FF"/>
                </a:solidFill>
                <a:effectLst/>
                <a:latin typeface="Century Gothic" panose="020B0502020202020204" pitchFamily="34" charset="0"/>
              </a:rPr>
              <a:t>Decision trees can be biased towards the majority class in imbalanced datasets, leading to poor performance on the minority class. Techniques like class weighting or resampling are often required to address this.</a:t>
            </a:r>
            <a:endParaRPr lang="en-US" sz="2000" dirty="0">
              <a:latin typeface="Century Gothic" panose="020B0502020202020204" pitchFamily="34" charset="0"/>
            </a:endParaRPr>
          </a:p>
        </p:txBody>
      </p:sp>
    </p:spTree>
    <p:extLst>
      <p:ext uri="{BB962C8B-B14F-4D97-AF65-F5344CB8AC3E}">
        <p14:creationId xmlns:p14="http://schemas.microsoft.com/office/powerpoint/2010/main" val="2268814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573CD12-103D-F3CF-7507-A181492BD28F}"/>
              </a:ext>
            </a:extLst>
          </p:cNvPr>
          <p:cNvSpPr>
            <a:spLocks noGrp="1"/>
          </p:cNvSpPr>
          <p:nvPr>
            <p:ph type="sldNum" sz="quarter" idx="12"/>
          </p:nvPr>
        </p:nvSpPr>
        <p:spPr/>
        <p:txBody>
          <a:bodyPr/>
          <a:lstStyle/>
          <a:p>
            <a:fld id="{6D22F896-40B5-4ADD-8801-0D06FADFA095}" type="slidenum">
              <a:rPr lang="en-US" smtClean="0"/>
              <a:t>18</a:t>
            </a:fld>
            <a:endParaRPr lang="en-US" dirty="0"/>
          </a:p>
        </p:txBody>
      </p:sp>
      <p:sp>
        <p:nvSpPr>
          <p:cNvPr id="4" name="TextBox 3">
            <a:extLst>
              <a:ext uri="{FF2B5EF4-FFF2-40B4-BE49-F238E27FC236}">
                <a16:creationId xmlns:a16="http://schemas.microsoft.com/office/drawing/2014/main" id="{CF4A4213-3250-8BA0-69B0-79B5BBE836FB}"/>
              </a:ext>
            </a:extLst>
          </p:cNvPr>
          <p:cNvSpPr txBox="1"/>
          <p:nvPr/>
        </p:nvSpPr>
        <p:spPr>
          <a:xfrm>
            <a:off x="1885361" y="666876"/>
            <a:ext cx="8352147" cy="461665"/>
          </a:xfrm>
          <a:prstGeom prst="rect">
            <a:avLst/>
          </a:prstGeom>
          <a:noFill/>
        </p:spPr>
        <p:txBody>
          <a:bodyPr wrap="square">
            <a:spAutoFit/>
          </a:bodyPr>
          <a:lstStyle/>
          <a:p>
            <a:r>
              <a:rPr lang="en-US" sz="2400" b="1" dirty="0"/>
              <a:t>Computational Expense for Large Datasets:</a:t>
            </a:r>
          </a:p>
        </p:txBody>
      </p:sp>
      <p:sp>
        <p:nvSpPr>
          <p:cNvPr id="5" name="Rectangle 1">
            <a:extLst>
              <a:ext uri="{FF2B5EF4-FFF2-40B4-BE49-F238E27FC236}">
                <a16:creationId xmlns:a16="http://schemas.microsoft.com/office/drawing/2014/main" id="{4EA2F1DB-73FF-4E64-A2A7-811AFBCAA73F}"/>
              </a:ext>
            </a:extLst>
          </p:cNvPr>
          <p:cNvSpPr>
            <a:spLocks noChangeArrowheads="1"/>
          </p:cNvSpPr>
          <p:nvPr/>
        </p:nvSpPr>
        <p:spPr bwMode="auto">
          <a:xfrm rot="10800000" flipV="1">
            <a:off x="1791092" y="794566"/>
            <a:ext cx="10400906" cy="1908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defTabSz="914400" eaLnBrk="0" fontAlgn="base" hangingPunct="0">
              <a:spcBef>
                <a:spcPct val="0"/>
              </a:spcBef>
              <a:spcAft>
                <a:spcPct val="0"/>
              </a:spcAft>
              <a:buFont typeface="Wingdings" panose="05000000000000000000" pitchFamily="2" charset="2"/>
              <a:buChar char="q"/>
            </a:pPr>
            <a:endParaRPr lang="en-US" sz="2000" dirty="0"/>
          </a:p>
          <a:p>
            <a:pPr marL="285750" lvl="0" indent="-285750" defTabSz="914400" eaLnBrk="0" fontAlgn="base" hangingPunct="0">
              <a:spcBef>
                <a:spcPct val="0"/>
              </a:spcBef>
              <a:spcAft>
                <a:spcPct val="0"/>
              </a:spcAft>
              <a:buFont typeface="Wingdings" panose="05000000000000000000" pitchFamily="2" charset="2"/>
              <a:buChar char="q"/>
            </a:pPr>
            <a:endParaRPr lang="en-US" sz="2000" dirty="0"/>
          </a:p>
          <a:p>
            <a:pPr marL="285750" lvl="0" indent="-285750" defTabSz="914400" eaLnBrk="0" fontAlgn="base" hangingPunct="0">
              <a:spcBef>
                <a:spcPct val="0"/>
              </a:spcBef>
              <a:spcAft>
                <a:spcPct val="0"/>
              </a:spcAft>
              <a:buFont typeface="Wingdings" panose="05000000000000000000" pitchFamily="2" charset="2"/>
              <a:buChar char="q"/>
            </a:pPr>
            <a:r>
              <a:rPr lang="en-US" sz="2000" dirty="0"/>
              <a:t>Building and pruning deep decision trees on very large datasets can be computationally intensive and time-consuming, especially as the number of features and data points increases.</a:t>
            </a: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624911D9-CECF-C595-29DC-4F8064745D46}"/>
              </a:ext>
            </a:extLst>
          </p:cNvPr>
          <p:cNvSpPr txBox="1"/>
          <p:nvPr/>
        </p:nvSpPr>
        <p:spPr>
          <a:xfrm>
            <a:off x="1885360" y="2791067"/>
            <a:ext cx="7256283" cy="1200329"/>
          </a:xfrm>
          <a:prstGeom prst="rect">
            <a:avLst/>
          </a:prstGeom>
          <a:noFill/>
        </p:spPr>
        <p:txBody>
          <a:bodyPr wrap="square">
            <a:spAutoFit/>
          </a:bodyPr>
          <a:lstStyle/>
          <a:p>
            <a:r>
              <a:rPr lang="en-US" sz="2400" b="1" dirty="0"/>
              <a:t>Greedy Nature of Algorithm:</a:t>
            </a:r>
          </a:p>
          <a:p>
            <a:br>
              <a:rPr lang="en-US" sz="2400" b="1" dirty="0"/>
            </a:br>
            <a:endParaRPr lang="en-US" sz="2400" b="1" dirty="0"/>
          </a:p>
        </p:txBody>
      </p:sp>
      <p:sp>
        <p:nvSpPr>
          <p:cNvPr id="8" name="TextBox 7">
            <a:extLst>
              <a:ext uri="{FF2B5EF4-FFF2-40B4-BE49-F238E27FC236}">
                <a16:creationId xmlns:a16="http://schemas.microsoft.com/office/drawing/2014/main" id="{B0F5A82B-2D10-F226-590B-CBC4D086C224}"/>
              </a:ext>
            </a:extLst>
          </p:cNvPr>
          <p:cNvSpPr txBox="1"/>
          <p:nvPr/>
        </p:nvSpPr>
        <p:spPr>
          <a:xfrm>
            <a:off x="1970202" y="3327662"/>
            <a:ext cx="9181707" cy="1015663"/>
          </a:xfrm>
          <a:prstGeom prst="rect">
            <a:avLst/>
          </a:prstGeom>
          <a:noFill/>
        </p:spPr>
        <p:txBody>
          <a:bodyPr wrap="square">
            <a:spAutoFit/>
          </a:bodyPr>
          <a:lstStyle/>
          <a:p>
            <a:pPr marL="285750" indent="-285750">
              <a:buFont typeface="Wingdings" panose="05000000000000000000" pitchFamily="2" charset="2"/>
              <a:buChar char="q"/>
            </a:pPr>
            <a:r>
              <a:rPr lang="en-US" sz="2000" b="0" i="0" dirty="0">
                <a:solidFill>
                  <a:srgbClr val="EEF0FF"/>
                </a:solidFill>
                <a:effectLst/>
                <a:latin typeface="Century Gothic" panose="020B0502020202020204" pitchFamily="34" charset="0"/>
              </a:rPr>
              <a:t>Most decision tree algorithms use a greedy approach, making locally optimal decisions at each split. This does not guarantee a globally optimal tree and can lead to suboptimal solutions in some cases.</a:t>
            </a:r>
            <a:endParaRPr lang="en-US" sz="2000" dirty="0">
              <a:latin typeface="Century Gothic" panose="020B0502020202020204" pitchFamily="34" charset="0"/>
            </a:endParaRPr>
          </a:p>
        </p:txBody>
      </p:sp>
      <p:sp>
        <p:nvSpPr>
          <p:cNvPr id="12" name="TextBox 11">
            <a:extLst>
              <a:ext uri="{FF2B5EF4-FFF2-40B4-BE49-F238E27FC236}">
                <a16:creationId xmlns:a16="http://schemas.microsoft.com/office/drawing/2014/main" id="{51B7F533-B77F-DBDD-10F1-11D76B909703}"/>
              </a:ext>
            </a:extLst>
          </p:cNvPr>
          <p:cNvSpPr txBox="1"/>
          <p:nvPr/>
        </p:nvSpPr>
        <p:spPr>
          <a:xfrm>
            <a:off x="1791092" y="4527990"/>
            <a:ext cx="7411519" cy="461665"/>
          </a:xfrm>
          <a:prstGeom prst="rect">
            <a:avLst/>
          </a:prstGeom>
          <a:noFill/>
        </p:spPr>
        <p:txBody>
          <a:bodyPr wrap="square">
            <a:spAutoFit/>
          </a:bodyPr>
          <a:lstStyle/>
          <a:p>
            <a:r>
              <a:rPr lang="en-US" sz="2400" b="1" i="0" dirty="0">
                <a:solidFill>
                  <a:srgbClr val="EEF0FF"/>
                </a:solidFill>
                <a:effectLst/>
                <a:latin typeface="Century Gothic" panose="020B0502020202020204" pitchFamily="34" charset="0"/>
              </a:rPr>
              <a:t> Limitations in Regression Problems:</a:t>
            </a:r>
            <a:endParaRPr lang="en-US" sz="2400" b="1" dirty="0">
              <a:latin typeface="Century Gothic" panose="020B0502020202020204" pitchFamily="34" charset="0"/>
            </a:endParaRPr>
          </a:p>
        </p:txBody>
      </p:sp>
      <p:sp>
        <p:nvSpPr>
          <p:cNvPr id="14" name="TextBox 13">
            <a:extLst>
              <a:ext uri="{FF2B5EF4-FFF2-40B4-BE49-F238E27FC236}">
                <a16:creationId xmlns:a16="http://schemas.microsoft.com/office/drawing/2014/main" id="{CC0FD999-1153-FAA6-9E41-5FD120121344}"/>
              </a:ext>
            </a:extLst>
          </p:cNvPr>
          <p:cNvSpPr txBox="1"/>
          <p:nvPr/>
        </p:nvSpPr>
        <p:spPr>
          <a:xfrm>
            <a:off x="1885359" y="4989655"/>
            <a:ext cx="9026469" cy="1200329"/>
          </a:xfrm>
          <a:prstGeom prst="rect">
            <a:avLst/>
          </a:prstGeom>
          <a:noFill/>
        </p:spPr>
        <p:txBody>
          <a:bodyPr wrap="square">
            <a:spAutoFit/>
          </a:bodyPr>
          <a:lstStyle/>
          <a:p>
            <a:pPr marL="285750" indent="-285750">
              <a:buFont typeface="Wingdings" panose="05000000000000000000" pitchFamily="2" charset="2"/>
              <a:buChar char="q"/>
            </a:pPr>
            <a:endParaRPr lang="en-US" b="0" i="0" dirty="0">
              <a:solidFill>
                <a:srgbClr val="EEF0FF"/>
              </a:solidFill>
              <a:effectLst/>
              <a:latin typeface="Century Gothic" panose="020B0502020202020204" pitchFamily="34" charset="0"/>
            </a:endParaRPr>
          </a:p>
          <a:p>
            <a:pPr marL="285750" indent="-285750">
              <a:buFont typeface="Wingdings" panose="05000000000000000000" pitchFamily="2" charset="2"/>
              <a:buChar char="q"/>
            </a:pPr>
            <a:r>
              <a:rPr lang="en-US" b="0" i="0" dirty="0">
                <a:solidFill>
                  <a:srgbClr val="EEF0FF"/>
                </a:solidFill>
                <a:effectLst/>
                <a:latin typeface="Century Gothic" panose="020B0502020202020204" pitchFamily="34" charset="0"/>
              </a:rPr>
              <a:t>In regression tasks, decision trees produce piecewise constant predictions, which can struggle to accurately approximate continuous functions and extrapolate beyond the range of the training data.</a:t>
            </a:r>
            <a:endParaRPr lang="en-US" dirty="0">
              <a:latin typeface="Century Gothic" panose="020B0502020202020204" pitchFamily="34" charset="0"/>
            </a:endParaRPr>
          </a:p>
        </p:txBody>
      </p:sp>
    </p:spTree>
    <p:extLst>
      <p:ext uri="{BB962C8B-B14F-4D97-AF65-F5344CB8AC3E}">
        <p14:creationId xmlns:p14="http://schemas.microsoft.com/office/powerpoint/2010/main" val="398468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F5836-CA4A-20AE-9DE5-581CF9C08D54}"/>
              </a:ext>
            </a:extLst>
          </p:cNvPr>
          <p:cNvSpPr>
            <a:spLocks noGrp="1"/>
          </p:cNvSpPr>
          <p:nvPr>
            <p:ph type="title"/>
          </p:nvPr>
        </p:nvSpPr>
        <p:spPr>
          <a:xfrm>
            <a:off x="1687398" y="624110"/>
            <a:ext cx="9817213" cy="1280890"/>
          </a:xfrm>
        </p:spPr>
        <p:txBody>
          <a:bodyPr>
            <a:normAutofit/>
          </a:bodyPr>
          <a:lstStyle/>
          <a:p>
            <a:r>
              <a:rPr lang="en-US" sz="2800" b="1" dirty="0"/>
              <a:t>Real-Time Example: Loan Approval Prediction</a:t>
            </a:r>
          </a:p>
        </p:txBody>
      </p:sp>
      <p:sp>
        <p:nvSpPr>
          <p:cNvPr id="3" name="Slide Number Placeholder 2">
            <a:extLst>
              <a:ext uri="{FF2B5EF4-FFF2-40B4-BE49-F238E27FC236}">
                <a16:creationId xmlns:a16="http://schemas.microsoft.com/office/drawing/2014/main" id="{095E0F0C-3853-7C4B-AEB0-E120D6FA20E3}"/>
              </a:ext>
            </a:extLst>
          </p:cNvPr>
          <p:cNvSpPr>
            <a:spLocks noGrp="1"/>
          </p:cNvSpPr>
          <p:nvPr>
            <p:ph type="sldNum" sz="quarter" idx="12"/>
          </p:nvPr>
        </p:nvSpPr>
        <p:spPr/>
        <p:txBody>
          <a:bodyPr/>
          <a:lstStyle/>
          <a:p>
            <a:fld id="{6D22F896-40B5-4ADD-8801-0D06FADFA095}" type="slidenum">
              <a:rPr lang="en-US" smtClean="0"/>
              <a:t>19</a:t>
            </a:fld>
            <a:endParaRPr lang="en-US" dirty="0"/>
          </a:p>
        </p:txBody>
      </p:sp>
      <p:pic>
        <p:nvPicPr>
          <p:cNvPr id="5" name="Picture 4">
            <a:extLst>
              <a:ext uri="{FF2B5EF4-FFF2-40B4-BE49-F238E27FC236}">
                <a16:creationId xmlns:a16="http://schemas.microsoft.com/office/drawing/2014/main" id="{561921AF-C7BE-4507-36CB-BEF6DA033879}"/>
              </a:ext>
            </a:extLst>
          </p:cNvPr>
          <p:cNvPicPr>
            <a:picLocks noChangeAspect="1"/>
          </p:cNvPicPr>
          <p:nvPr/>
        </p:nvPicPr>
        <p:blipFill>
          <a:blip r:embed="rId2"/>
          <a:stretch>
            <a:fillRect/>
          </a:stretch>
        </p:blipFill>
        <p:spPr>
          <a:xfrm>
            <a:off x="7513163" y="2243578"/>
            <a:ext cx="4524866" cy="4298623"/>
          </a:xfrm>
          <a:prstGeom prst="rect">
            <a:avLst/>
          </a:prstGeom>
        </p:spPr>
      </p:pic>
      <p:sp>
        <p:nvSpPr>
          <p:cNvPr id="7" name="TextBox 6">
            <a:extLst>
              <a:ext uri="{FF2B5EF4-FFF2-40B4-BE49-F238E27FC236}">
                <a16:creationId xmlns:a16="http://schemas.microsoft.com/office/drawing/2014/main" id="{EF78914F-EDDD-909F-8C7C-9EECF5C1ADAF}"/>
              </a:ext>
            </a:extLst>
          </p:cNvPr>
          <p:cNvSpPr txBox="1"/>
          <p:nvPr/>
        </p:nvSpPr>
        <p:spPr>
          <a:xfrm>
            <a:off x="1809946" y="1225485"/>
            <a:ext cx="8870623" cy="1210588"/>
          </a:xfrm>
          <a:prstGeom prst="rect">
            <a:avLst/>
          </a:prstGeom>
          <a:noFill/>
        </p:spPr>
        <p:txBody>
          <a:bodyPr wrap="square">
            <a:spAutoFit/>
          </a:bodyPr>
          <a:lstStyle/>
          <a:p>
            <a:pPr algn="l">
              <a:lnSpc>
                <a:spcPts val="1800"/>
              </a:lnSpc>
              <a:spcBef>
                <a:spcPts val="750"/>
              </a:spcBef>
              <a:spcAft>
                <a:spcPts val="750"/>
              </a:spcAft>
              <a:buNone/>
            </a:pPr>
            <a:r>
              <a:rPr lang="en-US" sz="2000" b="0" i="0" dirty="0">
                <a:solidFill>
                  <a:srgbClr val="EEF0FF"/>
                </a:solidFill>
                <a:effectLst/>
                <a:latin typeface="Google Sans"/>
              </a:rPr>
              <a:t>The decision tree would be built using historical data of past loan applicants, including features like:</a:t>
            </a:r>
          </a:p>
          <a:p>
            <a:pPr>
              <a:buNone/>
            </a:pPr>
            <a:br>
              <a:rPr lang="en-US" b="0" i="0" dirty="0">
                <a:solidFill>
                  <a:srgbClr val="EEF0FF"/>
                </a:solidFill>
                <a:effectLst/>
                <a:latin typeface="Google Sans"/>
              </a:rPr>
            </a:br>
            <a:endParaRPr lang="en-US" dirty="0"/>
          </a:p>
        </p:txBody>
      </p:sp>
      <p:sp>
        <p:nvSpPr>
          <p:cNvPr id="9" name="TextBox 8">
            <a:extLst>
              <a:ext uri="{FF2B5EF4-FFF2-40B4-BE49-F238E27FC236}">
                <a16:creationId xmlns:a16="http://schemas.microsoft.com/office/drawing/2014/main" id="{F30D55CD-2F8B-5DE6-1771-2CEBEB0A5106}"/>
              </a:ext>
            </a:extLst>
          </p:cNvPr>
          <p:cNvSpPr txBox="1"/>
          <p:nvPr/>
        </p:nvSpPr>
        <p:spPr>
          <a:xfrm>
            <a:off x="985904" y="2092751"/>
            <a:ext cx="8155739" cy="3609321"/>
          </a:xfrm>
          <a:prstGeom prst="rect">
            <a:avLst/>
          </a:prstGeom>
          <a:noFill/>
        </p:spPr>
        <p:txBody>
          <a:bodyPr wrap="square">
            <a:spAutoFit/>
          </a:bodyPr>
          <a:lstStyle/>
          <a:p>
            <a:pPr marL="285750" indent="-285750" algn="l">
              <a:lnSpc>
                <a:spcPts val="1800"/>
              </a:lnSpc>
              <a:spcBef>
                <a:spcPts val="750"/>
              </a:spcBef>
              <a:spcAft>
                <a:spcPts val="600"/>
              </a:spcAft>
              <a:buFont typeface="Wingdings" panose="05000000000000000000" pitchFamily="2" charset="2"/>
              <a:buChar char="q"/>
            </a:pPr>
            <a:r>
              <a:rPr lang="en-US" sz="2000" b="1" i="0" dirty="0">
                <a:solidFill>
                  <a:srgbClr val="EEF0FF"/>
                </a:solidFill>
                <a:effectLst/>
                <a:latin typeface="Google Sans"/>
              </a:rPr>
              <a:t>Credit Score:</a:t>
            </a:r>
            <a:r>
              <a:rPr lang="en-US" sz="2000" b="0" i="0" dirty="0">
                <a:solidFill>
                  <a:srgbClr val="EEF0FF"/>
                </a:solidFill>
                <a:effectLst/>
                <a:latin typeface="Google Sans"/>
              </a:rPr>
              <a:t> (e.g., High, Medium, Low)</a:t>
            </a:r>
          </a:p>
          <a:p>
            <a:pPr algn="l">
              <a:lnSpc>
                <a:spcPts val="1800"/>
              </a:lnSpc>
              <a:spcBef>
                <a:spcPts val="750"/>
              </a:spcBef>
              <a:spcAft>
                <a:spcPts val="600"/>
              </a:spcAft>
            </a:pPr>
            <a:endParaRPr lang="en-US" sz="2000" b="0" i="0" dirty="0">
              <a:solidFill>
                <a:srgbClr val="EEF0FF"/>
              </a:solidFill>
              <a:effectLst/>
              <a:latin typeface="Google Sans"/>
            </a:endParaRPr>
          </a:p>
          <a:p>
            <a:pPr marL="285750" indent="-285750" algn="l">
              <a:lnSpc>
                <a:spcPts val="1800"/>
              </a:lnSpc>
              <a:spcBef>
                <a:spcPts val="750"/>
              </a:spcBef>
              <a:spcAft>
                <a:spcPts val="600"/>
              </a:spcAft>
              <a:buFont typeface="Wingdings" panose="05000000000000000000" pitchFamily="2" charset="2"/>
              <a:buChar char="q"/>
            </a:pPr>
            <a:r>
              <a:rPr lang="en-US" sz="2000" b="1" i="0" dirty="0">
                <a:solidFill>
                  <a:srgbClr val="EEF0FF"/>
                </a:solidFill>
                <a:effectLst/>
                <a:latin typeface="Google Sans"/>
              </a:rPr>
              <a:t>Income:</a:t>
            </a:r>
            <a:r>
              <a:rPr lang="en-US" sz="2000" b="0" i="0" dirty="0">
                <a:solidFill>
                  <a:srgbClr val="EEF0FF"/>
                </a:solidFill>
                <a:effectLst/>
                <a:latin typeface="Google Sans"/>
              </a:rPr>
              <a:t> (e.g., High, Medium, Low)</a:t>
            </a:r>
          </a:p>
          <a:p>
            <a:pPr algn="l">
              <a:lnSpc>
                <a:spcPts val="1800"/>
              </a:lnSpc>
              <a:spcBef>
                <a:spcPts val="750"/>
              </a:spcBef>
              <a:spcAft>
                <a:spcPts val="600"/>
              </a:spcAft>
            </a:pPr>
            <a:endParaRPr lang="en-US" sz="2000" b="0" i="0" dirty="0">
              <a:solidFill>
                <a:srgbClr val="EEF0FF"/>
              </a:solidFill>
              <a:effectLst/>
              <a:latin typeface="Google Sans"/>
            </a:endParaRPr>
          </a:p>
          <a:p>
            <a:pPr marL="285750" indent="-285750" algn="l">
              <a:lnSpc>
                <a:spcPts val="1800"/>
              </a:lnSpc>
              <a:spcBef>
                <a:spcPts val="750"/>
              </a:spcBef>
              <a:spcAft>
                <a:spcPts val="600"/>
              </a:spcAft>
              <a:buFont typeface="Wingdings" panose="05000000000000000000" pitchFamily="2" charset="2"/>
              <a:buChar char="q"/>
            </a:pPr>
            <a:r>
              <a:rPr lang="en-US" sz="2000" b="1" i="0" dirty="0">
                <a:solidFill>
                  <a:srgbClr val="EEF0FF"/>
                </a:solidFill>
                <a:effectLst/>
                <a:latin typeface="Google Sans"/>
              </a:rPr>
              <a:t>Employment Status:</a:t>
            </a:r>
            <a:r>
              <a:rPr lang="en-US" sz="2000" b="0" i="0" dirty="0">
                <a:solidFill>
                  <a:srgbClr val="EEF0FF"/>
                </a:solidFill>
                <a:effectLst/>
                <a:latin typeface="Google Sans"/>
              </a:rPr>
              <a:t> (e.g., Employed, Unemployed)</a:t>
            </a:r>
          </a:p>
          <a:p>
            <a:pPr algn="l">
              <a:lnSpc>
                <a:spcPts val="1800"/>
              </a:lnSpc>
              <a:spcBef>
                <a:spcPts val="750"/>
              </a:spcBef>
              <a:spcAft>
                <a:spcPts val="600"/>
              </a:spcAft>
            </a:pPr>
            <a:endParaRPr lang="en-US" sz="2000" b="0" i="0" dirty="0">
              <a:solidFill>
                <a:srgbClr val="EEF0FF"/>
              </a:solidFill>
              <a:effectLst/>
              <a:latin typeface="Google Sans"/>
            </a:endParaRPr>
          </a:p>
          <a:p>
            <a:pPr marL="285750" indent="-285750" algn="l">
              <a:lnSpc>
                <a:spcPts val="1800"/>
              </a:lnSpc>
              <a:spcBef>
                <a:spcPts val="750"/>
              </a:spcBef>
              <a:spcAft>
                <a:spcPts val="600"/>
              </a:spcAft>
              <a:buFont typeface="Wingdings" panose="05000000000000000000" pitchFamily="2" charset="2"/>
              <a:buChar char="q"/>
            </a:pPr>
            <a:r>
              <a:rPr lang="en-US" sz="2000" b="1" i="0" dirty="0">
                <a:solidFill>
                  <a:srgbClr val="EEF0FF"/>
                </a:solidFill>
                <a:effectLst/>
                <a:latin typeface="Google Sans"/>
              </a:rPr>
              <a:t>Loan Amount:</a:t>
            </a:r>
            <a:r>
              <a:rPr lang="en-US" sz="2000" b="0" i="0" dirty="0">
                <a:solidFill>
                  <a:srgbClr val="EEF0FF"/>
                </a:solidFill>
                <a:effectLst/>
                <a:latin typeface="Google Sans"/>
              </a:rPr>
              <a:t> (e.g., Large, Small)</a:t>
            </a:r>
            <a:endParaRPr lang="en-US" sz="2000" dirty="0">
              <a:solidFill>
                <a:srgbClr val="EEF0FF"/>
              </a:solidFill>
              <a:latin typeface="Google Sans"/>
            </a:endParaRPr>
          </a:p>
          <a:p>
            <a:pPr algn="l">
              <a:lnSpc>
                <a:spcPts val="1800"/>
              </a:lnSpc>
              <a:spcBef>
                <a:spcPts val="750"/>
              </a:spcBef>
              <a:spcAft>
                <a:spcPts val="600"/>
              </a:spcAft>
            </a:pPr>
            <a:endParaRPr lang="en-US" sz="2000" b="0" i="0" dirty="0">
              <a:solidFill>
                <a:srgbClr val="EEF0FF"/>
              </a:solidFill>
              <a:effectLst/>
              <a:latin typeface="Google Sans"/>
            </a:endParaRPr>
          </a:p>
          <a:p>
            <a:pPr marL="285750" indent="-285750" algn="l">
              <a:lnSpc>
                <a:spcPts val="1800"/>
              </a:lnSpc>
              <a:spcBef>
                <a:spcPts val="750"/>
              </a:spcBef>
              <a:spcAft>
                <a:spcPts val="1500"/>
              </a:spcAft>
              <a:buFont typeface="Wingdings" panose="05000000000000000000" pitchFamily="2" charset="2"/>
              <a:buChar char="q"/>
            </a:pPr>
            <a:r>
              <a:rPr lang="en-US" sz="2000" b="1" i="0" dirty="0">
                <a:solidFill>
                  <a:srgbClr val="EEF0FF"/>
                </a:solidFill>
                <a:effectLst/>
                <a:latin typeface="Google Sans"/>
              </a:rPr>
              <a:t>Loan Default:</a:t>
            </a:r>
            <a:r>
              <a:rPr lang="en-US" sz="2000" b="0" i="0" dirty="0">
                <a:solidFill>
                  <a:srgbClr val="EEF0FF"/>
                </a:solidFill>
                <a:effectLst/>
                <a:latin typeface="Google Sans"/>
              </a:rPr>
              <a:t> (Yes/No - this is the target variable)</a:t>
            </a:r>
          </a:p>
        </p:txBody>
      </p:sp>
    </p:spTree>
    <p:extLst>
      <p:ext uri="{BB962C8B-B14F-4D97-AF65-F5344CB8AC3E}">
        <p14:creationId xmlns:p14="http://schemas.microsoft.com/office/powerpoint/2010/main" val="2312680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1EB79D8-A004-BD9A-C618-BC0A3D7C2F65}"/>
              </a:ext>
            </a:extLst>
          </p:cNvPr>
          <p:cNvSpPr>
            <a:spLocks noGrp="1"/>
          </p:cNvSpPr>
          <p:nvPr>
            <p:ph type="sldNum" sz="quarter" idx="12"/>
          </p:nvPr>
        </p:nvSpPr>
        <p:spPr/>
        <p:txBody>
          <a:bodyPr/>
          <a:lstStyle/>
          <a:p>
            <a:fld id="{6D22F896-40B5-4ADD-8801-0D06FADFA095}" type="slidenum">
              <a:rPr lang="en-US" smtClean="0"/>
              <a:t>20</a:t>
            </a:fld>
            <a:endParaRPr lang="en-US" dirty="0"/>
          </a:p>
        </p:txBody>
      </p:sp>
      <p:sp>
        <p:nvSpPr>
          <p:cNvPr id="4" name="TextBox 3">
            <a:extLst>
              <a:ext uri="{FF2B5EF4-FFF2-40B4-BE49-F238E27FC236}">
                <a16:creationId xmlns:a16="http://schemas.microsoft.com/office/drawing/2014/main" id="{0CCCD534-15DF-5E93-C596-C2D0A709A10A}"/>
              </a:ext>
            </a:extLst>
          </p:cNvPr>
          <p:cNvSpPr txBox="1"/>
          <p:nvPr/>
        </p:nvSpPr>
        <p:spPr>
          <a:xfrm>
            <a:off x="1659118" y="787782"/>
            <a:ext cx="9294828" cy="4712187"/>
          </a:xfrm>
          <a:prstGeom prst="rect">
            <a:avLst/>
          </a:prstGeom>
          <a:noFill/>
        </p:spPr>
        <p:txBody>
          <a:bodyPr wrap="square">
            <a:spAutoFit/>
          </a:bodyPr>
          <a:lstStyle/>
          <a:p>
            <a:pPr algn="l">
              <a:lnSpc>
                <a:spcPts val="2100"/>
              </a:lnSpc>
              <a:spcBef>
                <a:spcPts val="1500"/>
              </a:spcBef>
              <a:spcAft>
                <a:spcPts val="750"/>
              </a:spcAft>
              <a:buNone/>
            </a:pPr>
            <a:r>
              <a:rPr lang="en-US" sz="2400" b="1" i="0" dirty="0">
                <a:solidFill>
                  <a:srgbClr val="EEF0FF"/>
                </a:solidFill>
                <a:effectLst/>
                <a:latin typeface="Century" panose="02040604050505020304" pitchFamily="18" charset="0"/>
              </a:rPr>
              <a:t>How the Decision Tree Works:</a:t>
            </a:r>
          </a:p>
          <a:p>
            <a:pPr marL="285750" indent="-285750" algn="l">
              <a:lnSpc>
                <a:spcPts val="1800"/>
              </a:lnSpc>
              <a:spcBef>
                <a:spcPts val="750"/>
              </a:spcBef>
              <a:spcAft>
                <a:spcPts val="600"/>
              </a:spcAft>
              <a:buFont typeface="Wingdings" panose="05000000000000000000" pitchFamily="2" charset="2"/>
              <a:buChar char="q"/>
            </a:pPr>
            <a:r>
              <a:rPr lang="en-US" sz="2000" b="1" i="0" dirty="0">
                <a:solidFill>
                  <a:srgbClr val="EEF0FF"/>
                </a:solidFill>
                <a:effectLst/>
                <a:latin typeface="Google Sans"/>
              </a:rPr>
              <a:t>Root Node: </a:t>
            </a:r>
          </a:p>
          <a:p>
            <a:pPr marL="285750" indent="-285750" algn="l">
              <a:lnSpc>
                <a:spcPts val="1800"/>
              </a:lnSpc>
              <a:spcBef>
                <a:spcPts val="750"/>
              </a:spcBef>
              <a:spcAft>
                <a:spcPts val="600"/>
              </a:spcAft>
              <a:buFont typeface="Wingdings" panose="05000000000000000000" pitchFamily="2" charset="2"/>
              <a:buChar char="Ø"/>
            </a:pPr>
            <a:r>
              <a:rPr lang="en-US" sz="2000" b="0" i="0" dirty="0">
                <a:solidFill>
                  <a:srgbClr val="EEF0FF"/>
                </a:solidFill>
                <a:effectLst/>
                <a:latin typeface="Google Sans"/>
              </a:rPr>
              <a:t>The tree starts with a root node, which might be the most influential feature, such as "Credit Score."</a:t>
            </a:r>
          </a:p>
          <a:p>
            <a:pPr marL="285750" indent="-285750" algn="l">
              <a:lnSpc>
                <a:spcPts val="1800"/>
              </a:lnSpc>
              <a:spcBef>
                <a:spcPts val="750"/>
              </a:spcBef>
              <a:spcAft>
                <a:spcPts val="600"/>
              </a:spcAft>
              <a:buFont typeface="Wingdings" panose="05000000000000000000" pitchFamily="2" charset="2"/>
              <a:buChar char="q"/>
            </a:pPr>
            <a:r>
              <a:rPr lang="en-US" sz="2000" b="1" i="0" dirty="0">
                <a:solidFill>
                  <a:srgbClr val="EEF0FF"/>
                </a:solidFill>
                <a:effectLst/>
                <a:latin typeface="Google Sans"/>
              </a:rPr>
              <a:t>Splits:</a:t>
            </a:r>
            <a:r>
              <a:rPr lang="en-US" sz="2000" b="0" i="0" dirty="0">
                <a:solidFill>
                  <a:srgbClr val="EEF0FF"/>
                </a:solidFill>
                <a:effectLst/>
                <a:latin typeface="Google Sans"/>
              </a:rPr>
              <a:t> </a:t>
            </a:r>
          </a:p>
          <a:p>
            <a:pPr marL="285750" indent="-285750" algn="l">
              <a:lnSpc>
                <a:spcPts val="1800"/>
              </a:lnSpc>
              <a:spcBef>
                <a:spcPts val="750"/>
              </a:spcBef>
              <a:spcAft>
                <a:spcPts val="600"/>
              </a:spcAft>
              <a:buFont typeface="Wingdings" panose="05000000000000000000" pitchFamily="2" charset="2"/>
              <a:buChar char="Ø"/>
            </a:pPr>
            <a:r>
              <a:rPr lang="en-US" sz="2000" b="0" i="0" dirty="0">
                <a:solidFill>
                  <a:srgbClr val="EEF0FF"/>
                </a:solidFill>
                <a:effectLst/>
                <a:latin typeface="Google Sans"/>
              </a:rPr>
              <a:t>The data is then split based on the credit score. For example, one branch for "High Credit Score," another for "Medium Credit Score," and a third for "Low Credit Score."</a:t>
            </a:r>
          </a:p>
          <a:p>
            <a:pPr marL="285750" indent="-285750" algn="l">
              <a:lnSpc>
                <a:spcPts val="1800"/>
              </a:lnSpc>
              <a:spcBef>
                <a:spcPts val="750"/>
              </a:spcBef>
              <a:spcAft>
                <a:spcPts val="600"/>
              </a:spcAft>
              <a:buFont typeface="Wingdings" panose="05000000000000000000" pitchFamily="2" charset="2"/>
              <a:buChar char="q"/>
            </a:pPr>
            <a:r>
              <a:rPr lang="en-US" sz="2000" b="1" i="0" dirty="0">
                <a:solidFill>
                  <a:srgbClr val="EEF0FF"/>
                </a:solidFill>
                <a:effectLst/>
                <a:latin typeface="Google Sans"/>
              </a:rPr>
              <a:t>Subsequent Nodes:</a:t>
            </a:r>
            <a:r>
              <a:rPr lang="en-US" sz="2000" b="0" i="0" dirty="0">
                <a:solidFill>
                  <a:srgbClr val="EEF0FF"/>
                </a:solidFill>
                <a:effectLst/>
                <a:latin typeface="Google Sans"/>
              </a:rPr>
              <a:t> </a:t>
            </a:r>
          </a:p>
          <a:p>
            <a:pPr marL="285750" indent="-285750" algn="l">
              <a:lnSpc>
                <a:spcPts val="1800"/>
              </a:lnSpc>
              <a:spcBef>
                <a:spcPts val="750"/>
              </a:spcBef>
              <a:spcAft>
                <a:spcPts val="600"/>
              </a:spcAft>
              <a:buFont typeface="Wingdings" panose="05000000000000000000" pitchFamily="2" charset="2"/>
              <a:buChar char="Ø"/>
            </a:pPr>
            <a:r>
              <a:rPr lang="en-US" sz="2000" b="0" i="0" dirty="0">
                <a:solidFill>
                  <a:srgbClr val="EEF0FF"/>
                </a:solidFill>
                <a:effectLst/>
                <a:latin typeface="Google Sans"/>
              </a:rPr>
              <a:t>Each branch then leads to another decision node, testing another feature. For instance, if the credit score is "High," the next node might test "Income."</a:t>
            </a:r>
          </a:p>
          <a:p>
            <a:pPr marL="285750" indent="-285750" algn="l">
              <a:lnSpc>
                <a:spcPts val="1800"/>
              </a:lnSpc>
              <a:spcBef>
                <a:spcPts val="750"/>
              </a:spcBef>
              <a:spcAft>
                <a:spcPts val="1500"/>
              </a:spcAft>
              <a:buFont typeface="Wingdings" panose="05000000000000000000" pitchFamily="2" charset="2"/>
              <a:buChar char="q"/>
            </a:pPr>
            <a:r>
              <a:rPr lang="en-US" sz="2000" b="1" i="0" dirty="0">
                <a:solidFill>
                  <a:srgbClr val="EEF0FF"/>
                </a:solidFill>
                <a:effectLst/>
                <a:latin typeface="Google Sans"/>
              </a:rPr>
              <a:t>Leaf Nodes:</a:t>
            </a:r>
            <a:r>
              <a:rPr lang="en-US" sz="2000" b="0" i="0" dirty="0">
                <a:solidFill>
                  <a:srgbClr val="EEF0FF"/>
                </a:solidFill>
                <a:effectLst/>
                <a:latin typeface="Google Sans"/>
              </a:rPr>
              <a:t> </a:t>
            </a:r>
          </a:p>
          <a:p>
            <a:pPr marL="285750" indent="-285750" algn="l">
              <a:lnSpc>
                <a:spcPts val="1800"/>
              </a:lnSpc>
              <a:spcBef>
                <a:spcPts val="750"/>
              </a:spcBef>
              <a:spcAft>
                <a:spcPts val="1500"/>
              </a:spcAft>
              <a:buFont typeface="Wingdings" panose="05000000000000000000" pitchFamily="2" charset="2"/>
              <a:buChar char="Ø"/>
            </a:pPr>
            <a:r>
              <a:rPr lang="en-US" sz="2000" b="0" i="0" dirty="0">
                <a:solidFill>
                  <a:srgbClr val="EEF0FF"/>
                </a:solidFill>
                <a:effectLst/>
                <a:latin typeface="Google Sans"/>
              </a:rPr>
              <a:t>This process continues until a leaf node is reached, which represents the final decision – "Loan Approved" or "Loan Denied."</a:t>
            </a:r>
          </a:p>
        </p:txBody>
      </p:sp>
    </p:spTree>
    <p:extLst>
      <p:ext uri="{BB962C8B-B14F-4D97-AF65-F5344CB8AC3E}">
        <p14:creationId xmlns:p14="http://schemas.microsoft.com/office/powerpoint/2010/main" val="28801915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6F1BAB0-9CD0-C0B3-A843-2E458E5C35F9}"/>
              </a:ext>
            </a:extLst>
          </p:cNvPr>
          <p:cNvSpPr>
            <a:spLocks noGrp="1"/>
          </p:cNvSpPr>
          <p:nvPr>
            <p:ph type="sldNum" sz="quarter" idx="12"/>
          </p:nvPr>
        </p:nvSpPr>
        <p:spPr/>
        <p:txBody>
          <a:bodyPr/>
          <a:lstStyle/>
          <a:p>
            <a:fld id="{6D22F896-40B5-4ADD-8801-0D06FADFA095}" type="slidenum">
              <a:rPr lang="en-US" smtClean="0"/>
              <a:t>21</a:t>
            </a:fld>
            <a:endParaRPr lang="en-US" dirty="0"/>
          </a:p>
        </p:txBody>
      </p:sp>
      <p:sp>
        <p:nvSpPr>
          <p:cNvPr id="4" name="TextBox 3">
            <a:extLst>
              <a:ext uri="{FF2B5EF4-FFF2-40B4-BE49-F238E27FC236}">
                <a16:creationId xmlns:a16="http://schemas.microsoft.com/office/drawing/2014/main" id="{C29CA3DA-C2CC-19DD-1639-14B51614F2BD}"/>
              </a:ext>
            </a:extLst>
          </p:cNvPr>
          <p:cNvSpPr txBox="1"/>
          <p:nvPr/>
        </p:nvSpPr>
        <p:spPr>
          <a:xfrm>
            <a:off x="1809946" y="787782"/>
            <a:ext cx="7331697" cy="461665"/>
          </a:xfrm>
          <a:prstGeom prst="rect">
            <a:avLst/>
          </a:prstGeom>
          <a:noFill/>
        </p:spPr>
        <p:txBody>
          <a:bodyPr wrap="square">
            <a:spAutoFit/>
          </a:bodyPr>
          <a:lstStyle/>
          <a:p>
            <a:r>
              <a:rPr lang="en-US" sz="2400" b="1" i="0" dirty="0">
                <a:solidFill>
                  <a:srgbClr val="EEF0FF"/>
                </a:solidFill>
                <a:effectLst/>
                <a:latin typeface="Google Sans"/>
              </a:rPr>
              <a:t>Example Path:</a:t>
            </a:r>
            <a:endParaRPr lang="en-US" sz="2400" b="1" dirty="0"/>
          </a:p>
        </p:txBody>
      </p:sp>
      <p:sp>
        <p:nvSpPr>
          <p:cNvPr id="6" name="TextBox 5">
            <a:extLst>
              <a:ext uri="{FF2B5EF4-FFF2-40B4-BE49-F238E27FC236}">
                <a16:creationId xmlns:a16="http://schemas.microsoft.com/office/drawing/2014/main" id="{7E47E153-6DD4-3D0A-8265-DDD9EBBD9D77}"/>
              </a:ext>
            </a:extLst>
          </p:cNvPr>
          <p:cNvSpPr txBox="1"/>
          <p:nvPr/>
        </p:nvSpPr>
        <p:spPr>
          <a:xfrm>
            <a:off x="1809947" y="1602558"/>
            <a:ext cx="9945278" cy="1398268"/>
          </a:xfrm>
          <a:prstGeom prst="rect">
            <a:avLst/>
          </a:prstGeom>
          <a:noFill/>
        </p:spPr>
        <p:txBody>
          <a:bodyPr wrap="square">
            <a:spAutoFit/>
          </a:bodyPr>
          <a:lstStyle/>
          <a:p>
            <a:pPr marL="285750" indent="-285750" algn="l">
              <a:lnSpc>
                <a:spcPts val="1800"/>
              </a:lnSpc>
              <a:spcBef>
                <a:spcPts val="750"/>
              </a:spcBef>
              <a:spcAft>
                <a:spcPts val="600"/>
              </a:spcAft>
              <a:buFont typeface="Wingdings" panose="05000000000000000000" pitchFamily="2" charset="2"/>
              <a:buChar char="q"/>
            </a:pPr>
            <a:r>
              <a:rPr lang="en-US" sz="2400" b="1" i="0" dirty="0">
                <a:solidFill>
                  <a:srgbClr val="EEF0FF"/>
                </a:solidFill>
                <a:effectLst/>
                <a:latin typeface="Google Sans"/>
              </a:rPr>
              <a:t>Applicant A:</a:t>
            </a:r>
            <a:r>
              <a:rPr lang="en-US" sz="2400" b="0" i="0" dirty="0">
                <a:solidFill>
                  <a:srgbClr val="EEF0FF"/>
                </a:solidFill>
                <a:effectLst/>
                <a:latin typeface="Google Sans"/>
              </a:rPr>
              <a:t> High Credit Score -&gt; High Income -&gt; Employed -&gt; Loan Approved.</a:t>
            </a:r>
          </a:p>
          <a:p>
            <a:pPr algn="l">
              <a:lnSpc>
                <a:spcPts val="1800"/>
              </a:lnSpc>
              <a:spcBef>
                <a:spcPts val="750"/>
              </a:spcBef>
              <a:spcAft>
                <a:spcPts val="600"/>
              </a:spcAft>
            </a:pPr>
            <a:endParaRPr lang="en-US" sz="2400" b="0" i="0" dirty="0">
              <a:solidFill>
                <a:srgbClr val="EEF0FF"/>
              </a:solidFill>
              <a:effectLst/>
              <a:latin typeface="Google Sans"/>
            </a:endParaRPr>
          </a:p>
          <a:p>
            <a:pPr marL="285750" indent="-285750" algn="l">
              <a:lnSpc>
                <a:spcPts val="1800"/>
              </a:lnSpc>
              <a:spcBef>
                <a:spcPts val="750"/>
              </a:spcBef>
              <a:spcAft>
                <a:spcPts val="1500"/>
              </a:spcAft>
              <a:buFont typeface="Wingdings" panose="05000000000000000000" pitchFamily="2" charset="2"/>
              <a:buChar char="q"/>
            </a:pPr>
            <a:r>
              <a:rPr lang="en-US" sz="2400" b="1" i="0" dirty="0">
                <a:solidFill>
                  <a:srgbClr val="EEF0FF"/>
                </a:solidFill>
                <a:effectLst/>
                <a:latin typeface="Google Sans"/>
              </a:rPr>
              <a:t>Applicant B:</a:t>
            </a:r>
            <a:r>
              <a:rPr lang="en-US" sz="2400" b="0" i="0" dirty="0">
                <a:solidFill>
                  <a:srgbClr val="EEF0FF"/>
                </a:solidFill>
                <a:effectLst/>
                <a:latin typeface="Google Sans"/>
              </a:rPr>
              <a:t> Low Credit Score -&gt; Unemployed -&gt; Loan Denied.</a:t>
            </a:r>
          </a:p>
        </p:txBody>
      </p:sp>
    </p:spTree>
    <p:extLst>
      <p:ext uri="{BB962C8B-B14F-4D97-AF65-F5344CB8AC3E}">
        <p14:creationId xmlns:p14="http://schemas.microsoft.com/office/powerpoint/2010/main" val="388579797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C333A"/>
      </a:dk2>
      <a:lt2>
        <a:srgbClr val="D6ECED"/>
      </a:lt2>
      <a:accent1>
        <a:srgbClr val="DE32DE"/>
      </a:accent1>
      <a:accent2>
        <a:srgbClr val="F42B8A"/>
      </a:accent2>
      <a:accent3>
        <a:srgbClr val="349FE7"/>
      </a:accent3>
      <a:accent4>
        <a:srgbClr val="565FF8"/>
      </a:accent4>
      <a:accent5>
        <a:srgbClr val="876BE7"/>
      </a:accent5>
      <a:accent6>
        <a:srgbClr val="F268C2"/>
      </a:accent6>
      <a:hlink>
        <a:srgbClr val="F55CF9"/>
      </a:hlink>
      <a:folHlink>
        <a:srgbClr val="E8A0EE"/>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F20B7C8E-B819-43F3-AAF9-EE50B1A8363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TM02892315[[fn=Wisp]]</Template>
  <TotalTime>1617</TotalTime>
  <Words>1916</Words>
  <Application>Microsoft Office PowerPoint</Application>
  <PresentationFormat>Widescreen</PresentationFormat>
  <Paragraphs>249</Paragraphs>
  <Slides>21</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21</vt:i4>
      </vt:variant>
    </vt:vector>
  </HeadingPairs>
  <TitlesOfParts>
    <vt:vector size="32" baseType="lpstr">
      <vt:lpstr>Arial</vt:lpstr>
      <vt:lpstr>Arial Black</vt:lpstr>
      <vt:lpstr>Brygada 1918 Bold</vt:lpstr>
      <vt:lpstr>Calibri</vt:lpstr>
      <vt:lpstr>Cambria Math</vt:lpstr>
      <vt:lpstr>Century</vt:lpstr>
      <vt:lpstr>Century Gothic</vt:lpstr>
      <vt:lpstr>Google Sans</vt:lpstr>
      <vt:lpstr>Wingdings</vt:lpstr>
      <vt:lpstr>Wingdings 3</vt:lpstr>
      <vt:lpstr>Wisp</vt:lpstr>
      <vt:lpstr>    Decision Tree Algorithms in Machine Learning</vt:lpstr>
      <vt:lpstr>What is a Decision Tree? </vt:lpstr>
      <vt:lpstr>Anatomy of a Decision Tree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Decision Trees  Classification Trees Designed to predict discrete categories or class labels. Perfect for yes/no decisions, customer segments, or disease diagnosis.           </vt:lpstr>
      <vt:lpstr>PowerPoint Presentation</vt:lpstr>
      <vt:lpstr>Advantages of Decision Trees </vt:lpstr>
      <vt:lpstr>Challenges &amp; Limitations</vt:lpstr>
      <vt:lpstr>PowerPoint Presentation</vt:lpstr>
      <vt:lpstr>PowerPoint Presentation</vt:lpstr>
      <vt:lpstr>Real-Time Example: Loan Approval Prediction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siva reddy</dc:creator>
  <cp:lastModifiedBy>siva reddy</cp:lastModifiedBy>
  <cp:revision>35</cp:revision>
  <dcterms:created xsi:type="dcterms:W3CDTF">2025-10-15T16:11:18Z</dcterms:created>
  <dcterms:modified xsi:type="dcterms:W3CDTF">2025-10-21T06:07:51Z</dcterms:modified>
</cp:coreProperties>
</file>