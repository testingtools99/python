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3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4" r:id="rId19"/>
    <p:sldId id="265" r:id="rId20"/>
    <p:sldId id="26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6C1B1-A557-4D7A-9D02-DE3CE87C83C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CEAE5-B5A9-4C07-A437-04827451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0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C0BC-6C4B-48F8-A827-66F5AE759D7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2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9A529-EBB8-4B6E-9B05-6908D1451ECE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9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B781-5762-4FC7-A0B7-1375B6E5D71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2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97A71-C1A2-47F9-89BC-90C23B66DD35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FEB32-24F4-4703-B4A6-ADDBFB5CEA43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1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1A23-5625-40E4-A732-84AA0D407B5A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A4844-14DB-48D0-B857-5F2746242151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6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443F-E6FB-48E6-A76B-8C9E9D5D6E57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2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CAE-10B3-42C4-9CB6-74FECF38150F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5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9442D-3BC5-418F-9F00-A59031AB54DF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65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947B-2211-4A85-89E2-CEEEFACB248F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0644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5A1C-0533-49CB-A225-DA68A0062E80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92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DF247-6E1A-422D-989A-A80B0053743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972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5F7E-7791-460E-B717-04EBE8C849E4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48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15C0A-B4BB-4152-99F5-24277880B0D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66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83EA-4627-463F-B698-3753AAC4FA6F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914B7-C637-4866-AD86-5E589E5EB8C9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FDFFCB9-F1FE-47A1-9EC5-D0BC8FC67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4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A259-9D3F-FFC1-7DC5-30ADA854A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726" y="2514598"/>
            <a:ext cx="8915399" cy="2262781"/>
          </a:xfrm>
        </p:spPr>
        <p:txBody>
          <a:bodyPr/>
          <a:lstStyle/>
          <a:p>
            <a:r>
              <a:rPr lang="en-US" b="1" dirty="0"/>
              <a:t>🎓 </a:t>
            </a:r>
            <a:r>
              <a:rPr lang="en-US" b="1" dirty="0">
                <a:solidFill>
                  <a:schemeClr val="accent1"/>
                </a:solidFill>
              </a:rPr>
              <a:t>Confusion Matrix in Machine Learning</a:t>
            </a:r>
            <a:r>
              <a:rPr lang="en-US" dirty="0">
                <a:solidFill>
                  <a:schemeClr val="accent1"/>
                </a:solidFill>
              </a:rPr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F4A31-0967-1B31-C65F-1787FD2C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1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C676-FEFF-63BC-88CD-85D6B0C4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667" y="624110"/>
            <a:ext cx="9722946" cy="903032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What is Classification in Machine Learning</a:t>
            </a:r>
            <a:r>
              <a:rPr lang="en-US" dirty="0">
                <a:solidFill>
                  <a:schemeClr val="accent1"/>
                </a:solidFill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72BD-26F2-D0BC-1120-D2DDF4F41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8862" y="1527142"/>
            <a:ext cx="10005750" cy="3836710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Classification is a </a:t>
            </a:r>
            <a:r>
              <a:rPr lang="en-US" sz="2400" b="1" dirty="0"/>
              <a:t>supervised learning</a:t>
            </a:r>
            <a:r>
              <a:rPr lang="en-US" sz="2400" dirty="0"/>
              <a:t> technique where a model learns to predict a </a:t>
            </a:r>
            <a:r>
              <a:rPr lang="en-US" sz="2400" b="1" dirty="0"/>
              <a:t>categorical outcome</a:t>
            </a:r>
            <a:r>
              <a:rPr lang="en-US" sz="2400" dirty="0"/>
              <a:t> (a label). </a:t>
            </a:r>
            <a:br>
              <a:rPr lang="en-US" sz="2400" dirty="0"/>
            </a:br>
            <a:r>
              <a:rPr lang="en-US" sz="2400" dirty="0"/>
              <a:t>Examples: </a:t>
            </a:r>
          </a:p>
          <a:p>
            <a:pPr fontAlgn="base"/>
            <a:r>
              <a:rPr lang="en-US" sz="2400" dirty="0"/>
              <a:t>Email → Spam or Not Spam </a:t>
            </a:r>
          </a:p>
          <a:p>
            <a:pPr fontAlgn="base"/>
            <a:r>
              <a:rPr lang="en-US" sz="2400" dirty="0"/>
              <a:t>Medical test → Positive or Negative </a:t>
            </a:r>
          </a:p>
          <a:p>
            <a:pPr fontAlgn="base"/>
            <a:r>
              <a:rPr lang="en-US" sz="2400" dirty="0"/>
              <a:t>Image → Cat, Dog, or Bird </a:t>
            </a:r>
          </a:p>
          <a:p>
            <a:pPr fontAlgn="base"/>
            <a:r>
              <a:rPr lang="en-US" sz="2400" dirty="0"/>
              <a:t>To know how well the model performs, we evaluate it using a </a:t>
            </a:r>
            <a:r>
              <a:rPr lang="en-US" sz="2400" b="1" dirty="0"/>
              <a:t>Confusion Matrix</a:t>
            </a:r>
            <a:r>
              <a:rPr lang="en-US" sz="2400" dirty="0"/>
              <a:t>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74178-9D2B-ECAE-37D5-E5856C89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1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3DEE-A7A6-314F-DBB4-402DA93F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521" y="624110"/>
            <a:ext cx="9704092" cy="742777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Definition of a Confusion Matrix</a:t>
            </a:r>
            <a:r>
              <a:rPr lang="en-US" dirty="0">
                <a:solidFill>
                  <a:schemeClr val="accent1"/>
                </a:solidFill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FCA8-CD00-A154-6EB5-315A72C4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445443"/>
            <a:ext cx="8915400" cy="3220825"/>
          </a:xfrm>
        </p:spPr>
        <p:txBody>
          <a:bodyPr/>
          <a:lstStyle/>
          <a:p>
            <a:pPr fontAlgn="base"/>
            <a:r>
              <a:rPr lang="en-US" sz="2400" dirty="0"/>
              <a:t>A </a:t>
            </a:r>
            <a:r>
              <a:rPr lang="en-US" sz="2400" b="1" dirty="0"/>
              <a:t>Confusion Matrix</a:t>
            </a:r>
            <a:r>
              <a:rPr lang="en-US" sz="2400" dirty="0"/>
              <a:t> is a </a:t>
            </a:r>
            <a:r>
              <a:rPr lang="en-US" sz="2400" b="1" dirty="0"/>
              <a:t>performance measurement table</a:t>
            </a:r>
            <a:r>
              <a:rPr lang="en-US" sz="2400" dirty="0"/>
              <a:t> used in classification. </a:t>
            </a:r>
            <a:br>
              <a:rPr lang="en-US" sz="2400" dirty="0"/>
            </a:br>
            <a:r>
              <a:rPr lang="en-US" sz="2400" dirty="0"/>
              <a:t>It compares the </a:t>
            </a:r>
            <a:r>
              <a:rPr lang="en-US" sz="2400" b="1" dirty="0"/>
              <a:t>actual class labels</a:t>
            </a:r>
            <a:r>
              <a:rPr lang="en-US" sz="2400" dirty="0"/>
              <a:t> with the </a:t>
            </a:r>
            <a:r>
              <a:rPr lang="en-US" sz="2400" b="1" dirty="0"/>
              <a:t>predicted class labels</a:t>
            </a:r>
            <a:r>
              <a:rPr lang="en-US" sz="2400" dirty="0"/>
              <a:t>. </a:t>
            </a:r>
          </a:p>
          <a:p>
            <a:pPr fontAlgn="base"/>
            <a:r>
              <a:rPr lang="en-US" sz="2400" dirty="0"/>
              <a:t>It provides a clear picture of: 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How many predictions were correct  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dirty="0"/>
              <a:t>What types of errors the model made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2251B-3DF3-7565-4B95-D75A74F1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5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B4E39-2F96-72AD-511E-25010CBA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973" y="624110"/>
            <a:ext cx="9744639" cy="6639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1"/>
                </a:solidFill>
              </a:rPr>
              <a:t>Structure of a Confusion Matrix</a:t>
            </a:r>
            <a:r>
              <a:rPr lang="en-US" dirty="0">
                <a:solidFill>
                  <a:schemeClr val="accent1"/>
                </a:solidFill>
              </a:rPr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EEE9E3D-96EE-4357-B4FC-733353BD5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02170" y="-953730"/>
            <a:ext cx="2098788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cs typeface="Segoe UI" panose="020B0502040204020203" pitchFamily="34" charset="0"/>
              </a:rPr>
              <a:t>For binary classification (two classes): 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12029-80C0-808F-B229-B6A2310D7D3E}"/>
              </a:ext>
            </a:extLst>
          </p:cNvPr>
          <p:cNvSpPr txBox="1"/>
          <p:nvPr/>
        </p:nvSpPr>
        <p:spPr>
          <a:xfrm rot="10800000" flipV="1">
            <a:off x="1632155" y="3785347"/>
            <a:ext cx="9311142" cy="272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569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Interpretation:</a:t>
            </a:r>
            <a:r>
              <a:rPr lang="en-US" sz="2400" b="0" i="0" dirty="0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 </a:t>
            </a:r>
            <a:endParaRPr lang="en-US" sz="2400" dirty="0">
              <a:solidFill>
                <a:schemeClr val="accent1"/>
              </a:solidFill>
              <a:latin typeface="Segoe UI" panose="020B0502040204020203" pitchFamily="34" charset="0"/>
            </a:endParaRPr>
          </a:p>
          <a:p>
            <a:pPr marL="342900" indent="-342900" algn="l" rtl="0" fontAlgn="base">
              <a:lnSpc>
                <a:spcPts val="1569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True Positive (TP):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Model predicted Positive, and it was actually Positive. </a:t>
            </a:r>
          </a:p>
          <a:p>
            <a:pPr marL="342900" indent="-342900" algn="l" rtl="0" fontAlgn="base">
              <a:lnSpc>
                <a:spcPts val="1569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True Negative (TN):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Model predicted Negative, and it was actually Negative.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indent="-342900" algn="l" rtl="0" fontAlgn="base">
              <a:lnSpc>
                <a:spcPts val="1569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False Positive (FP):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Model predicted Positive, but it was actually Negative. 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indent="-342900" algn="l" rtl="0" fontAlgn="base">
              <a:lnSpc>
                <a:spcPts val="1569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False Negative (FN):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Model predicted Negative, but it was actually Positive. </a:t>
            </a:r>
          </a:p>
          <a:p>
            <a:pPr algn="l" rtl="0" fontAlgn="base">
              <a:lnSpc>
                <a:spcPts val="1569"/>
              </a:lnSpc>
              <a:spcAft>
                <a:spcPts val="8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F320B-B472-5C2A-F301-E96FA384DCDE}"/>
              </a:ext>
            </a:extLst>
          </p:cNvPr>
          <p:cNvSpPr txBox="1"/>
          <p:nvPr/>
        </p:nvSpPr>
        <p:spPr>
          <a:xfrm>
            <a:off x="1252586" y="1527854"/>
            <a:ext cx="870154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binary classification (two classes):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9B35D-D01D-17D3-F868-01C719F9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9BDE66F5-B51A-D45F-9198-8C1B87B28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973974"/>
              </p:ext>
            </p:extLst>
          </p:nvPr>
        </p:nvGraphicFramePr>
        <p:xfrm>
          <a:off x="1950244" y="2282666"/>
          <a:ext cx="8915400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82430558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83597204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349829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 Negative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510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Positive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Negative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 Negative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False Positive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True Negative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13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46F93-982C-5957-ED09-DF943B0E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015" y="599125"/>
            <a:ext cx="8674843" cy="64044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Example</a:t>
            </a:r>
            <a:r>
              <a:rPr lang="en-US" dirty="0">
                <a:solidFill>
                  <a:schemeClr val="accent1"/>
                </a:solidFill>
              </a:rPr>
              <a:t> 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69EBA-AC6E-2358-2851-E1CB9FE40D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839752"/>
              </p:ext>
            </p:extLst>
          </p:nvPr>
        </p:nvGraphicFramePr>
        <p:xfrm>
          <a:off x="1415845" y="1386347"/>
          <a:ext cx="9792930" cy="1074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5119">
                  <a:extLst>
                    <a:ext uri="{9D8B030D-6E8A-4147-A177-3AD203B41FA5}">
                      <a16:colId xmlns:a16="http://schemas.microsoft.com/office/drawing/2014/main" val="729132229"/>
                    </a:ext>
                  </a:extLst>
                </a:gridCol>
                <a:gridCol w="2921648">
                  <a:extLst>
                    <a:ext uri="{9D8B030D-6E8A-4147-A177-3AD203B41FA5}">
                      <a16:colId xmlns:a16="http://schemas.microsoft.com/office/drawing/2014/main" val="1581742841"/>
                    </a:ext>
                  </a:extLst>
                </a:gridCol>
                <a:gridCol w="3706163">
                  <a:extLst>
                    <a:ext uri="{9D8B030D-6E8A-4147-A177-3AD203B41FA5}">
                      <a16:colId xmlns:a16="http://schemas.microsoft.com/office/drawing/2014/main" val="2989184671"/>
                    </a:ext>
                  </a:extLst>
                </a:gridCol>
              </a:tblGrid>
              <a:tr h="2602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Predicted Spam 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Predicted Not Spam 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48167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Actual Spam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90 (TP)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10 (FN) 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89744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Actual Not Spam 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15 (FP)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885 (TN) 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0879436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1B6E40C-6AAA-04D0-1E93-F9E250E6A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96055" y="-2002651"/>
            <a:ext cx="218792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Suppose we build a classifier to detect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spam emails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32D95-F668-91AD-A4FF-F52A43CE9986}"/>
              </a:ext>
            </a:extLst>
          </p:cNvPr>
          <p:cNvSpPr txBox="1"/>
          <p:nvPr/>
        </p:nvSpPr>
        <p:spPr>
          <a:xfrm>
            <a:off x="1415846" y="2667237"/>
            <a:ext cx="9891252" cy="2672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  <a:r>
              <a:rPr lang="en-US" sz="28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90 spam emails correctly detected (TP)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spam emails missed (FN)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 regular emails incorrectly marked as spam (FP)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885 regular emails correctly identified (TN)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006F4-E586-7B88-7349-8A7EA752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4129" y="745902"/>
            <a:ext cx="1071716" cy="434379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22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AD6E-C28F-DC68-A3FD-8D233076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387" y="534933"/>
            <a:ext cx="7777112" cy="709405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solidFill>
                  <a:schemeClr val="accent1"/>
                </a:solidFill>
              </a:rPr>
              <a:t>Performance Metrics from the Confusion Matrix</a:t>
            </a:r>
            <a:r>
              <a:rPr lang="en-US" sz="2700" dirty="0">
                <a:solidFill>
                  <a:schemeClr val="accent1"/>
                </a:solidFill>
              </a:rPr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A816-1EA7-4F46-A498-A8937863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142" y="1244339"/>
            <a:ext cx="10294070" cy="5184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Accuracy in the Confusion Matrix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54EE1-2333-9DDF-942C-995A5EB3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AA833-6B2C-B799-19FD-A29CE1669063}"/>
              </a:ext>
            </a:extLst>
          </p:cNvPr>
          <p:cNvSpPr txBox="1"/>
          <p:nvPr/>
        </p:nvSpPr>
        <p:spPr>
          <a:xfrm>
            <a:off x="1646546" y="2092752"/>
            <a:ext cx="10485750" cy="33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Definition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Accuracy</a:t>
            </a:r>
            <a:r>
              <a:rPr lang="en-US" sz="2400" dirty="0"/>
              <a:t> is the most commonly used metric to evaluate the performance of a classification model.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measures the </a:t>
            </a:r>
            <a:r>
              <a:rPr lang="en-US" sz="2400" b="1" dirty="0"/>
              <a:t>overall correctness</a:t>
            </a:r>
            <a:r>
              <a:rPr lang="en-US" sz="2400" dirty="0"/>
              <a:t> of the model — the proportion of all predictions that were correct.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In simple terms, accuracy tells us </a:t>
            </a:r>
            <a:r>
              <a:rPr lang="en-US" sz="2400" b="1" dirty="0"/>
              <a:t>how often the model is right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5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A0426-6882-AF8E-D66D-3E9B2542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5867C-D888-3E28-4A9D-99ED851B8278}"/>
              </a:ext>
            </a:extLst>
          </p:cNvPr>
          <p:cNvSpPr txBox="1"/>
          <p:nvPr/>
        </p:nvSpPr>
        <p:spPr>
          <a:xfrm>
            <a:off x="1979628" y="691242"/>
            <a:ext cx="2045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Formula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E3EB4-3A7B-1CC9-553B-81CE8842C8AA}"/>
              </a:ext>
            </a:extLst>
          </p:cNvPr>
          <p:cNvSpPr txBox="1"/>
          <p:nvPr/>
        </p:nvSpPr>
        <p:spPr>
          <a:xfrm>
            <a:off x="3553906" y="1135420"/>
            <a:ext cx="4732256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Accuracy= TP+TN/FP+FN+TP+TN​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9D007E-5468-1EEE-3D49-40BF00AE9E6F}"/>
              </a:ext>
            </a:extLst>
          </p:cNvPr>
          <p:cNvSpPr txBox="1"/>
          <p:nvPr/>
        </p:nvSpPr>
        <p:spPr>
          <a:xfrm>
            <a:off x="1979628" y="2168165"/>
            <a:ext cx="91911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 Where: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TP (True Positive):</a:t>
            </a:r>
            <a:r>
              <a:rPr lang="en-US" sz="2400" dirty="0"/>
              <a:t> Correctly predicted positive cases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TN (True Negative):</a:t>
            </a:r>
            <a:r>
              <a:rPr lang="en-US" sz="2400" dirty="0"/>
              <a:t> Correctly predicted negative cases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FP (False Positive):</a:t>
            </a:r>
            <a:r>
              <a:rPr lang="en-US" sz="2400" dirty="0"/>
              <a:t> Incorrectly predicted positive cases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FN (False Negative):</a:t>
            </a:r>
            <a:r>
              <a:rPr lang="en-US" sz="2400" dirty="0"/>
              <a:t> Missed positive cases</a:t>
            </a:r>
          </a:p>
        </p:txBody>
      </p:sp>
    </p:spTree>
    <p:extLst>
      <p:ext uri="{BB962C8B-B14F-4D97-AF65-F5344CB8AC3E}">
        <p14:creationId xmlns:p14="http://schemas.microsoft.com/office/powerpoint/2010/main" val="331195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7435C-B0AA-63A0-75B9-54FB2CC2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DBC68-CB18-0BF5-36DF-674631B59161}"/>
              </a:ext>
            </a:extLst>
          </p:cNvPr>
          <p:cNvSpPr txBox="1"/>
          <p:nvPr/>
        </p:nvSpPr>
        <p:spPr>
          <a:xfrm>
            <a:off x="1885361" y="176428"/>
            <a:ext cx="6603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Intuitive Meaning: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CCBE7-4978-732E-0827-CE2D94200F98}"/>
              </a:ext>
            </a:extLst>
          </p:cNvPr>
          <p:cNvSpPr txBox="1"/>
          <p:nvPr/>
        </p:nvSpPr>
        <p:spPr>
          <a:xfrm>
            <a:off x="2220011" y="787782"/>
            <a:ext cx="87150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numerator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+ TN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represents all the correct predictions.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denominator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+ TN + FP + FN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represents all predictions made.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So, accuracy gives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 of correct predictions to total predictions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C1EF74-EF21-AB68-58E0-29D34750C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91980"/>
              </p:ext>
            </p:extLst>
          </p:nvPr>
        </p:nvGraphicFramePr>
        <p:xfrm>
          <a:off x="2055045" y="3223584"/>
          <a:ext cx="8715080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815346">
                  <a:extLst>
                    <a:ext uri="{9D8B030D-6E8A-4147-A177-3AD203B41FA5}">
                      <a16:colId xmlns:a16="http://schemas.microsoft.com/office/drawing/2014/main" val="3688933202"/>
                    </a:ext>
                  </a:extLst>
                </a:gridCol>
                <a:gridCol w="2949867">
                  <a:extLst>
                    <a:ext uri="{9D8B030D-6E8A-4147-A177-3AD203B41FA5}">
                      <a16:colId xmlns:a16="http://schemas.microsoft.com/office/drawing/2014/main" val="3090350649"/>
                    </a:ext>
                  </a:extLst>
                </a:gridCol>
                <a:gridCol w="2949867">
                  <a:extLst>
                    <a:ext uri="{9D8B030D-6E8A-4147-A177-3AD203B41FA5}">
                      <a16:colId xmlns:a16="http://schemas.microsoft.com/office/drawing/2014/main" val="4289063278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Predicted: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Predicted: Negative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083894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Actual: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80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6837"/>
                  </a:ext>
                </a:extLst>
              </a:tr>
              <a:tr h="26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Actual: Negative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885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03168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1F2831-B15E-87AC-BD19-C321C668D4E1}"/>
              </a:ext>
            </a:extLst>
          </p:cNvPr>
          <p:cNvSpPr txBox="1"/>
          <p:nvPr/>
        </p:nvSpPr>
        <p:spPr>
          <a:xfrm>
            <a:off x="2535810" y="4552202"/>
            <a:ext cx="6958554" cy="913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498348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498348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Accuracy=80+885/80+885+15+20​=965/1000​=96.5%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ED7CE-790A-2693-5780-6AE2A34EAAE9}"/>
              </a:ext>
            </a:extLst>
          </p:cNvPr>
          <p:cNvSpPr txBox="1"/>
          <p:nvPr/>
        </p:nvSpPr>
        <p:spPr>
          <a:xfrm>
            <a:off x="2347273" y="5726047"/>
            <a:ext cx="8295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➡</a:t>
            </a:r>
            <a:r>
              <a:rPr lang="en-US" sz="2400" dirty="0"/>
              <a:t> The model correctly predicts </a:t>
            </a:r>
            <a:r>
              <a:rPr lang="en-US" sz="2400" b="1" dirty="0"/>
              <a:t>96.5% of all cases</a:t>
            </a:r>
            <a:r>
              <a:rPr lang="en-US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5038B-910A-7905-5B65-690F5AC8CAC0}"/>
              </a:ext>
            </a:extLst>
          </p:cNvPr>
          <p:cNvSpPr txBox="1"/>
          <p:nvPr/>
        </p:nvSpPr>
        <p:spPr>
          <a:xfrm>
            <a:off x="2055045" y="2613210"/>
            <a:ext cx="7086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69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7469C-E45F-E883-1043-B43E307E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A6B2F-00FC-B44C-01FB-F6F83C99C84A}"/>
              </a:ext>
            </a:extLst>
          </p:cNvPr>
          <p:cNvSpPr txBox="1"/>
          <p:nvPr/>
        </p:nvSpPr>
        <p:spPr>
          <a:xfrm>
            <a:off x="1677971" y="424206"/>
            <a:ext cx="94268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Advantages :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Simple and easy to interpret.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Useful when </a:t>
            </a:r>
            <a:r>
              <a:rPr lang="en-US" sz="2000" b="1" dirty="0"/>
              <a:t>classes are balanced</a:t>
            </a:r>
            <a:r>
              <a:rPr lang="en-US" sz="2000" dirty="0"/>
              <a:t> — i.e., the number of positive and negative examples are roughly equal.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Provides a quick overall view of performance.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D451A-29B0-0E5D-9B79-333F79D98D0A}"/>
              </a:ext>
            </a:extLst>
          </p:cNvPr>
          <p:cNvSpPr txBox="1"/>
          <p:nvPr/>
        </p:nvSpPr>
        <p:spPr>
          <a:xfrm>
            <a:off x="1677971" y="3535052"/>
            <a:ext cx="10096107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Limitations :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Can be misleading for imbalanced datasets.</a:t>
            </a:r>
            <a:br>
              <a:rPr lang="en-US" sz="2000" dirty="0"/>
            </a:br>
            <a:r>
              <a:rPr lang="en-US" sz="2000" dirty="0"/>
              <a:t>Example: If 95% of data are “negative,” a model predicting everything as negative achieves </a:t>
            </a:r>
            <a:r>
              <a:rPr lang="en-US" sz="2000" b="1" dirty="0"/>
              <a:t>95% accuracy</a:t>
            </a:r>
            <a:r>
              <a:rPr lang="en-US" sz="2000" dirty="0"/>
              <a:t> — but it </a:t>
            </a:r>
            <a:r>
              <a:rPr lang="en-US" sz="2000" b="1" dirty="0"/>
              <a:t>fails to detect any positives</a:t>
            </a:r>
            <a:r>
              <a:rPr lang="en-US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Doesn’t reveal </a:t>
            </a:r>
            <a:r>
              <a:rPr lang="en-US" sz="2000" b="1" dirty="0"/>
              <a:t>which class</a:t>
            </a:r>
            <a:r>
              <a:rPr lang="en-US" sz="2000" dirty="0"/>
              <a:t> the model struggles with.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Does not distinguish between </a:t>
            </a:r>
            <a:r>
              <a:rPr lang="en-US" sz="2000" b="1" dirty="0"/>
              <a:t>false positives</a:t>
            </a:r>
            <a:r>
              <a:rPr lang="en-US" sz="2000" dirty="0"/>
              <a:t> and </a:t>
            </a:r>
            <a:r>
              <a:rPr lang="en-US" sz="2000" b="1" dirty="0"/>
              <a:t>false negatives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478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3F4A3-3782-4719-AC52-681482BC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3CE1F-B0E2-DCA5-F0D0-F012F0CD693A}"/>
              </a:ext>
            </a:extLst>
          </p:cNvPr>
          <p:cNvSpPr txBox="1"/>
          <p:nvPr/>
        </p:nvSpPr>
        <p:spPr>
          <a:xfrm>
            <a:off x="1979629" y="783575"/>
            <a:ext cx="6530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Precision in the Confusion Matrix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EF216-0D5C-AE5C-B3EE-F42CAB5A6C0F}"/>
              </a:ext>
            </a:extLst>
          </p:cNvPr>
          <p:cNvSpPr txBox="1"/>
          <p:nvPr/>
        </p:nvSpPr>
        <p:spPr>
          <a:xfrm>
            <a:off x="2092750" y="3809385"/>
            <a:ext cx="7607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Formula :</a:t>
            </a:r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                      </a:t>
            </a:r>
            <a:r>
              <a:rPr lang="en-US" sz="2400" b="1" dirty="0">
                <a:solidFill>
                  <a:schemeClr val="accent4"/>
                </a:solidFill>
              </a:rPr>
              <a:t>Precision=TP/FP+TP​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77449-76ED-3428-4598-8CF3ABDD0492}"/>
              </a:ext>
            </a:extLst>
          </p:cNvPr>
          <p:cNvSpPr txBox="1"/>
          <p:nvPr/>
        </p:nvSpPr>
        <p:spPr>
          <a:xfrm>
            <a:off x="2092750" y="4772334"/>
            <a:ext cx="609442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  <a:tabLst>
                <a:tab pos="4983480" algn="l"/>
              </a:tabLst>
            </a:pPr>
            <a:r>
              <a:rPr lang="en-US" sz="24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Where:</a:t>
            </a:r>
            <a:endParaRPr lang="en-US" sz="2400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444AB-9658-15BD-E5E7-B1B7C929B6F1}"/>
              </a:ext>
            </a:extLst>
          </p:cNvPr>
          <p:cNvSpPr txBox="1"/>
          <p:nvPr/>
        </p:nvSpPr>
        <p:spPr>
          <a:xfrm>
            <a:off x="1979628" y="5349098"/>
            <a:ext cx="10953947" cy="882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TP (True Positive):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Correctly predicted positive cases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FP (False Positive):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 cases incorrectly predicted as positive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C1EFE3B-0B9B-346C-582A-8F2F678B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9546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6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C34AE1-F40F-2006-EC91-1551AC452956}"/>
              </a:ext>
            </a:extLst>
          </p:cNvPr>
          <p:cNvSpPr txBox="1"/>
          <p:nvPr/>
        </p:nvSpPr>
        <p:spPr>
          <a:xfrm>
            <a:off x="1979628" y="1508902"/>
            <a:ext cx="661290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983480" algn="l"/>
              </a:tabLst>
            </a:pPr>
            <a:r>
              <a:rPr lang="en-US" sz="2400" b="1" kern="100" dirty="0"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</a:t>
            </a:r>
            <a:endParaRPr lang="en-US" sz="2400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D98C81-EEE8-529F-A83A-8E9AC2531CFF}"/>
              </a:ext>
            </a:extLst>
          </p:cNvPr>
          <p:cNvSpPr txBox="1"/>
          <p:nvPr/>
        </p:nvSpPr>
        <p:spPr>
          <a:xfrm>
            <a:off x="1885360" y="1984918"/>
            <a:ext cx="9747316" cy="1692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 measures how accurate the positive predictions of a model are.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other words, when the model predicts something as </a:t>
            </a:r>
            <a:r>
              <a:rPr lang="en-US" sz="20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how often is it actually correct?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 focuses on the quality of positive predictions rather than their quantity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57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8C8F89-B2F0-14A7-1378-6BED08C9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007D9-998D-E1EB-3ABD-32D35E0A8D79}"/>
              </a:ext>
            </a:extLst>
          </p:cNvPr>
          <p:cNvSpPr txBox="1"/>
          <p:nvPr/>
        </p:nvSpPr>
        <p:spPr>
          <a:xfrm>
            <a:off x="1536569" y="131976"/>
            <a:ext cx="10218655" cy="3773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  <a:tabLst>
                <a:tab pos="4983480" algn="l"/>
              </a:tabLst>
            </a:pPr>
            <a:r>
              <a:rPr lang="en-US" sz="2400" b="1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Intuitive Meaning 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 answers the question:</a:t>
            </a:r>
            <a:b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“Out of all the instances the model labeled as positive, how many were truly positive?”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precision means few false positives — the model makes trustworthy positive predictions.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  <a:tab pos="4983480" algn="l"/>
              </a:tabLs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precision means many false positives — the model often predicts positives incorrectly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C49917-9DA9-5A97-B8D3-B98182D5B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40982"/>
              </p:ext>
            </p:extLst>
          </p:nvPr>
        </p:nvGraphicFramePr>
        <p:xfrm>
          <a:off x="4647414" y="3383974"/>
          <a:ext cx="6857199" cy="365760"/>
        </p:xfrm>
        <a:graphic>
          <a:graphicData uri="http://schemas.openxmlformats.org/drawingml/2006/table">
            <a:tbl>
              <a:tblPr/>
              <a:tblGrid>
                <a:gridCol w="913599">
                  <a:extLst>
                    <a:ext uri="{9D8B030D-6E8A-4147-A177-3AD203B41FA5}">
                      <a16:colId xmlns:a16="http://schemas.microsoft.com/office/drawing/2014/main" val="274637263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3228868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32558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50006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B07A41F-5571-323F-2C60-3D1857818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108207"/>
              </p:ext>
            </p:extLst>
          </p:nvPr>
        </p:nvGraphicFramePr>
        <p:xfrm>
          <a:off x="1838225" y="4374978"/>
          <a:ext cx="1021865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9">
                  <a:extLst>
                    <a:ext uri="{9D8B030D-6E8A-4147-A177-3AD203B41FA5}">
                      <a16:colId xmlns:a16="http://schemas.microsoft.com/office/drawing/2014/main" val="2716008062"/>
                    </a:ext>
                  </a:extLst>
                </a:gridCol>
                <a:gridCol w="3406219">
                  <a:extLst>
                    <a:ext uri="{9D8B030D-6E8A-4147-A177-3AD203B41FA5}">
                      <a16:colId xmlns:a16="http://schemas.microsoft.com/office/drawing/2014/main" val="54916119"/>
                    </a:ext>
                  </a:extLst>
                </a:gridCol>
                <a:gridCol w="3406219">
                  <a:extLst>
                    <a:ext uri="{9D8B030D-6E8A-4147-A177-3AD203B41FA5}">
                      <a16:colId xmlns:a16="http://schemas.microsoft.com/office/drawing/2014/main" val="2507312470"/>
                    </a:ext>
                  </a:extLst>
                </a:gridCol>
              </a:tblGrid>
              <a:tr h="35350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Predicted: 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Predicted: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351640"/>
                  </a:ext>
                </a:extLst>
              </a:tr>
              <a:tr h="353505">
                <a:tc>
                  <a:txBody>
                    <a:bodyPr/>
                    <a:lstStyle/>
                    <a:p>
                      <a:r>
                        <a:rPr lang="en-US" dirty="0"/>
                        <a:t>Actual: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10(FN)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127368"/>
                  </a:ext>
                </a:extLst>
              </a:tr>
              <a:tr h="353505">
                <a:tc>
                  <a:txBody>
                    <a:bodyPr/>
                    <a:lstStyle/>
                    <a:p>
                      <a:r>
                        <a:rPr lang="en-US" dirty="0"/>
                        <a:t>Actual: </a:t>
                      </a:r>
                      <a:r>
                        <a:rPr lang="en-US" dirty="0" err="1"/>
                        <a:t>Negetive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870(TN)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184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4110F35-3311-5EC2-3491-D3927E361B4D}"/>
              </a:ext>
            </a:extLst>
          </p:cNvPr>
          <p:cNvSpPr txBox="1"/>
          <p:nvPr/>
        </p:nvSpPr>
        <p:spPr>
          <a:xfrm>
            <a:off x="3638746" y="5581353"/>
            <a:ext cx="6607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Precision=90/30+90​=0.75=75%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4CE4B-B466-C9CF-C131-FA1C2094BB6C}"/>
              </a:ext>
            </a:extLst>
          </p:cNvPr>
          <p:cNvSpPr txBox="1"/>
          <p:nvPr/>
        </p:nvSpPr>
        <p:spPr>
          <a:xfrm>
            <a:off x="1621411" y="6070853"/>
            <a:ext cx="10570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➡</a:t>
            </a:r>
            <a:r>
              <a:rPr lang="en-US" dirty="0"/>
              <a:t> </a:t>
            </a:r>
            <a:r>
              <a:rPr lang="en-US" sz="2000" dirty="0"/>
              <a:t>The model’s positive predictions are correct </a:t>
            </a:r>
            <a:r>
              <a:rPr lang="en-US" sz="2000" b="1" dirty="0"/>
              <a:t>75% of the time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910BF-BC57-65D0-867B-17F6FC96422A}"/>
              </a:ext>
            </a:extLst>
          </p:cNvPr>
          <p:cNvSpPr txBox="1"/>
          <p:nvPr/>
        </p:nvSpPr>
        <p:spPr>
          <a:xfrm rot="10800000" flipV="1">
            <a:off x="1838225" y="3804218"/>
            <a:ext cx="7303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 :</a:t>
            </a:r>
          </a:p>
        </p:txBody>
      </p:sp>
    </p:spTree>
    <p:extLst>
      <p:ext uri="{BB962C8B-B14F-4D97-AF65-F5344CB8AC3E}">
        <p14:creationId xmlns:p14="http://schemas.microsoft.com/office/powerpoint/2010/main" val="323688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1935-39E0-CB91-2244-E934547A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398" y="707010"/>
            <a:ext cx="9817213" cy="565609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Recall in the Confusion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F1D30F-0D33-EE24-0FDA-69B06A64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03C4B-744A-E06E-232E-CA3708FD04FB}"/>
              </a:ext>
            </a:extLst>
          </p:cNvPr>
          <p:cNvSpPr txBox="1"/>
          <p:nvPr/>
        </p:nvSpPr>
        <p:spPr>
          <a:xfrm>
            <a:off x="1875934" y="1385493"/>
            <a:ext cx="7541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accent5"/>
                </a:solidFill>
              </a:rPr>
              <a:t>Definition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94B4-7FFD-82EA-4321-09E5EFF82C80}"/>
              </a:ext>
            </a:extLst>
          </p:cNvPr>
          <p:cNvSpPr txBox="1"/>
          <p:nvPr/>
        </p:nvSpPr>
        <p:spPr>
          <a:xfrm>
            <a:off x="1687398" y="1960032"/>
            <a:ext cx="99452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Recall</a:t>
            </a:r>
            <a:r>
              <a:rPr lang="en-US" sz="2400" dirty="0"/>
              <a:t> measures the model’s </a:t>
            </a:r>
            <a:r>
              <a:rPr lang="en-US" sz="2400" b="1" dirty="0"/>
              <a:t>ability to correctly identify all actual positive cases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answers the question:</a:t>
            </a:r>
            <a:br>
              <a:rPr lang="en-US" sz="2400" dirty="0"/>
            </a:br>
            <a:r>
              <a:rPr lang="en-US" sz="2400" b="1" dirty="0"/>
              <a:t>“Out of all the true positives that exist, how many did the model successfully detect?”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Recall focuses on </a:t>
            </a:r>
            <a:r>
              <a:rPr lang="en-US" sz="2400" b="1" dirty="0"/>
              <a:t>completeness</a:t>
            </a:r>
            <a:r>
              <a:rPr lang="en-US" sz="2400" dirty="0"/>
              <a:t> — how well the model finds all the relevant instances.</a:t>
            </a:r>
          </a:p>
        </p:txBody>
      </p:sp>
    </p:spTree>
    <p:extLst>
      <p:ext uri="{BB962C8B-B14F-4D97-AF65-F5344CB8AC3E}">
        <p14:creationId xmlns:p14="http://schemas.microsoft.com/office/powerpoint/2010/main" val="3226952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BC6CE-3806-B786-513C-1923C93C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40ADC-5EC3-224D-ADAD-02B935BEC92C}"/>
              </a:ext>
            </a:extLst>
          </p:cNvPr>
          <p:cNvSpPr txBox="1"/>
          <p:nvPr/>
        </p:nvSpPr>
        <p:spPr>
          <a:xfrm>
            <a:off x="2064469" y="584463"/>
            <a:ext cx="7180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Formula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E27DAF-F5F1-912A-3842-28226724F486}"/>
              </a:ext>
            </a:extLst>
          </p:cNvPr>
          <p:cNvSpPr txBox="1"/>
          <p:nvPr/>
        </p:nvSpPr>
        <p:spPr>
          <a:xfrm>
            <a:off x="3770722" y="1046128"/>
            <a:ext cx="5559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Recall= TP/FN+TP</a:t>
            </a:r>
            <a:r>
              <a:rPr lang="en-US" dirty="0"/>
              <a:t>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C004F-7D26-0D0D-FB94-92BAF4BBE107}"/>
              </a:ext>
            </a:extLst>
          </p:cNvPr>
          <p:cNvSpPr txBox="1"/>
          <p:nvPr/>
        </p:nvSpPr>
        <p:spPr>
          <a:xfrm>
            <a:off x="1941923" y="1527142"/>
            <a:ext cx="95964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Where: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 (True Positive):</a:t>
            </a:r>
            <a:r>
              <a:rPr lang="en-US" sz="2000" dirty="0"/>
              <a:t> Correctly predicted positive cases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FN (False Negative):</a:t>
            </a:r>
            <a:r>
              <a:rPr lang="en-US" sz="2000" dirty="0"/>
              <a:t> Actual positive cases that were missed by the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DA12B-93A6-7C09-6A47-E7B05055BEB9}"/>
              </a:ext>
            </a:extLst>
          </p:cNvPr>
          <p:cNvSpPr txBox="1"/>
          <p:nvPr/>
        </p:nvSpPr>
        <p:spPr>
          <a:xfrm>
            <a:off x="1960775" y="3553905"/>
            <a:ext cx="977559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Intuitive Understanding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High recall means the model is </a:t>
            </a:r>
            <a:r>
              <a:rPr lang="en-US" sz="2000" b="1" dirty="0"/>
              <a:t>good at catching positive cases</a:t>
            </a:r>
            <a:r>
              <a:rPr lang="en-US" sz="2000" dirty="0"/>
              <a:t> — it rarely misses any.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Low recall means the model </a:t>
            </a:r>
            <a:r>
              <a:rPr lang="en-US" sz="2000" b="1" dirty="0"/>
              <a:t>fails to detect many true positives</a:t>
            </a:r>
            <a:r>
              <a:rPr lang="en-US" sz="2000" dirty="0"/>
              <a:t>, producing many false negatives.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Recall is critical in situations where </a:t>
            </a:r>
            <a:r>
              <a:rPr lang="en-US" sz="2000" b="1" dirty="0"/>
              <a:t>missing a positive case has serious consequences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352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0AE6C-749F-C097-E891-20C210C6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6FFFD-C3BA-462B-3794-1FDC1FA5F9A7}"/>
              </a:ext>
            </a:extLst>
          </p:cNvPr>
          <p:cNvSpPr txBox="1"/>
          <p:nvPr/>
        </p:nvSpPr>
        <p:spPr>
          <a:xfrm>
            <a:off x="1772239" y="857837"/>
            <a:ext cx="7503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 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0C2EE5-3104-2FBD-6151-41B43BF70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714708"/>
              </p:ext>
            </p:extLst>
          </p:nvPr>
        </p:nvGraphicFramePr>
        <p:xfrm>
          <a:off x="2121031" y="1593130"/>
          <a:ext cx="9383583" cy="137631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127861">
                  <a:extLst>
                    <a:ext uri="{9D8B030D-6E8A-4147-A177-3AD203B41FA5}">
                      <a16:colId xmlns:a16="http://schemas.microsoft.com/office/drawing/2014/main" val="3709914144"/>
                    </a:ext>
                  </a:extLst>
                </a:gridCol>
                <a:gridCol w="3127861">
                  <a:extLst>
                    <a:ext uri="{9D8B030D-6E8A-4147-A177-3AD203B41FA5}">
                      <a16:colId xmlns:a16="http://schemas.microsoft.com/office/drawing/2014/main" val="905763259"/>
                    </a:ext>
                  </a:extLst>
                </a:gridCol>
                <a:gridCol w="3127861">
                  <a:extLst>
                    <a:ext uri="{9D8B030D-6E8A-4147-A177-3AD203B41FA5}">
                      <a16:colId xmlns:a16="http://schemas.microsoft.com/office/drawing/2014/main" val="1102110654"/>
                    </a:ext>
                  </a:extLst>
                </a:gridCol>
              </a:tblGrid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Negative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585948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Actual: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85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856460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Actual: Negative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890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9381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B35EB2-58C5-40A6-00E2-D6D0BD8986F8}"/>
              </a:ext>
            </a:extLst>
          </p:cNvPr>
          <p:cNvSpPr txBox="1"/>
          <p:nvPr/>
        </p:nvSpPr>
        <p:spPr>
          <a:xfrm>
            <a:off x="4498943" y="342900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Recall=85/15+85​=0.85=85%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1B843-AB59-E665-E818-B7274C2DB1BC}"/>
              </a:ext>
            </a:extLst>
          </p:cNvPr>
          <p:cNvSpPr txBox="1"/>
          <p:nvPr/>
        </p:nvSpPr>
        <p:spPr>
          <a:xfrm rot="10800000" flipV="1">
            <a:off x="2714920" y="4634172"/>
            <a:ext cx="9270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model correctly identifies </a:t>
            </a:r>
            <a:r>
              <a:rPr lang="en-US" sz="2000" b="1" dirty="0"/>
              <a:t>85% of the actual positive cases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033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0A21-2F13-D1EC-264A-66889B46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544" y="787782"/>
            <a:ext cx="9836067" cy="57910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F1 Score in the Confusion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7C2D29-2C52-8594-7924-778DDA93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7F030-5DFF-32C3-F2F0-F88388F52ABB}"/>
              </a:ext>
            </a:extLst>
          </p:cNvPr>
          <p:cNvSpPr txBox="1"/>
          <p:nvPr/>
        </p:nvSpPr>
        <p:spPr>
          <a:xfrm>
            <a:off x="1036948" y="1366887"/>
            <a:ext cx="111550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accent5"/>
                </a:solidFill>
              </a:rPr>
              <a:t>Definition :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</a:t>
            </a:r>
            <a:r>
              <a:rPr lang="en-US" sz="2400" b="1" dirty="0"/>
              <a:t>F1 Score</a:t>
            </a:r>
            <a:r>
              <a:rPr lang="en-US" sz="2400" dirty="0"/>
              <a:t> is a metric that combines </a:t>
            </a:r>
            <a:r>
              <a:rPr lang="en-US" sz="2400" b="1" dirty="0"/>
              <a:t>Precision</a:t>
            </a:r>
            <a:r>
              <a:rPr lang="en-US" sz="2400" dirty="0"/>
              <a:t> and </a:t>
            </a:r>
            <a:r>
              <a:rPr lang="en-US" sz="2400" b="1" dirty="0"/>
              <a:t>Recall</a:t>
            </a:r>
            <a:r>
              <a:rPr lang="en-US" sz="2400" dirty="0"/>
              <a:t> into a </a:t>
            </a:r>
            <a:r>
              <a:rPr lang="en-US" sz="2400" b="1" dirty="0"/>
              <a:t>single value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It represents the </a:t>
            </a:r>
            <a:r>
              <a:rPr lang="en-US" sz="2400" b="1" dirty="0"/>
              <a:t>balance between the model’s ability to detect positive cases (Recall)</a:t>
            </a:r>
            <a:r>
              <a:rPr lang="en-US" sz="2400" dirty="0"/>
              <a:t> and its </a:t>
            </a:r>
            <a:r>
              <a:rPr lang="en-US" sz="2400" b="1" dirty="0"/>
              <a:t>accuracy in predicting positives (Precision)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F1 Score is especially useful when you need to </a:t>
            </a:r>
            <a:r>
              <a:rPr lang="en-US" sz="2400" b="1" dirty="0"/>
              <a:t>find a balance between false positives and false negatives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456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16FBBF-BCF5-D95C-DA41-4CA4BF5A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3100A-3977-085F-03C6-26AE1BA052D7}"/>
              </a:ext>
            </a:extLst>
          </p:cNvPr>
          <p:cNvSpPr txBox="1"/>
          <p:nvPr/>
        </p:nvSpPr>
        <p:spPr>
          <a:xfrm>
            <a:off x="1923068" y="787782"/>
            <a:ext cx="69451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Formula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C4B52-9EAC-8FB0-FCA8-A57879E387E8}"/>
              </a:ext>
            </a:extLst>
          </p:cNvPr>
          <p:cNvSpPr txBox="1"/>
          <p:nvPr/>
        </p:nvSpPr>
        <p:spPr>
          <a:xfrm>
            <a:off x="2960016" y="1319753"/>
            <a:ext cx="63984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F1 Score=2×(</a:t>
            </a:r>
            <a:r>
              <a:rPr lang="en-US" sz="2000" b="1" dirty="0" err="1">
                <a:solidFill>
                  <a:schemeClr val="accent4"/>
                </a:solidFill>
              </a:rPr>
              <a:t>Precision×Recall</a:t>
            </a:r>
            <a:r>
              <a:rPr lang="en-US" sz="2000" b="1" dirty="0">
                <a:solidFill>
                  <a:schemeClr val="accent4"/>
                </a:solidFill>
              </a:rPr>
              <a:t>)/(Precision + Recall)​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BC2F1-D822-9738-1F71-BED02E6DAFC6}"/>
              </a:ext>
            </a:extLst>
          </p:cNvPr>
          <p:cNvSpPr txBox="1"/>
          <p:nvPr/>
        </p:nvSpPr>
        <p:spPr>
          <a:xfrm>
            <a:off x="1857080" y="1880119"/>
            <a:ext cx="97661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Where: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0DEB6-7D43-FE75-60C4-62661099138E}"/>
              </a:ext>
            </a:extLst>
          </p:cNvPr>
          <p:cNvSpPr txBox="1"/>
          <p:nvPr/>
        </p:nvSpPr>
        <p:spPr>
          <a:xfrm>
            <a:off x="2752627" y="2375555"/>
            <a:ext cx="707953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Precision=TP/FP+TP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​,      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Recall=TP/FN+TP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683E8-7957-9E1C-BED4-E060157B0D1B}"/>
              </a:ext>
            </a:extLst>
          </p:cNvPr>
          <p:cNvSpPr txBox="1"/>
          <p:nvPr/>
        </p:nvSpPr>
        <p:spPr>
          <a:xfrm>
            <a:off x="1857080" y="3018892"/>
            <a:ext cx="1008668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Understanding the Concept 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The F1 Score is the </a:t>
            </a:r>
            <a:r>
              <a:rPr lang="en-US" sz="2000" b="1" dirty="0"/>
              <a:t>harmonic mean</a:t>
            </a:r>
            <a:r>
              <a:rPr lang="en-US" sz="2000" dirty="0"/>
              <a:t> of Precision and Recall — not a simple average.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The harmonic mean is used because it </a:t>
            </a:r>
            <a:r>
              <a:rPr lang="en-US" sz="2000" b="1" dirty="0"/>
              <a:t>penalizes extreme differences</a:t>
            </a:r>
            <a:r>
              <a:rPr lang="en-US" sz="2000" dirty="0"/>
              <a:t> between Precision and Recall.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 model only gets a </a:t>
            </a:r>
            <a:r>
              <a:rPr lang="en-US" sz="2000" b="1" dirty="0"/>
              <a:t>high F1 Score</a:t>
            </a:r>
            <a:r>
              <a:rPr lang="en-US" sz="2000" dirty="0"/>
              <a:t> if both Precision and Recall are </a:t>
            </a:r>
            <a:r>
              <a:rPr lang="en-US" sz="2000" b="1" dirty="0"/>
              <a:t>reasonably high</a:t>
            </a:r>
            <a:r>
              <a:rPr lang="en-US" sz="20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➡ </a:t>
            </a:r>
            <a:r>
              <a:rPr lang="en-US" sz="2000" b="1" dirty="0"/>
              <a:t>If either Precision or Recall is low, the F1 Score drops significantly.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660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EBFEC5-DBE7-31AB-E4B8-14A9E276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5F1B6-1260-08DD-9E5F-41A50F6B58D1}"/>
              </a:ext>
            </a:extLst>
          </p:cNvPr>
          <p:cNvSpPr txBox="1"/>
          <p:nvPr/>
        </p:nvSpPr>
        <p:spPr>
          <a:xfrm>
            <a:off x="1857080" y="787782"/>
            <a:ext cx="70960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 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A051EA-529D-83BE-796B-B2553FB13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62073"/>
              </p:ext>
            </p:extLst>
          </p:nvPr>
        </p:nvGraphicFramePr>
        <p:xfrm>
          <a:off x="2337847" y="1249447"/>
          <a:ext cx="9166767" cy="139948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55589">
                  <a:extLst>
                    <a:ext uri="{9D8B030D-6E8A-4147-A177-3AD203B41FA5}">
                      <a16:colId xmlns:a16="http://schemas.microsoft.com/office/drawing/2014/main" val="732421189"/>
                    </a:ext>
                  </a:extLst>
                </a:gridCol>
                <a:gridCol w="3055589">
                  <a:extLst>
                    <a:ext uri="{9D8B030D-6E8A-4147-A177-3AD203B41FA5}">
                      <a16:colId xmlns:a16="http://schemas.microsoft.com/office/drawing/2014/main" val="3632888643"/>
                    </a:ext>
                  </a:extLst>
                </a:gridCol>
                <a:gridCol w="3055589">
                  <a:extLst>
                    <a:ext uri="{9D8B030D-6E8A-4147-A177-3AD203B41FA5}">
                      <a16:colId xmlns:a16="http://schemas.microsoft.com/office/drawing/2014/main" val="1246454529"/>
                    </a:ext>
                  </a:extLst>
                </a:gridCol>
              </a:tblGrid>
              <a:tr h="46649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Negative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293554"/>
                  </a:ext>
                </a:extLst>
              </a:tr>
              <a:tr h="46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Actual: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623158"/>
                  </a:ext>
                </a:extLst>
              </a:tr>
              <a:tr h="466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Actual: Negative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890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3071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5334292-C5B4-167F-1A03-A01A90D0E60C}"/>
              </a:ext>
            </a:extLst>
          </p:cNvPr>
          <p:cNvSpPr txBox="1"/>
          <p:nvPr/>
        </p:nvSpPr>
        <p:spPr>
          <a:xfrm>
            <a:off x="3271101" y="2994836"/>
            <a:ext cx="7752746" cy="919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Precision=80/10+80​=0.89               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Recall=80/20+80​=0.80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8F02A-462E-7C7F-35FC-5AEEC4214DDE}"/>
              </a:ext>
            </a:extLst>
          </p:cNvPr>
          <p:cNvSpPr txBox="1"/>
          <p:nvPr/>
        </p:nvSpPr>
        <p:spPr>
          <a:xfrm rot="10800000" flipV="1">
            <a:off x="3638745" y="4262043"/>
            <a:ext cx="7041821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F1 Score=2×(0.89+0.80)/(0.89×0.80)​=0.84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6B3E8-B9AE-0DA3-0DEE-A7F8E07076A4}"/>
              </a:ext>
            </a:extLst>
          </p:cNvPr>
          <p:cNvSpPr txBox="1"/>
          <p:nvPr/>
        </p:nvSpPr>
        <p:spPr>
          <a:xfrm>
            <a:off x="1781665" y="5022365"/>
            <a:ext cx="10410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F1 Score is </a:t>
            </a:r>
            <a:r>
              <a:rPr lang="en-US" sz="2400" b="1" dirty="0"/>
              <a:t>0.84</a:t>
            </a:r>
            <a:r>
              <a:rPr lang="en-US" sz="2400" dirty="0"/>
              <a:t>, showing that the model maintains a good balance between precision and recall.</a:t>
            </a:r>
          </a:p>
        </p:txBody>
      </p:sp>
    </p:spTree>
    <p:extLst>
      <p:ext uri="{BB962C8B-B14F-4D97-AF65-F5344CB8AC3E}">
        <p14:creationId xmlns:p14="http://schemas.microsoft.com/office/powerpoint/2010/main" val="352767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DC03F-7AAF-ACCF-B55E-24EC9D14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 Sensitivity (Recall) in the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97ACA-FB03-01E7-BDE9-5BBE51626C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Definition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Sensitivity</a:t>
            </a:r>
            <a:r>
              <a:rPr lang="en-US" sz="2400" dirty="0"/>
              <a:t>, also called </a:t>
            </a:r>
            <a:r>
              <a:rPr lang="en-US" sz="2400" b="1" dirty="0"/>
              <a:t>Recall</a:t>
            </a:r>
            <a:r>
              <a:rPr lang="en-US" sz="2400" dirty="0"/>
              <a:t> or the </a:t>
            </a:r>
            <a:r>
              <a:rPr lang="en-US" sz="2400" b="1" dirty="0"/>
              <a:t>True Positive Rate (TPR)</a:t>
            </a:r>
            <a:r>
              <a:rPr lang="en-US" sz="2400" dirty="0"/>
              <a:t>, measures the </a:t>
            </a:r>
            <a:r>
              <a:rPr lang="en-US" sz="2400" b="1" dirty="0"/>
              <a:t>ability of a model to correctly identify positive cases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It focuses on </a:t>
            </a:r>
            <a:r>
              <a:rPr lang="en-US" sz="2400" b="1" dirty="0"/>
              <a:t>how many actual positives were captured</a:t>
            </a:r>
            <a:r>
              <a:rPr lang="en-US" sz="2400" dirty="0"/>
              <a:t> by the model.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6C15C-C268-DA32-2CF2-A6967E00F9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Formula :</a:t>
            </a:r>
          </a:p>
          <a:p>
            <a:pPr marL="0" indent="0">
              <a:buNone/>
            </a:pPr>
            <a:r>
              <a:rPr lang="en-US" sz="2400" b="1" dirty="0"/>
              <a:t>  </a:t>
            </a:r>
            <a:r>
              <a:rPr lang="en-US" sz="2400" dirty="0"/>
              <a:t>Sensitivity (Recall)=  TP/FN+TP</a:t>
            </a:r>
          </a:p>
          <a:p>
            <a:pPr marL="0" indent="0">
              <a:buNone/>
            </a:pPr>
            <a:r>
              <a:rPr lang="en-US" sz="2400" b="1" dirty="0"/>
              <a:t>     </a:t>
            </a:r>
            <a:r>
              <a:rPr lang="en-US" sz="2400" b="1" dirty="0">
                <a:solidFill>
                  <a:schemeClr val="accent1"/>
                </a:solidFill>
              </a:rPr>
              <a:t>Where: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TP (True Positive)</a:t>
            </a:r>
            <a:r>
              <a:rPr lang="en-US" sz="2400" dirty="0"/>
              <a:t> → Correctly predicted positive samples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FN (False Negative)</a:t>
            </a:r>
            <a:r>
              <a:rPr lang="en-US" sz="2400" dirty="0"/>
              <a:t> → Actual positives missed by the model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771E3-4372-5D65-AB99-9E0D6A74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95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DBBFB-FAD8-3D74-1B41-15EF47CF1947}"/>
              </a:ext>
            </a:extLst>
          </p:cNvPr>
          <p:cNvSpPr txBox="1"/>
          <p:nvPr/>
        </p:nvSpPr>
        <p:spPr>
          <a:xfrm>
            <a:off x="1527142" y="292232"/>
            <a:ext cx="1054859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Interpretation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High </a:t>
            </a:r>
            <a:r>
              <a:rPr lang="en-US" sz="2000" b="1" dirty="0"/>
              <a:t>sensitivity</a:t>
            </a:r>
            <a:r>
              <a:rPr lang="en-US" sz="2000" dirty="0"/>
              <a:t> means the model successfully detects </a:t>
            </a:r>
            <a:r>
              <a:rPr lang="en-US" sz="2000" b="1" dirty="0"/>
              <a:t>most of the true positives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Low </a:t>
            </a:r>
            <a:r>
              <a:rPr lang="en-US" sz="2000" b="1" dirty="0"/>
              <a:t>sensitivity</a:t>
            </a:r>
            <a:r>
              <a:rPr lang="en-US" sz="2000" dirty="0"/>
              <a:t> means the model </a:t>
            </a:r>
            <a:r>
              <a:rPr lang="en-US" sz="2000" b="1" dirty="0"/>
              <a:t>misses many positive cases</a:t>
            </a:r>
            <a:r>
              <a:rPr lang="en-US" sz="2000" dirty="0"/>
              <a:t> (i.e., a high number of false negatives).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C58D41-F167-CCB1-9BE0-DEB78AC97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63864"/>
              </p:ext>
            </p:extLst>
          </p:nvPr>
        </p:nvGraphicFramePr>
        <p:xfrm>
          <a:off x="1197204" y="2894029"/>
          <a:ext cx="9728461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342249">
                  <a:extLst>
                    <a:ext uri="{9D8B030D-6E8A-4147-A177-3AD203B41FA5}">
                      <a16:colId xmlns:a16="http://schemas.microsoft.com/office/drawing/2014/main" val="2810142996"/>
                    </a:ext>
                  </a:extLst>
                </a:gridCol>
                <a:gridCol w="3693106">
                  <a:extLst>
                    <a:ext uri="{9D8B030D-6E8A-4147-A177-3AD203B41FA5}">
                      <a16:colId xmlns:a16="http://schemas.microsoft.com/office/drawing/2014/main" val="3836552485"/>
                    </a:ext>
                  </a:extLst>
                </a:gridCol>
                <a:gridCol w="3693106">
                  <a:extLst>
                    <a:ext uri="{9D8B030D-6E8A-4147-A177-3AD203B41FA5}">
                      <a16:colId xmlns:a16="http://schemas.microsoft.com/office/drawing/2014/main" val="2278030621"/>
                    </a:ext>
                  </a:extLst>
                </a:gridCol>
              </a:tblGrid>
              <a:tr h="3393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Predicted: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Negative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631196"/>
                  </a:ext>
                </a:extLst>
              </a:tr>
              <a:tr h="339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Actual: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90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97406"/>
                  </a:ext>
                </a:extLst>
              </a:tr>
              <a:tr h="339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Actual: Negative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885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8854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2D7607-09CC-F1AE-AF64-394C8C9E1C32}"/>
              </a:ext>
            </a:extLst>
          </p:cNvPr>
          <p:cNvSpPr txBox="1"/>
          <p:nvPr/>
        </p:nvSpPr>
        <p:spPr>
          <a:xfrm>
            <a:off x="1527142" y="1985004"/>
            <a:ext cx="9247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>
              <a:buNone/>
            </a:pPr>
            <a:r>
              <a:rPr lang="en-US" sz="2000" dirty="0"/>
              <a:t>Suppose a medical test predicts whether a patient has a disease: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191F4-8775-CAC6-764D-1DB669D3E8FB}"/>
              </a:ext>
            </a:extLst>
          </p:cNvPr>
          <p:cNvSpPr txBox="1"/>
          <p:nvPr/>
        </p:nvSpPr>
        <p:spPr>
          <a:xfrm>
            <a:off x="3638747" y="4310901"/>
            <a:ext cx="5250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Sensitivity= 90/10+90​=0.9=90%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C45CC-0850-B784-3619-43405ACD7CBC}"/>
              </a:ext>
            </a:extLst>
          </p:cNvPr>
          <p:cNvSpPr txBox="1"/>
          <p:nvPr/>
        </p:nvSpPr>
        <p:spPr>
          <a:xfrm>
            <a:off x="1197204" y="4980353"/>
            <a:ext cx="9238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➡</a:t>
            </a:r>
            <a:r>
              <a:rPr lang="en-US" dirty="0"/>
              <a:t> </a:t>
            </a:r>
            <a:r>
              <a:rPr lang="en-US" sz="2400" dirty="0"/>
              <a:t>The model correctly identifies </a:t>
            </a:r>
            <a:r>
              <a:rPr lang="en-US" sz="2400" b="1" dirty="0"/>
              <a:t>90% of patients who actually have the disease</a:t>
            </a:r>
            <a:r>
              <a:rPr lang="en-US" sz="2400" dirty="0"/>
              <a:t>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01F0601-A9BC-A36A-6092-6271A7BE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11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7993-71AD-1E41-4505-598AE1FB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62022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Specificity in the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A5D2F-4DDC-8FFF-C6AA-21089D91A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3579" y="1517715"/>
            <a:ext cx="4659497" cy="43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Definition 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Specificity</a:t>
            </a:r>
            <a:r>
              <a:rPr lang="en-US" sz="2000" dirty="0"/>
              <a:t>, also known as the </a:t>
            </a:r>
            <a:r>
              <a:rPr lang="en-US" sz="2000" b="1" dirty="0"/>
              <a:t>True Negative Rate (TNR)</a:t>
            </a:r>
            <a:r>
              <a:rPr lang="en-US" sz="2000" dirty="0"/>
              <a:t>, measures the </a:t>
            </a:r>
            <a:r>
              <a:rPr lang="en-US" sz="2000" b="1" dirty="0"/>
              <a:t>ability of a model to correctly identify negative cases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It tells us </a:t>
            </a:r>
            <a:r>
              <a:rPr lang="en-US" sz="2000" b="1" dirty="0"/>
              <a:t>how well the model avoids false alarms</a:t>
            </a:r>
            <a:r>
              <a:rPr lang="en-US" sz="2000" dirty="0"/>
              <a:t> — i.e., correctly predicting negatives as negatives.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3E148-5429-932D-CD87-8CEB9DDC3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5114" y="1510337"/>
            <a:ext cx="4659497" cy="439350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Formula :</a:t>
            </a:r>
          </a:p>
          <a:p>
            <a:pPr marL="0" indent="0">
              <a:buNone/>
            </a:pPr>
            <a:r>
              <a:rPr lang="en-US" sz="2000" dirty="0"/>
              <a:t>           Specificity= TN/FP+TN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</a:t>
            </a:r>
            <a:r>
              <a:rPr lang="en-US" sz="2400" b="1" dirty="0">
                <a:solidFill>
                  <a:schemeClr val="accent1"/>
                </a:solidFill>
              </a:rPr>
              <a:t>Where: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TN (True Negative):</a:t>
            </a:r>
            <a:r>
              <a:rPr lang="en-US" sz="2000" dirty="0"/>
              <a:t> Correctly predicted negative cases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FP (False Positive):</a:t>
            </a:r>
            <a:r>
              <a:rPr lang="en-US" sz="2000" dirty="0"/>
              <a:t> Actual negatives incorrectly predicted as positives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1DD0F-B3AE-7F5E-97C0-FB6D01D3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04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D77A7A-7549-C59F-AD77-DBFFD637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77A5C-47D4-D180-FCE6-644DE39819F9}"/>
              </a:ext>
            </a:extLst>
          </p:cNvPr>
          <p:cNvSpPr txBox="1"/>
          <p:nvPr/>
        </p:nvSpPr>
        <p:spPr>
          <a:xfrm>
            <a:off x="1706252" y="254524"/>
            <a:ext cx="900259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Interpretation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dirty="0"/>
              <a:t>high specificity</a:t>
            </a:r>
            <a:r>
              <a:rPr lang="en-US" sz="2000" dirty="0"/>
              <a:t> means the model </a:t>
            </a:r>
            <a:r>
              <a:rPr lang="en-US" sz="2000" b="1" dirty="0"/>
              <a:t>rarely misclassifies negatives as positives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A </a:t>
            </a:r>
            <a:r>
              <a:rPr lang="en-US" sz="2000" b="1" dirty="0"/>
              <a:t>low specificity</a:t>
            </a:r>
            <a:r>
              <a:rPr lang="en-US" sz="2000" dirty="0"/>
              <a:t> means the model </a:t>
            </a:r>
            <a:r>
              <a:rPr lang="en-US" sz="2000" b="1" dirty="0"/>
              <a:t>frequently raises false alarms</a:t>
            </a:r>
            <a:r>
              <a:rPr lang="en-US" sz="2000" dirty="0"/>
              <a:t> (many false positives).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F1F396-5F47-CCF9-BD0A-E3CF85207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975789"/>
              </p:ext>
            </p:extLst>
          </p:nvPr>
        </p:nvGraphicFramePr>
        <p:xfrm>
          <a:off x="1545996" y="3233395"/>
          <a:ext cx="10439388" cy="137631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479796">
                  <a:extLst>
                    <a:ext uri="{9D8B030D-6E8A-4147-A177-3AD203B41FA5}">
                      <a16:colId xmlns:a16="http://schemas.microsoft.com/office/drawing/2014/main" val="3407522860"/>
                    </a:ext>
                  </a:extLst>
                </a:gridCol>
                <a:gridCol w="3479796">
                  <a:extLst>
                    <a:ext uri="{9D8B030D-6E8A-4147-A177-3AD203B41FA5}">
                      <a16:colId xmlns:a16="http://schemas.microsoft.com/office/drawing/2014/main" val="3200028548"/>
                    </a:ext>
                  </a:extLst>
                </a:gridCol>
                <a:gridCol w="3479796">
                  <a:extLst>
                    <a:ext uri="{9D8B030D-6E8A-4147-A177-3AD203B41FA5}">
                      <a16:colId xmlns:a16="http://schemas.microsoft.com/office/drawing/2014/main" val="313041547"/>
                    </a:ext>
                  </a:extLst>
                </a:gridCol>
              </a:tblGrid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Positive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Predicted: Negative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63495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Actual: Positive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45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34006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Actual: Negative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925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1175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8B45ED4-C7DF-A7B4-0322-1A586612E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996" y="2403920"/>
            <a:ext cx="1323521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Scenario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Screening test for a rare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9A745-D1B4-2713-9955-313F765D218A}"/>
              </a:ext>
            </a:extLst>
          </p:cNvPr>
          <p:cNvSpPr txBox="1"/>
          <p:nvPr/>
        </p:nvSpPr>
        <p:spPr>
          <a:xfrm rot="10800000" flipV="1">
            <a:off x="3384221" y="4741635"/>
            <a:ext cx="6080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Specificity=925/25+925​=0.97=97%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9BA5F-F267-96E5-2539-6B9BBF174D27}"/>
              </a:ext>
            </a:extLst>
          </p:cNvPr>
          <p:cNvSpPr txBox="1"/>
          <p:nvPr/>
        </p:nvSpPr>
        <p:spPr>
          <a:xfrm>
            <a:off x="1187777" y="5439183"/>
            <a:ext cx="10642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➡ </a:t>
            </a:r>
            <a:r>
              <a:rPr lang="en-US" sz="2400" dirty="0"/>
              <a:t>The test correctly identifies </a:t>
            </a:r>
            <a:r>
              <a:rPr lang="en-US" sz="2400" b="1" dirty="0"/>
              <a:t>97% of healthy individuals</a:t>
            </a:r>
            <a:r>
              <a:rPr lang="en-US" sz="2400" dirty="0"/>
              <a:t> as disease-free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7518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C1CC-D21E-2CA3-7AEE-ADB6083E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666" y="688157"/>
            <a:ext cx="9722945" cy="5844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TPR, FPR, TNR, and FNR in the Confusion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3531DC-6FF8-D74C-4965-2BDECF0E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6B82A-CC4E-6144-DC99-56B8CD028359}"/>
              </a:ext>
            </a:extLst>
          </p:cNvPr>
          <p:cNvSpPr txBox="1"/>
          <p:nvPr/>
        </p:nvSpPr>
        <p:spPr>
          <a:xfrm>
            <a:off x="1602557" y="1272619"/>
            <a:ext cx="10444899" cy="528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Overview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In classification problems, the confusion matrix helps us calculate several </a:t>
            </a:r>
            <a:r>
              <a:rPr lang="en-US" sz="2400" b="1" dirty="0"/>
              <a:t>performance ratios</a:t>
            </a:r>
            <a:r>
              <a:rPr lang="en-US" sz="2400" dirty="0"/>
              <a:t> that measure how well the model distinguishes between positive and negative classes.</a:t>
            </a:r>
            <a:br>
              <a:rPr lang="en-US" sz="2400" dirty="0"/>
            </a:br>
            <a:r>
              <a:rPr lang="en-US" sz="2400" dirty="0"/>
              <a:t>The four key ratios are: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TPR (True Positive Rate)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FPR (False Positive Rate)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TNR (True Negative Rate)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FNR (False Negative Rate)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Each of these metrics captures a different aspect of the model’s decision-making behavior.</a:t>
            </a:r>
          </a:p>
        </p:txBody>
      </p:sp>
    </p:spTree>
    <p:extLst>
      <p:ext uri="{BB962C8B-B14F-4D97-AF65-F5344CB8AC3E}">
        <p14:creationId xmlns:p14="http://schemas.microsoft.com/office/powerpoint/2010/main" val="2989621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B5020E-4937-AABF-0BA7-C970A37C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A8593-0705-E124-91B4-FFEB7E7CF18F}"/>
              </a:ext>
            </a:extLst>
          </p:cNvPr>
          <p:cNvSpPr txBox="1"/>
          <p:nvPr/>
        </p:nvSpPr>
        <p:spPr>
          <a:xfrm>
            <a:off x="2224726" y="787782"/>
            <a:ext cx="6916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 True Positive Rate (TPR) – Sensitivity / Recall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F3E03-3CCD-1E92-829B-68B4DAFEC4AF}"/>
              </a:ext>
            </a:extLst>
          </p:cNvPr>
          <p:cNvSpPr txBox="1"/>
          <p:nvPr/>
        </p:nvSpPr>
        <p:spPr>
          <a:xfrm>
            <a:off x="2130458" y="1536570"/>
            <a:ext cx="701118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                                      </a:t>
            </a:r>
            <a:r>
              <a:rPr lang="en-US" sz="2400" b="1" dirty="0">
                <a:solidFill>
                  <a:schemeClr val="accent4"/>
                </a:solidFill>
              </a:rPr>
              <a:t>TPR=TP/FN+TP​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000" dirty="0"/>
              <a:t>Also called </a:t>
            </a:r>
            <a:r>
              <a:rPr lang="en-US" sz="2000" b="1" dirty="0"/>
              <a:t>Sensitivity</a:t>
            </a:r>
            <a:r>
              <a:rPr lang="en-US" sz="2000" dirty="0"/>
              <a:t> or </a:t>
            </a:r>
            <a:r>
              <a:rPr lang="en-US" sz="2000" b="1" dirty="0"/>
              <a:t>Recall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Measures how many actual positives are </a:t>
            </a:r>
            <a:r>
              <a:rPr lang="en-US" sz="2000" b="1" dirty="0"/>
              <a:t>correctly identified</a:t>
            </a:r>
            <a:r>
              <a:rPr lang="en-US" sz="2000" dirty="0"/>
              <a:t> by the model.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Indicates the model’s </a:t>
            </a:r>
            <a:r>
              <a:rPr lang="en-US" sz="2000" b="1" dirty="0"/>
              <a:t>ability to detect positive instances</a:t>
            </a:r>
            <a:r>
              <a:rPr lang="en-US" sz="2000" dirty="0"/>
              <a:t>.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Example:</a:t>
            </a:r>
            <a:br>
              <a:rPr lang="en-US" sz="2000" dirty="0"/>
            </a:br>
            <a:r>
              <a:rPr lang="en-US" sz="2000" dirty="0"/>
              <a:t>In a disease detection test: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If TPR = 0.90 → The model correctly identifies 90% of sick patients.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High TPR</a:t>
            </a:r>
            <a:r>
              <a:rPr lang="en-US" sz="2000" dirty="0"/>
              <a:t> means fewer missed positives (low false negatives).</a:t>
            </a:r>
          </a:p>
        </p:txBody>
      </p:sp>
    </p:spTree>
    <p:extLst>
      <p:ext uri="{BB962C8B-B14F-4D97-AF65-F5344CB8AC3E}">
        <p14:creationId xmlns:p14="http://schemas.microsoft.com/office/powerpoint/2010/main" val="3875286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BC59B-5089-89E6-1442-FD16B085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FA913-6F03-3BEB-C088-52EBA6598C28}"/>
              </a:ext>
            </a:extLst>
          </p:cNvPr>
          <p:cNvSpPr txBox="1"/>
          <p:nvPr/>
        </p:nvSpPr>
        <p:spPr>
          <a:xfrm>
            <a:off x="1847654" y="787782"/>
            <a:ext cx="7048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2. False Positive Rate (FPR)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785A6-8D32-A3B5-C553-829D96BC0B6F}"/>
              </a:ext>
            </a:extLst>
          </p:cNvPr>
          <p:cNvSpPr txBox="1"/>
          <p:nvPr/>
        </p:nvSpPr>
        <p:spPr>
          <a:xfrm>
            <a:off x="3940404" y="1249448"/>
            <a:ext cx="5201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FPR=FP/TN+FP​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BC6FB33-C096-9FCA-FCF1-C1D263026DA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06631" y="1709139"/>
            <a:ext cx="108371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many actual negatives are incorrectly labeled as positives.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rate of false alarms — how often the model wrongly predicts “positive.”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36043-FE4E-B710-EEA9-D31C1442D0FD}"/>
              </a:ext>
            </a:extLst>
          </p:cNvPr>
          <p:cNvSpPr txBox="1"/>
          <p:nvPr/>
        </p:nvSpPr>
        <p:spPr>
          <a:xfrm>
            <a:off x="1206632" y="3429000"/>
            <a:ext cx="103694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/>
              <a:t>In fraud detection: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FPR = 0.05 → 5% of genuine transactions are flagged as fraudulent.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Low FPR</a:t>
            </a:r>
            <a:r>
              <a:rPr lang="en-US" sz="2400" dirty="0"/>
              <a:t> is important when false alarms are costly or annoying to users.</a:t>
            </a:r>
          </a:p>
        </p:txBody>
      </p:sp>
    </p:spTree>
    <p:extLst>
      <p:ext uri="{BB962C8B-B14F-4D97-AF65-F5344CB8AC3E}">
        <p14:creationId xmlns:p14="http://schemas.microsoft.com/office/powerpoint/2010/main" val="1350343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96264A-1AEA-548D-3AD3-3CA693C0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8C0D3-D6DA-921E-9F11-CF076C7B36B4}"/>
              </a:ext>
            </a:extLst>
          </p:cNvPr>
          <p:cNvSpPr txBox="1"/>
          <p:nvPr/>
        </p:nvSpPr>
        <p:spPr>
          <a:xfrm>
            <a:off x="1630838" y="787782"/>
            <a:ext cx="7510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3. True Negative Rate (TNR) – Specificity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1469A-79D1-23F6-901A-A8B386A91DC8}"/>
              </a:ext>
            </a:extLst>
          </p:cNvPr>
          <p:cNvSpPr txBox="1"/>
          <p:nvPr/>
        </p:nvSpPr>
        <p:spPr>
          <a:xfrm>
            <a:off x="4176073" y="1470582"/>
            <a:ext cx="4965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TNR=TN/FP+TN​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BBE495A-0812-1F4B-9ACF-C8CCE1FED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790" y="1854818"/>
            <a:ext cx="1098222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called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many actual negatives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correctly identified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negative.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model’s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reject false positives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D2F14-E3DA-EB97-FC14-D12FB624A192}"/>
              </a:ext>
            </a:extLst>
          </p:cNvPr>
          <p:cNvSpPr txBox="1"/>
          <p:nvPr/>
        </p:nvSpPr>
        <p:spPr>
          <a:xfrm rot="10800000" flipV="1">
            <a:off x="1311579" y="3949630"/>
            <a:ext cx="102739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If TNR = 0.95 → 95% of healthy patients are correctly classified as not having the disease.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/>
              <a:t>High TNR</a:t>
            </a:r>
            <a:r>
              <a:rPr lang="en-US" sz="2000" dirty="0"/>
              <a:t> means the model rarely raises false alarms.</a:t>
            </a:r>
          </a:p>
        </p:txBody>
      </p:sp>
    </p:spTree>
    <p:extLst>
      <p:ext uri="{BB962C8B-B14F-4D97-AF65-F5344CB8AC3E}">
        <p14:creationId xmlns:p14="http://schemas.microsoft.com/office/powerpoint/2010/main" val="123255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34B01E-5E9B-E337-86F8-E2E5F9E7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68D07-4ADB-B197-9251-A6DFA10ED71A}"/>
              </a:ext>
            </a:extLst>
          </p:cNvPr>
          <p:cNvSpPr txBox="1"/>
          <p:nvPr/>
        </p:nvSpPr>
        <p:spPr>
          <a:xfrm>
            <a:off x="1885361" y="787782"/>
            <a:ext cx="7256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4. False Negative Rate (FNR)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3A78B-9FF0-BCAD-93FF-C048C8340A78}"/>
              </a:ext>
            </a:extLst>
          </p:cNvPr>
          <p:cNvSpPr txBox="1"/>
          <p:nvPr/>
        </p:nvSpPr>
        <p:spPr>
          <a:xfrm>
            <a:off x="4242060" y="1397102"/>
            <a:ext cx="5455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FNR=FN/TP+FN​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DC57070-27DD-8BFC-BA89-1A927201B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04" y="2124240"/>
            <a:ext cx="113310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many actual positives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incorrectly predicted as negatives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important positive cases the model misses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EB20A-F789-DDCC-EB30-F6B34E64CA0F}"/>
              </a:ext>
            </a:extLst>
          </p:cNvPr>
          <p:cNvSpPr txBox="1"/>
          <p:nvPr/>
        </p:nvSpPr>
        <p:spPr>
          <a:xfrm>
            <a:off x="1140643" y="3324570"/>
            <a:ext cx="7689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34635-6AE2-8B46-025A-AAC0AA034A5F}"/>
              </a:ext>
            </a:extLst>
          </p:cNvPr>
          <p:cNvSpPr txBox="1"/>
          <p:nvPr/>
        </p:nvSpPr>
        <p:spPr>
          <a:xfrm rot="10800000" flipV="1">
            <a:off x="669304" y="3677063"/>
            <a:ext cx="112367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In a cancer screening test:</a:t>
            </a:r>
          </a:p>
          <a:p>
            <a:pPr>
              <a:buNone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FNR = 0.10 → 10% of patients who have cancer are not detected by the model.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Low FNR</a:t>
            </a:r>
            <a:r>
              <a:rPr lang="en-US" sz="2400" dirty="0"/>
              <a:t> is crucial when missing a positive case is dangerous or costly.</a:t>
            </a:r>
          </a:p>
        </p:txBody>
      </p:sp>
    </p:spTree>
    <p:extLst>
      <p:ext uri="{BB962C8B-B14F-4D97-AF65-F5344CB8AC3E}">
        <p14:creationId xmlns:p14="http://schemas.microsoft.com/office/powerpoint/2010/main" val="4066732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3A599F-D014-6512-989E-49A9456F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5759F-3128-EFD6-2057-794A22E82C54}"/>
              </a:ext>
            </a:extLst>
          </p:cNvPr>
          <p:cNvSpPr txBox="1"/>
          <p:nvPr/>
        </p:nvSpPr>
        <p:spPr>
          <a:xfrm>
            <a:off x="3996965" y="254524"/>
            <a:ext cx="3337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4502A-3AAB-49DB-E8AA-A01C682B891D}"/>
              </a:ext>
            </a:extLst>
          </p:cNvPr>
          <p:cNvSpPr txBox="1"/>
          <p:nvPr/>
        </p:nvSpPr>
        <p:spPr>
          <a:xfrm>
            <a:off x="2007909" y="942680"/>
            <a:ext cx="2912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Research Papers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78613-6734-A5B5-7020-BB4333AB4454}"/>
              </a:ext>
            </a:extLst>
          </p:cNvPr>
          <p:cNvSpPr txBox="1"/>
          <p:nvPr/>
        </p:nvSpPr>
        <p:spPr>
          <a:xfrm>
            <a:off x="2460396" y="1555423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https://www.sciencedirect.com/science/article/abs/pii/S095219762200046X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027E7-D4AB-87FF-580B-8CE00B6DA246}"/>
              </a:ext>
            </a:extLst>
          </p:cNvPr>
          <p:cNvSpPr txBox="1"/>
          <p:nvPr/>
        </p:nvSpPr>
        <p:spPr>
          <a:xfrm>
            <a:off x="2498102" y="2582944"/>
            <a:ext cx="89931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https://www.researchgate.net/publication/265077297_RESEARCH_PAPER_ON_CLUSTER_TECHNIQUES_OF_DATA_VARIATIONS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05B41-8129-292E-467C-E20958A1BA20}"/>
              </a:ext>
            </a:extLst>
          </p:cNvPr>
          <p:cNvSpPr txBox="1"/>
          <p:nvPr/>
        </p:nvSpPr>
        <p:spPr>
          <a:xfrm>
            <a:off x="1923069" y="3902697"/>
            <a:ext cx="3459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Research Books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6B729-60AC-296C-4A59-A900C67D5AB4}"/>
              </a:ext>
            </a:extLst>
          </p:cNvPr>
          <p:cNvSpPr txBox="1"/>
          <p:nvPr/>
        </p:nvSpPr>
        <p:spPr>
          <a:xfrm>
            <a:off x="2460396" y="4487159"/>
            <a:ext cx="87763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Unsupervised Machine Learning for Clustering in Political and Social Research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by Phillip D. Waggoner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5D1835-CE82-8002-1E09-CE990FF06864}"/>
              </a:ext>
            </a:extLst>
          </p:cNvPr>
          <p:cNvSpPr txBox="1"/>
          <p:nvPr/>
        </p:nvSpPr>
        <p:spPr>
          <a:xfrm>
            <a:off x="2432115" y="5429839"/>
            <a:ext cx="90685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Wingdings" panose="05000000000000000000" pitchFamily="2" charset="2"/>
              <a:buChar char="q"/>
            </a:pPr>
            <a:r>
              <a:rPr lang="en-US" sz="2400" b="1" i="0" dirty="0">
                <a:solidFill>
                  <a:srgbClr val="333333"/>
                </a:solidFill>
                <a:effectLst/>
              </a:rPr>
              <a:t>Model-Based Clustering and Classification for Data Science</a:t>
            </a:r>
            <a:r>
              <a:rPr lang="en-US" sz="2400" b="1" dirty="0">
                <a:solidFill>
                  <a:srgbClr val="333333"/>
                </a:solidFill>
              </a:rPr>
              <a:t>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By Charles </a:t>
            </a:r>
            <a:r>
              <a:rPr lang="en-US" sz="2400" b="0" i="0" dirty="0" err="1">
                <a:solidFill>
                  <a:srgbClr val="333333"/>
                </a:solidFill>
                <a:effectLst/>
              </a:rPr>
              <a:t>Bouveyron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, Gilles </a:t>
            </a:r>
            <a:r>
              <a:rPr lang="en-US" sz="2400" b="0" i="0" dirty="0" err="1">
                <a:solidFill>
                  <a:srgbClr val="333333"/>
                </a:solidFill>
                <a:effectLst/>
              </a:rPr>
              <a:t>Celeux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, T. Brendan Murphy, Adrian E. Raftery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1399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47AD08-4758-6A21-ECB4-ABF60A30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FFCB9-F1FE-47A1-9EC5-D0BC8FC67B6F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8D0F6-0091-8BE7-60A6-9FD4A867ADF6}"/>
              </a:ext>
            </a:extLst>
          </p:cNvPr>
          <p:cNvSpPr txBox="1"/>
          <p:nvPr/>
        </p:nvSpPr>
        <p:spPr>
          <a:xfrm>
            <a:off x="2441542" y="1602557"/>
            <a:ext cx="7871382" cy="156966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36669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1194</TotalTime>
  <Words>2115</Words>
  <Application>Microsoft Office PowerPoint</Application>
  <PresentationFormat>Widescreen</PresentationFormat>
  <Paragraphs>327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Arial</vt:lpstr>
      <vt:lpstr>Calibri</vt:lpstr>
      <vt:lpstr>Century Gothic</vt:lpstr>
      <vt:lpstr>Segoe UI</vt:lpstr>
      <vt:lpstr>Wingdings</vt:lpstr>
      <vt:lpstr>Wingdings 3</vt:lpstr>
      <vt:lpstr>Wisp</vt:lpstr>
      <vt:lpstr>🎓 Confusion Matrix in Machine Learning </vt:lpstr>
      <vt:lpstr>What is Classification in Machine Learning </vt:lpstr>
      <vt:lpstr>Definition of a Confusion Matrix </vt:lpstr>
      <vt:lpstr> Structure of a Confusion Matrix  </vt:lpstr>
      <vt:lpstr>Example : </vt:lpstr>
      <vt:lpstr>Performance Metrics from the Confusion Matrix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 in the Confusion Matrix</vt:lpstr>
      <vt:lpstr>PowerPoint Presentation</vt:lpstr>
      <vt:lpstr>PowerPoint Presentation</vt:lpstr>
      <vt:lpstr>F1 Score in the Confusion Matrix</vt:lpstr>
      <vt:lpstr>PowerPoint Presentation</vt:lpstr>
      <vt:lpstr>PowerPoint Presentation</vt:lpstr>
      <vt:lpstr> Sensitivity (Recall) in the Confusion Matrix</vt:lpstr>
      <vt:lpstr>PowerPoint Presentation</vt:lpstr>
      <vt:lpstr>Specificity in the Confusion Matrix</vt:lpstr>
      <vt:lpstr>PowerPoint Presentation</vt:lpstr>
      <vt:lpstr>TPR, FPR, TNR, and FNR in the Confusion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reddy</dc:creator>
  <cp:lastModifiedBy>Vamsi Krishna</cp:lastModifiedBy>
  <cp:revision>78</cp:revision>
  <dcterms:created xsi:type="dcterms:W3CDTF">2025-10-08T11:10:03Z</dcterms:created>
  <dcterms:modified xsi:type="dcterms:W3CDTF">2026-01-05T08:13:02Z</dcterms:modified>
</cp:coreProperties>
</file>