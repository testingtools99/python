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5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7BDD75-450D-486B-AD4D-DDFA432E683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D4C938-1524-4383-AFA3-0D0EFB138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133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20827C59-EBF2-4A47-BB9A-5D0E8CAE1E2F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84EC1A89-E591-441B-A4AC-116037CC8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884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7A352-D815-4302-B6A0-422258FB59CA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C1A89-E591-441B-A4AC-116037CC8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445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4BBBB-BFF7-4ECE-A6B3-D90BE195EE56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C1A89-E591-441B-A4AC-116037CC8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263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459B1-0E75-44F3-8CAD-FBB78A67ADD2}" type="datetime1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C1A89-E591-441B-A4AC-116037CC8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37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886CE-B55A-452A-8A82-42244DBBB8B5}" type="datetime1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C1A89-E591-441B-A4AC-116037CC8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348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23A2B-8EA9-44D4-8126-4809E383D505}" type="datetime1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C1A89-E591-441B-A4AC-116037CC8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606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79B75-4496-4176-8A8B-83083169E529}" type="datetime1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C1A89-E591-441B-A4AC-116037CC8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489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35C76-A3C4-4307-B5E1-ED0003CA145A}" type="datetime1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C1A89-E591-441B-A4AC-116037CC8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80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B32D6-F87C-41FB-94A9-D84790AEBB1B}" type="datetime1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C1A89-E591-441B-A4AC-116037CC8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413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F1CD-6EF8-45F4-BADA-19ED3164138E}" type="datetime1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C1A89-E591-441B-A4AC-116037CC8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90774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F1CD-6EF8-45F4-BADA-19ED3164138E}" type="datetime1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C1A89-E591-441B-A4AC-116037CC8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27938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F1CD-6EF8-45F4-BADA-19ED3164138E}" type="datetime1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C1A89-E591-441B-A4AC-116037CC852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4456932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F1CD-6EF8-45F4-BADA-19ED3164138E}" type="datetime1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C1A89-E591-441B-A4AC-116037CC8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89236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F1CD-6EF8-45F4-BADA-19ED3164138E}" type="datetime1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C1A89-E591-441B-A4AC-116037CC8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3482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F1CD-6EF8-45F4-BADA-19ED3164138E}" type="datetime1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C1A89-E591-441B-A4AC-116037CC8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920878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8044B-747D-4967-9ABF-A878895A14FB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C1A89-E591-441B-A4AC-116037CC8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5412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C75D8-71DB-4762-8C1F-BC2640FE9172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C1A89-E591-441B-A4AC-116037CC8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6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AF1CD-6EF8-45F4-BADA-19ED3164138E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EC1A89-E591-441B-A4AC-116037CC8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9080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  <p:sldLayoutId id="2147483770" r:id="rId15"/>
    <p:sldLayoutId id="2147483771" r:id="rId16"/>
    <p:sldLayoutId id="2147483772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F1142-BBB7-7CF4-F139-DECFD86A25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+mn-lt"/>
              </a:rPr>
              <a:t>Logistic Regression Algorithm in Machine Learning</a:t>
            </a:r>
            <a:br>
              <a:rPr lang="en-US" b="1" dirty="0">
                <a:latin typeface="+mn-lt"/>
              </a:rPr>
            </a:br>
            <a:endParaRPr lang="en-US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587E17-B220-8E19-E00B-3FB46C9E5A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/>
              <a:t>    A comprehensive guide to understanding one of the most powerful classification algorithms in data science</a:t>
            </a:r>
          </a:p>
          <a:p>
            <a:pPr algn="ctr">
              <a:lnSpc>
                <a:spcPct val="150000"/>
              </a:lnSpc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85E3F6-9FC2-C23E-80F8-7A77E5F9F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C1A89-E591-441B-A4AC-116037CC852E}" type="slidenum">
              <a:rPr lang="en-US" sz="4000" b="1" smtClean="0"/>
              <a:t>1</a:t>
            </a:fld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633508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1402EC-2FF0-85B8-6AE5-BEA5BAF84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C1A89-E591-441B-A4AC-116037CC852E}" type="slidenum">
              <a:rPr lang="en-US" sz="4000" b="1" smtClean="0"/>
              <a:t>2</a:t>
            </a:fld>
            <a:endParaRPr lang="en-US" sz="4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70D451-5499-598B-FADD-65573651A5D9}"/>
              </a:ext>
            </a:extLst>
          </p:cNvPr>
          <p:cNvSpPr txBox="1"/>
          <p:nvPr/>
        </p:nvSpPr>
        <p:spPr>
          <a:xfrm>
            <a:off x="1527142" y="226243"/>
            <a:ext cx="63630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u="sng" dirty="0"/>
              <a:t>What is Logistic Regression?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097308-88E8-C6E3-587F-84A6253ED790}"/>
              </a:ext>
            </a:extLst>
          </p:cNvPr>
          <p:cNvSpPr txBox="1"/>
          <p:nvPr/>
        </p:nvSpPr>
        <p:spPr>
          <a:xfrm>
            <a:off x="1517715" y="886120"/>
            <a:ext cx="968132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Logistic Regression is a </a:t>
            </a:r>
            <a:r>
              <a:rPr lang="en-US" sz="2400" b="1" dirty="0"/>
              <a:t>supervised machine learning algorithm</a:t>
            </a:r>
            <a:r>
              <a:rPr lang="en-US" sz="2400" dirty="0"/>
              <a:t> specifically designed for classification problems. Unlike its name suggests, it's not used for regression tasks but for predicting categorical outcomes.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95EB50-C147-CF02-3268-9E7C5709C614}"/>
              </a:ext>
            </a:extLst>
          </p:cNvPr>
          <p:cNvSpPr txBox="1"/>
          <p:nvPr/>
        </p:nvSpPr>
        <p:spPr>
          <a:xfrm>
            <a:off x="1451729" y="2686640"/>
            <a:ext cx="9144000" cy="1694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The algorithm predicts the </a:t>
            </a:r>
            <a:r>
              <a:rPr lang="en-US" sz="2400" dirty="0">
                <a:effectLst/>
              </a:rPr>
              <a:t>probability</a:t>
            </a:r>
            <a:r>
              <a:rPr lang="en-US" sz="2400" dirty="0"/>
              <a:t> that an input belongs to a specific class, such as Yes/No, True/False, or 0/1. This probabilistic approach makes it incredibly valuable for decision-making scenarios.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3133F4-1968-C779-FB66-5FA314849AB6}"/>
              </a:ext>
            </a:extLst>
          </p:cNvPr>
          <p:cNvSpPr txBox="1"/>
          <p:nvPr/>
        </p:nvSpPr>
        <p:spPr>
          <a:xfrm>
            <a:off x="1470581" y="4647414"/>
            <a:ext cx="9030879" cy="1694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What sets Logistic Regression apart from linear regression is its output: it produces probabilities between 0 and 1, not continuous values, making it perfect for binary and multi-class classification tasks.</a:t>
            </a:r>
          </a:p>
        </p:txBody>
      </p:sp>
    </p:spTree>
    <p:extLst>
      <p:ext uri="{BB962C8B-B14F-4D97-AF65-F5344CB8AC3E}">
        <p14:creationId xmlns:p14="http://schemas.microsoft.com/office/powerpoint/2010/main" val="2959766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A450A5-689C-A532-81B3-21D3F735E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C1A89-E591-441B-A4AC-116037CC852E}" type="slidenum">
              <a:rPr lang="en-US" sz="4000" b="1" smtClean="0"/>
              <a:t>3</a:t>
            </a:fld>
            <a:endParaRPr lang="en-US" sz="4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501913-AE06-D019-CFDE-50494580C59E}"/>
              </a:ext>
            </a:extLst>
          </p:cNvPr>
          <p:cNvSpPr txBox="1"/>
          <p:nvPr/>
        </p:nvSpPr>
        <p:spPr>
          <a:xfrm>
            <a:off x="1932495" y="141403"/>
            <a:ext cx="81541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u="sng" dirty="0"/>
              <a:t>Linear Regression vs Logistic Regression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C8856A8-A4A7-DA73-414C-C7EB628159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857723"/>
              </p:ext>
            </p:extLst>
          </p:nvPr>
        </p:nvGraphicFramePr>
        <p:xfrm>
          <a:off x="933254" y="782425"/>
          <a:ext cx="10624007" cy="452791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712058">
                  <a:extLst>
                    <a:ext uri="{9D8B030D-6E8A-4147-A177-3AD203B41FA5}">
                      <a16:colId xmlns:a16="http://schemas.microsoft.com/office/drawing/2014/main" val="3929648246"/>
                    </a:ext>
                  </a:extLst>
                </a:gridCol>
                <a:gridCol w="4341133">
                  <a:extLst>
                    <a:ext uri="{9D8B030D-6E8A-4147-A177-3AD203B41FA5}">
                      <a16:colId xmlns:a16="http://schemas.microsoft.com/office/drawing/2014/main" val="3976662201"/>
                    </a:ext>
                  </a:extLst>
                </a:gridCol>
                <a:gridCol w="3570816">
                  <a:extLst>
                    <a:ext uri="{9D8B030D-6E8A-4147-A177-3AD203B41FA5}">
                      <a16:colId xmlns:a16="http://schemas.microsoft.com/office/drawing/2014/main" val="2100779619"/>
                    </a:ext>
                  </a:extLst>
                </a:gridCol>
              </a:tblGrid>
              <a:tr h="504554">
                <a:tc>
                  <a:txBody>
                    <a:bodyPr/>
                    <a:lstStyle/>
                    <a:p>
                      <a:r>
                        <a:rPr lang="en-US" sz="2000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Logistic Regression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196693"/>
                  </a:ext>
                </a:extLst>
              </a:tr>
              <a:tr h="802402">
                <a:tc>
                  <a:txBody>
                    <a:bodyPr/>
                    <a:lstStyle/>
                    <a:p>
                      <a:r>
                        <a:rPr lang="en-US" sz="2000" dirty="0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Predicts continuous numerical outcomes</a:t>
                      </a:r>
                    </a:p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Predicts categorical class membership</a:t>
                      </a:r>
                    </a:p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8285175"/>
                  </a:ext>
                </a:extLst>
              </a:tr>
              <a:tr h="802402">
                <a:tc>
                  <a:txBody>
                    <a:bodyPr/>
                    <a:lstStyle/>
                    <a:p>
                      <a:r>
                        <a:rPr lang="en-US" sz="2000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House prices, temperature, stock values</a:t>
                      </a:r>
                    </a:p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Spam detection, disease diagnosis</a:t>
                      </a:r>
                    </a:p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768968"/>
                  </a:ext>
                </a:extLst>
              </a:tr>
              <a:tr h="802402">
                <a:tc>
                  <a:txBody>
                    <a:bodyPr/>
                    <a:lstStyle/>
                    <a:p>
                      <a:r>
                        <a:rPr lang="en-US" sz="2000" dirty="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Any real number from -∞ to +∞</a:t>
                      </a:r>
                    </a:p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Probability values between 0 and 1</a:t>
                      </a:r>
                    </a:p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758815"/>
                  </a:ext>
                </a:extLst>
              </a:tr>
              <a:tr h="802402">
                <a:tc>
                  <a:txBody>
                    <a:bodyPr/>
                    <a:lstStyle/>
                    <a:p>
                      <a:r>
                        <a:rPr lang="en-US" sz="2000" dirty="0"/>
                        <a:t>Best 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Forecasting and trend analysis</a:t>
                      </a:r>
                    </a:p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Classification and decision-making</a:t>
                      </a:r>
                    </a:p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35110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6462772-2C29-4916-FCB2-1B1948F2A4B1}"/>
              </a:ext>
            </a:extLst>
          </p:cNvPr>
          <p:cNvSpPr txBox="1"/>
          <p:nvPr/>
        </p:nvSpPr>
        <p:spPr>
          <a:xfrm rot="10800000" flipV="1">
            <a:off x="867266" y="5442169"/>
            <a:ext cx="98510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The key differentiator: </a:t>
            </a:r>
            <a:r>
              <a:rPr lang="en-US" sz="2400" dirty="0"/>
              <a:t>Logistic Regression uses the </a:t>
            </a:r>
            <a:r>
              <a:rPr lang="en-US" sz="2400" dirty="0">
                <a:effectLst/>
              </a:rPr>
              <a:t>sigmoid function</a:t>
            </a:r>
            <a:r>
              <a:rPr lang="en-US" sz="2400" dirty="0"/>
              <a:t> to transform linear predictions into probabilities, constraining outputs to a meaningful 0-1 range for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2065871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B1031D-118D-EB76-29B3-BC5C65D96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C1A89-E591-441B-A4AC-116037CC852E}" type="slidenum">
              <a:rPr lang="en-US" sz="4000" b="1" smtClean="0"/>
              <a:t>4</a:t>
            </a:fld>
            <a:endParaRPr lang="en-US" sz="4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1D6F22-9A70-E396-CEA0-2C5C5020E09F}"/>
              </a:ext>
            </a:extLst>
          </p:cNvPr>
          <p:cNvSpPr txBox="1"/>
          <p:nvPr/>
        </p:nvSpPr>
        <p:spPr>
          <a:xfrm>
            <a:off x="1659117" y="282804"/>
            <a:ext cx="88989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u="sng" dirty="0"/>
              <a:t>The Sigmoid Function: Heart of Logistic Regression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D08180-BBC7-39C2-18C8-ED036F480274}"/>
              </a:ext>
            </a:extLst>
          </p:cNvPr>
          <p:cNvSpPr txBox="1"/>
          <p:nvPr/>
        </p:nvSpPr>
        <p:spPr>
          <a:xfrm>
            <a:off x="1772239" y="1065229"/>
            <a:ext cx="91722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  The sigmoid function is the mathematical engine that powers Logistic Regression, converting any real-valued number into a probability between 0 and 1.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A2F4DDF-D6A4-8E6F-FAE3-AD4889FEC0C7}"/>
                  </a:ext>
                </a:extLst>
              </p:cNvPr>
              <p:cNvSpPr txBox="1"/>
              <p:nvPr/>
            </p:nvSpPr>
            <p:spPr>
              <a:xfrm>
                <a:off x="1866507" y="2375555"/>
                <a:ext cx="8578392" cy="38524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dirty="0"/>
                  <a:t>  Its formula is: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ar-AE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ar-AE" sz="2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ar-AE" sz="2400" dirty="0"/>
              </a:p>
              <a:p>
                <a:pPr>
                  <a:lnSpc>
                    <a:spcPct val="150000"/>
                  </a:lnSpc>
                </a:pPr>
                <a:r>
                  <a:rPr lang="en-US" sz="2400" b="1" dirty="0"/>
                  <a:t>   Here: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/>
                  <a:t>is the input (can be any real number, positive or negative).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sz="2400" dirty="0"/>
                  <a:t>is the base of the natural logarithm (~2.718).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sz="2400" dirty="0"/>
                  <a:t>is the output — always between 0 and 1.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A2F4DDF-D6A4-8E6F-FAE3-AD4889FEC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507" y="2375555"/>
                <a:ext cx="8578392" cy="3852465"/>
              </a:xfrm>
              <a:prstGeom prst="rect">
                <a:avLst/>
              </a:prstGeom>
              <a:blipFill>
                <a:blip r:embed="rId2"/>
                <a:stretch>
                  <a:fillRect l="-924" b="-2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3945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0CF329-0768-A644-A8DF-256EA989D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C1A89-E591-441B-A4AC-116037CC852E}" type="slidenum">
              <a:rPr lang="en-US" sz="4000" b="1" smtClean="0"/>
              <a:t>5</a:t>
            </a:fld>
            <a:endParaRPr lang="en-US" sz="4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0CF3A9-FBBC-E79D-B4DB-F8BCA6D664A3}"/>
              </a:ext>
            </a:extLst>
          </p:cNvPr>
          <p:cNvSpPr txBox="1"/>
          <p:nvPr/>
        </p:nvSpPr>
        <p:spPr>
          <a:xfrm>
            <a:off x="1395167" y="216816"/>
            <a:ext cx="77417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u="sng" dirty="0"/>
              <a:t>Probability Mapping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F2F168-D8C7-6D74-EAE5-49BF97198BE0}"/>
              </a:ext>
            </a:extLst>
          </p:cNvPr>
          <p:cNvSpPr txBox="1"/>
          <p:nvPr/>
        </p:nvSpPr>
        <p:spPr>
          <a:xfrm>
            <a:off x="1480008" y="999241"/>
            <a:ext cx="900259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800" dirty="0"/>
              <a:t>Takes linear combination of features (z) and outputs probability P(Y=1)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F5C104-A0AC-87E8-22F2-EB1F8D89A5D8}"/>
              </a:ext>
            </a:extLst>
          </p:cNvPr>
          <p:cNvSpPr txBox="1"/>
          <p:nvPr/>
        </p:nvSpPr>
        <p:spPr>
          <a:xfrm>
            <a:off x="1498862" y="1913641"/>
            <a:ext cx="9049731" cy="39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b="1" dirty="0"/>
              <a:t>Probability mapping</a:t>
            </a:r>
            <a:r>
              <a:rPr lang="en-US" sz="2800" dirty="0"/>
              <a:t> means </a:t>
            </a:r>
            <a:r>
              <a:rPr lang="en-US" sz="2800" b="1" dirty="0"/>
              <a:t>converting raw model scores (outputs)</a:t>
            </a:r>
            <a:r>
              <a:rPr lang="en-US" sz="2800" dirty="0"/>
              <a:t> — which could be any real numbers — into </a:t>
            </a:r>
            <a:r>
              <a:rPr lang="en-US" sz="2800" b="1" dirty="0"/>
              <a:t>probabilities</a:t>
            </a:r>
            <a:r>
              <a:rPr lang="en-US" sz="2800" dirty="0"/>
              <a:t> between 0 and 1.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/>
              <a:t>In simpler terms, it’s the process of turning “how confident the model is” into a </a:t>
            </a:r>
            <a:r>
              <a:rPr lang="en-US" sz="2800" b="1" dirty="0"/>
              <a:t>probabilistic interpretation</a:t>
            </a:r>
            <a:r>
              <a:rPr lang="en-US" sz="2800" dirty="0"/>
              <a:t> like:  “This email has a 0.87 probability of being spam.”</a:t>
            </a:r>
          </a:p>
        </p:txBody>
      </p:sp>
    </p:spTree>
    <p:extLst>
      <p:ext uri="{BB962C8B-B14F-4D97-AF65-F5344CB8AC3E}">
        <p14:creationId xmlns:p14="http://schemas.microsoft.com/office/powerpoint/2010/main" val="1979399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78FF22-5DF0-5EDE-DFFD-4D61CF4CE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C1A89-E591-441B-A4AC-116037CC852E}" type="slidenum">
              <a:rPr lang="en-US" sz="4000" b="1" smtClean="0"/>
              <a:t>6</a:t>
            </a:fld>
            <a:endParaRPr lang="en-US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1FB1292-1E28-0CAC-CCD2-E8B84DF7D135}"/>
                  </a:ext>
                </a:extLst>
              </p:cNvPr>
              <p:cNvSpPr txBox="1"/>
              <p:nvPr/>
            </p:nvSpPr>
            <p:spPr>
              <a:xfrm>
                <a:off x="1131216" y="1159497"/>
                <a:ext cx="9558780" cy="41163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q"/>
                </a:pPr>
                <a:r>
                  <a:rPr lang="en-US" sz="2400" dirty="0"/>
                  <a:t>In </a:t>
                </a:r>
                <a:r>
                  <a:rPr lang="en-US" sz="2400" b="1" dirty="0"/>
                  <a:t>logistic regression</a:t>
                </a:r>
                <a:r>
                  <a:rPr lang="en-US" sz="2400" dirty="0"/>
                  <a:t>, we start by calculating a </a:t>
                </a:r>
                <a:r>
                  <a:rPr lang="en-US" sz="2400" b="1" dirty="0"/>
                  <a:t>linear score</a:t>
                </a:r>
                <a:r>
                  <a:rPr lang="en-US" sz="2400" dirty="0"/>
                  <a:t> from the input features: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sz="24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24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sz="2400" i="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ar-AE" sz="2400" dirty="0"/>
              </a:p>
              <a:p>
                <a:pPr>
                  <a:buNone/>
                </a:pPr>
                <a:r>
                  <a:rPr lang="en-US" sz="2400" dirty="0"/>
                  <a:t>Here: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are the input features (like age, salary, temperature, etc.)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are the model weights learned during training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/>
                  <a:t>is a </a:t>
                </a:r>
                <a:r>
                  <a:rPr lang="en-US" sz="2400" b="1" dirty="0"/>
                  <a:t>raw score</a:t>
                </a:r>
                <a:r>
                  <a:rPr lang="en-US" sz="2400" dirty="0"/>
                  <a:t> that could be any real number (−∞ to +∞)</a:t>
                </a:r>
              </a:p>
              <a:p>
                <a:pPr>
                  <a:buNone/>
                </a:pPr>
                <a:r>
                  <a:rPr lang="en-US" sz="2400" dirty="0"/>
                  <a:t>But this raw score isn’t yet interpretable as a probability.</a:t>
                </a:r>
              </a:p>
              <a:p>
                <a:pPr>
                  <a:buNone/>
                </a:pPr>
                <a:r>
                  <a:rPr lang="en-US" sz="2400" dirty="0"/>
                  <a:t>To </a:t>
                </a:r>
                <a:r>
                  <a:rPr lang="en-US" sz="2400" b="1" dirty="0"/>
                  <a:t>map it into a probability</a:t>
                </a:r>
                <a:r>
                  <a:rPr lang="en-US" sz="2400" dirty="0"/>
                  <a:t>, we pass it through the </a:t>
                </a:r>
                <a:r>
                  <a:rPr lang="en-US" sz="2400" b="1" dirty="0"/>
                  <a:t>sigmoid function</a:t>
                </a:r>
                <a:r>
                  <a:rPr lang="en-US" sz="2400" dirty="0"/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ar-AE" sz="2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ar-AE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1FB1292-1E28-0CAC-CCD2-E8B84DF7D1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216" y="1159497"/>
                <a:ext cx="9558780" cy="4116383"/>
              </a:xfrm>
              <a:prstGeom prst="rect">
                <a:avLst/>
              </a:prstGeom>
              <a:blipFill>
                <a:blip r:embed="rId2"/>
                <a:stretch>
                  <a:fillRect l="-1020" t="-1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8B2F621-462A-923F-F52F-7E2D5FBA526B}"/>
              </a:ext>
            </a:extLst>
          </p:cNvPr>
          <p:cNvSpPr txBox="1"/>
          <p:nvPr/>
        </p:nvSpPr>
        <p:spPr>
          <a:xfrm>
            <a:off x="1602557" y="380444"/>
            <a:ext cx="75343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/>
              <a:t>How It Happens in 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7846E7-82D8-151A-6D5C-EAC6D69BB30A}"/>
                  </a:ext>
                </a:extLst>
              </p:cNvPr>
              <p:cNvSpPr txBox="1"/>
              <p:nvPr/>
            </p:nvSpPr>
            <p:spPr>
              <a:xfrm>
                <a:off x="1178351" y="5165889"/>
                <a:ext cx="8917755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dirty="0"/>
                  <a:t>This mapping takes the raw value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/>
                  <a:t>and </a:t>
                </a:r>
                <a:r>
                  <a:rPr lang="en-US" sz="2400" b="1" dirty="0"/>
                  <a:t>compresses</a:t>
                </a:r>
                <a:r>
                  <a:rPr lang="en-US" sz="2400" dirty="0"/>
                  <a:t> it into the range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ar-AE" sz="2400" dirty="0"/>
                  <a:t>.</a:t>
                </a:r>
              </a:p>
              <a:p>
                <a:pPr>
                  <a:buNone/>
                </a:pPr>
                <a:r>
                  <a:rPr lang="en-US" sz="2400" dirty="0"/>
                  <a:t>That’s the essence of </a:t>
                </a:r>
                <a:r>
                  <a:rPr lang="en-US" sz="2400" b="1" dirty="0"/>
                  <a:t>probability mapping</a:t>
                </a:r>
                <a:r>
                  <a:rPr lang="en-US" sz="2400" dirty="0"/>
                  <a:t> — translating model outputs into meaningful probabilities.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7846E7-82D8-151A-6D5C-EAC6D69BB3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351" y="5165889"/>
                <a:ext cx="8917755" cy="1569660"/>
              </a:xfrm>
              <a:prstGeom prst="rect">
                <a:avLst/>
              </a:prstGeom>
              <a:blipFill>
                <a:blip r:embed="rId3"/>
                <a:stretch>
                  <a:fillRect l="-1025" t="-3101" r="-1162" b="-7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6838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1CCB46-0A9D-9B77-D0F3-C69170969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1450623" cy="365125"/>
          </a:xfrm>
        </p:spPr>
        <p:txBody>
          <a:bodyPr/>
          <a:lstStyle/>
          <a:p>
            <a:fld id="{84EC1A89-E591-441B-A4AC-116037CC852E}" type="slidenum">
              <a:rPr lang="en-US" sz="4000" b="1" smtClean="0"/>
              <a:t>7</a:t>
            </a:fld>
            <a:endParaRPr lang="en-US" sz="4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3CF67F-9D3D-B58B-F3B8-2F350EAB7A9D}"/>
              </a:ext>
            </a:extLst>
          </p:cNvPr>
          <p:cNvSpPr txBox="1"/>
          <p:nvPr/>
        </p:nvSpPr>
        <p:spPr>
          <a:xfrm>
            <a:off x="1291473" y="84842"/>
            <a:ext cx="78454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/>
              <a:t>Why It’s Important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88CBE80-95C4-9A83-3CDC-83DAC3EE891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35290" y="408350"/>
            <a:ext cx="10331776" cy="6126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Makes predictions interpretable: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Instead of abstract numbers, we get probabilities — something humans can easily understand and act 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Supports threshold-based decisions: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You can choose a threshold (say 0.5) to classify data: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</a:rPr>
              <a:t>If P≥0.5  → Class 1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</a:rPr>
              <a:t>If P&lt;0.5  → Class 0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threshold can also be adjusted (for example, in medical diagnosis, we might use 0.3 to be more sensitive).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Allows ranking by confidence: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Probabilities can show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how confident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model is, not just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what class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it  predicts.</a:t>
            </a:r>
          </a:p>
        </p:txBody>
      </p:sp>
    </p:spTree>
    <p:extLst>
      <p:ext uri="{BB962C8B-B14F-4D97-AF65-F5344CB8AC3E}">
        <p14:creationId xmlns:p14="http://schemas.microsoft.com/office/powerpoint/2010/main" val="2900280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914B90-348B-4E16-9581-B3B572DDD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C1A89-E591-441B-A4AC-116037CC852E}" type="slidenum">
              <a:rPr lang="en-US" sz="4000" b="1" smtClean="0"/>
              <a:t>8</a:t>
            </a:fld>
            <a:endParaRPr lang="en-US" sz="4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8459E1-C5B7-377C-4A68-1F9403644E17}"/>
              </a:ext>
            </a:extLst>
          </p:cNvPr>
          <p:cNvSpPr txBox="1"/>
          <p:nvPr/>
        </p:nvSpPr>
        <p:spPr>
          <a:xfrm>
            <a:off x="1150071" y="65988"/>
            <a:ext cx="79868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u="sng" dirty="0"/>
              <a:t>S-Shaped Curve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439A42-0D2F-04C1-7B5F-81D29CE3E951}"/>
              </a:ext>
            </a:extLst>
          </p:cNvPr>
          <p:cNvSpPr txBox="1"/>
          <p:nvPr/>
        </p:nvSpPr>
        <p:spPr>
          <a:xfrm>
            <a:off x="1140644" y="490195"/>
            <a:ext cx="10001838" cy="2802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The S-shaped curve has several useful properties: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Smooth transition:</a:t>
            </a:r>
            <a:r>
              <a:rPr lang="en-US" sz="2400" dirty="0"/>
              <a:t> It smoothly moves from 0 to 1, handling uncertainty well.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Interpretability:</a:t>
            </a:r>
            <a:r>
              <a:rPr lang="en-US" sz="2400" dirty="0"/>
              <a:t> The output is directly interpretable as a probability.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Differentiability:</a:t>
            </a:r>
            <a:r>
              <a:rPr lang="en-US" sz="2400" dirty="0"/>
              <a:t> It’s continuous and differentiable, which allows optimization via </a:t>
            </a:r>
            <a:r>
              <a:rPr lang="en-US" sz="2400" b="1" dirty="0"/>
              <a:t>gradient descent</a:t>
            </a:r>
            <a:r>
              <a:rPr lang="en-US" sz="24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ACBCBD-295A-9BC6-7958-F89C0150CD82}"/>
                  </a:ext>
                </a:extLst>
              </p:cNvPr>
              <p:cNvSpPr txBox="1"/>
              <p:nvPr/>
            </p:nvSpPr>
            <p:spPr>
              <a:xfrm>
                <a:off x="1206631" y="3874416"/>
                <a:ext cx="9483365" cy="30242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dirty="0"/>
                  <a:t>Suppose we have a single feature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(e.g., exam score) and want to predict whether a student passes (1) or fails (0):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=−6+0.1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/>
              </a:p>
              <a:p>
                <a:pPr>
                  <a:buNone/>
                </a:pPr>
                <a:r>
                  <a:rPr lang="en-US" sz="2400" dirty="0"/>
                  <a:t>Then: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2400" b="0" i="1">
                              <a:latin typeface="Cambria Math" panose="02040503050406030204" pitchFamily="18" charset="0"/>
                            </a:rPr>
                            <m:t>pass</m:t>
                          </m:r>
                        </m:e>
                      </m:d>
                      <m:r>
                        <a:rPr lang="ar-AE" sz="2400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 b="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400" b="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2400" b="0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ar-AE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400" b="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ar-AE" sz="2400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ar-AE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2400" b="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 sz="2400" b="0" i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ar-AE" sz="2400" b="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ar-AE" sz="2400" b="0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ar-AE" sz="2400" b="0" i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ar-AE" sz="2400" b="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ar-AE" sz="2400" b="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sup>
                          </m:sSup>
                        </m:den>
                      </m:f>
                    </m:oMath>
                  </m:oMathPara>
                </a14:m>
                <a:endParaRPr lang="ar-AE" sz="2400" b="0" dirty="0"/>
              </a:p>
              <a:p>
                <a:pPr>
                  <a:buNone/>
                </a:pPr>
                <a:r>
                  <a:rPr lang="en-US" sz="2400" dirty="0"/>
                  <a:t>As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increases,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/>
                  <a:t>increases, and the probability rises smoothly from near 0 to near 1 — forming the </a:t>
                </a:r>
                <a:r>
                  <a:rPr lang="en-US" sz="2400" b="1" dirty="0"/>
                  <a:t>S-shaped curve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ACBCBD-295A-9BC6-7958-F89C0150C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631" y="3874416"/>
                <a:ext cx="9483365" cy="3024226"/>
              </a:xfrm>
              <a:prstGeom prst="rect">
                <a:avLst/>
              </a:prstGeom>
              <a:blipFill>
                <a:blip r:embed="rId2"/>
                <a:stretch>
                  <a:fillRect l="-1028" t="-1613" b="-36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3D8AA40-D497-64E3-2EA4-4BED7275B9EF}"/>
              </a:ext>
            </a:extLst>
          </p:cNvPr>
          <p:cNvSpPr txBox="1"/>
          <p:nvPr/>
        </p:nvSpPr>
        <p:spPr>
          <a:xfrm>
            <a:off x="1187777" y="3365369"/>
            <a:ext cx="25075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1363994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26CC85-0B01-AA36-4301-6679E6434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C1A89-E591-441B-A4AC-116037CC852E}" type="slidenum">
              <a:rPr lang="en-US" sz="4000" b="1" smtClean="0"/>
              <a:t>9</a:t>
            </a:fld>
            <a:endParaRPr lang="en-US" sz="4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855F75-D520-8559-C456-DCC8DF41CDD7}"/>
              </a:ext>
            </a:extLst>
          </p:cNvPr>
          <p:cNvSpPr txBox="1"/>
          <p:nvPr/>
        </p:nvSpPr>
        <p:spPr>
          <a:xfrm>
            <a:off x="1734533" y="0"/>
            <a:ext cx="75909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u="sng" dirty="0"/>
              <a:t>Types of Logistic Regression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2A1643-81FC-592C-E3D5-FF4B5893E629}"/>
              </a:ext>
            </a:extLst>
          </p:cNvPr>
          <p:cNvSpPr txBox="1"/>
          <p:nvPr/>
        </p:nvSpPr>
        <p:spPr>
          <a:xfrm>
            <a:off x="952108" y="1432875"/>
            <a:ext cx="81094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u="sng" dirty="0"/>
              <a:t>Binary Logistic Regression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A1A3BD-38E2-E673-D1BE-0F1D8642EACD}"/>
              </a:ext>
            </a:extLst>
          </p:cNvPr>
          <p:cNvSpPr txBox="1"/>
          <p:nvPr/>
        </p:nvSpPr>
        <p:spPr>
          <a:xfrm>
            <a:off x="1178351" y="631597"/>
            <a:ext cx="1015266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Logistic Regression adapts to different classification scenarios, making it versatile across various problem types.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3C51DCB3-DF7C-69FF-1F14-5EE58BA06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730" y="1935727"/>
            <a:ext cx="11085923" cy="3900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Used when: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dependent variable has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two categories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Predicting if a student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passes or fails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 exam.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Predicting if an email is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spam or not spam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Output: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Probability of belonging to one of the two classes (often 0 or 1).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Model form: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7E3F77-A009-6BDC-CB9B-4E445536BCE9}"/>
              </a:ext>
            </a:extLst>
          </p:cNvPr>
          <p:cNvSpPr txBox="1"/>
          <p:nvPr/>
        </p:nvSpPr>
        <p:spPr>
          <a:xfrm>
            <a:off x="2790334" y="5882326"/>
            <a:ext cx="67024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log(1−p​)=</a:t>
            </a:r>
            <a:r>
              <a:rPr lang="el-GR" sz="2800" dirty="0"/>
              <a:t>β0​+β1​</a:t>
            </a:r>
            <a:r>
              <a:rPr lang="en-US" sz="2800" dirty="0"/>
              <a:t>x1​+</a:t>
            </a:r>
            <a:r>
              <a:rPr lang="el-GR" sz="2800" dirty="0"/>
              <a:t>β2​</a:t>
            </a:r>
            <a:r>
              <a:rPr lang="en-US" sz="2800" dirty="0"/>
              <a:t>x2​+⋯+</a:t>
            </a:r>
            <a:r>
              <a:rPr lang="el-GR" sz="2800" dirty="0"/>
              <a:t>β</a:t>
            </a:r>
            <a:r>
              <a:rPr lang="en-US" sz="2800" dirty="0"/>
              <a:t>n​xn​</a:t>
            </a:r>
          </a:p>
        </p:txBody>
      </p:sp>
    </p:spTree>
    <p:extLst>
      <p:ext uri="{BB962C8B-B14F-4D97-AF65-F5344CB8AC3E}">
        <p14:creationId xmlns:p14="http://schemas.microsoft.com/office/powerpoint/2010/main" val="3948409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712749-57D4-2245-53C4-2FC281E2F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C1A89-E591-441B-A4AC-116037CC852E}" type="slidenum">
              <a:rPr lang="en-US" sz="4000" b="1" smtClean="0"/>
              <a:t>10</a:t>
            </a:fld>
            <a:endParaRPr lang="en-US" sz="4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C437E8-08B2-2DE4-1E48-F0169519A33D}"/>
              </a:ext>
            </a:extLst>
          </p:cNvPr>
          <p:cNvSpPr txBox="1"/>
          <p:nvPr/>
        </p:nvSpPr>
        <p:spPr>
          <a:xfrm>
            <a:off x="1970202" y="358219"/>
            <a:ext cx="71667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u="sng" dirty="0"/>
              <a:t>Multinomial Logistic Regression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447872F-276E-331E-21EE-E0D45614134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84081" y="784800"/>
            <a:ext cx="9407951" cy="5839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Used when: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dependent variable has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more than two categories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that are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not ordered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Example: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Predicting a person’s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 of transport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car, bus, train, or bicycle.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Classifying types of fruits: apple, orange, banana, etc.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Output: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probability distribution across all possible classes.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Model form: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Uses 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SoftMax function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instead of the sigmoid.</a:t>
            </a:r>
          </a:p>
        </p:txBody>
      </p:sp>
    </p:spTree>
    <p:extLst>
      <p:ext uri="{BB962C8B-B14F-4D97-AF65-F5344CB8AC3E}">
        <p14:creationId xmlns:p14="http://schemas.microsoft.com/office/powerpoint/2010/main" val="920920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135DC6-4E97-1264-0632-EE013380D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C1A89-E591-441B-A4AC-116037CC852E}" type="slidenum">
              <a:rPr lang="en-US" sz="4000" b="1" smtClean="0"/>
              <a:t>11</a:t>
            </a:fld>
            <a:endParaRPr lang="en-US" sz="4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7E72BC-A301-8EFB-E92C-BE7DDC19AA57}"/>
              </a:ext>
            </a:extLst>
          </p:cNvPr>
          <p:cNvSpPr txBox="1"/>
          <p:nvPr/>
        </p:nvSpPr>
        <p:spPr>
          <a:xfrm>
            <a:off x="2253006" y="367645"/>
            <a:ext cx="68839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/>
              <a:t>Ordinal Logistic Regression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8DB5C36-72F8-9227-0D5B-873FBD6F1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5485" y="800810"/>
            <a:ext cx="9780478" cy="5839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Used when: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dependent variable has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ordered categories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(there’s a natural rank order).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 Example: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Customer satisfaction: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poor, fair, good, very good, excellent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Disease stage: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mild, moderate, severe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Output: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Models the cumulative probabilities of being at or below a certain category.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Model form: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Typically uses 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cumulative logit model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4293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8075B8-2671-4D4F-DCDF-9DF88A8DC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C1A89-E591-441B-A4AC-116037CC852E}" type="slidenum">
              <a:rPr lang="en-US" sz="4000" b="1" smtClean="0"/>
              <a:t>12</a:t>
            </a:fld>
            <a:endParaRPr lang="en-US" sz="4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17BC2C-DBB5-F0E9-C524-F9F57CFAEA6C}"/>
              </a:ext>
            </a:extLst>
          </p:cNvPr>
          <p:cNvSpPr txBox="1"/>
          <p:nvPr/>
        </p:nvSpPr>
        <p:spPr>
          <a:xfrm>
            <a:off x="1762812" y="150829"/>
            <a:ext cx="73741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u="sng" dirty="0"/>
              <a:t>Key Assumptions of Logistic Regression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5227A5-F38F-73F5-7E6F-51B390F0532E}"/>
              </a:ext>
            </a:extLst>
          </p:cNvPr>
          <p:cNvSpPr txBox="1"/>
          <p:nvPr/>
        </p:nvSpPr>
        <p:spPr>
          <a:xfrm>
            <a:off x="1385740" y="744719"/>
            <a:ext cx="9502218" cy="13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/>
              <a:t>For Logistic Regression to perform optimally and produce reliable results, several important assumptions must be satisfied: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7A1463-EAD4-B800-E8E0-085C82C8868A}"/>
              </a:ext>
            </a:extLst>
          </p:cNvPr>
          <p:cNvSpPr txBox="1"/>
          <p:nvPr/>
        </p:nvSpPr>
        <p:spPr>
          <a:xfrm>
            <a:off x="1197204" y="2026763"/>
            <a:ext cx="79397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u="sng" dirty="0"/>
              <a:t>Independence of Observations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48A97A-78E4-403A-F0E8-0892576FB494}"/>
              </a:ext>
            </a:extLst>
          </p:cNvPr>
          <p:cNvSpPr txBox="1"/>
          <p:nvPr/>
        </p:nvSpPr>
        <p:spPr>
          <a:xfrm>
            <a:off x="1282045" y="2441790"/>
            <a:ext cx="10039547" cy="13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/>
              <a:t>Each data point must be independent—no correlation between observations. Violating this can lead to unreliable standard errors.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BC9C4F85-93CA-0FEB-0E31-4B53C7540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2045" y="3568981"/>
            <a:ext cx="10467890" cy="26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Each observation (data point) should be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independent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of others.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Violations occur when you have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repeated measures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clustered data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in such cases, consider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Mixed Models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Generalized Estimating Equations (GEE)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52573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37A012-4373-D539-6577-0207ADE62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C1A89-E591-441B-A4AC-116037CC852E}" type="slidenum">
              <a:rPr lang="en-US" sz="4000" b="1" smtClean="0"/>
              <a:t>13</a:t>
            </a:fld>
            <a:endParaRPr lang="en-US" sz="4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AA6D69-167F-4129-2F3B-0D0006307AD1}"/>
              </a:ext>
            </a:extLst>
          </p:cNvPr>
          <p:cNvSpPr txBox="1"/>
          <p:nvPr/>
        </p:nvSpPr>
        <p:spPr>
          <a:xfrm>
            <a:off x="1489435" y="254524"/>
            <a:ext cx="76474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u="sng" dirty="0"/>
              <a:t>Categorical Dependent Variable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766382-6E6A-8C90-1423-B3B92E2F952F}"/>
              </a:ext>
            </a:extLst>
          </p:cNvPr>
          <p:cNvSpPr txBox="1"/>
          <p:nvPr/>
        </p:nvSpPr>
        <p:spPr>
          <a:xfrm>
            <a:off x="1376313" y="1055803"/>
            <a:ext cx="994527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The outcome variable must be categorical (binary or multinomial), not continuous.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F712F53-CA0B-57D7-018A-48C1CA4F4C0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357460" y="2006025"/>
            <a:ext cx="9370243" cy="26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dependent variable must be categorical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usually: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Binary Logistic Regression: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2 categories (e.g., yes/no, 0/1)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Multinomial or Ordinal Logistic Regression: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3+ categories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Logistic regression is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not suitable for continuous outcomes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06386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D8AC98-4BB7-29C6-755B-BCB11B8FE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C1A89-E591-441B-A4AC-116037CC852E}" type="slidenum">
              <a:rPr lang="en-US" sz="3200" b="1" smtClean="0"/>
              <a:t>14</a:t>
            </a:fld>
            <a:endParaRPr lang="en-US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4390DD-CD77-ACAB-B60D-389A0AB9A959}"/>
              </a:ext>
            </a:extLst>
          </p:cNvPr>
          <p:cNvSpPr txBox="1"/>
          <p:nvPr/>
        </p:nvSpPr>
        <p:spPr>
          <a:xfrm>
            <a:off x="1574276" y="216816"/>
            <a:ext cx="75626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u="sng" dirty="0"/>
              <a:t>Linear Relationship with Log-Odds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63D871-39BB-0FA5-20C1-9E30F63689FC}"/>
              </a:ext>
            </a:extLst>
          </p:cNvPr>
          <p:cNvSpPr txBox="1"/>
          <p:nvPr/>
        </p:nvSpPr>
        <p:spPr>
          <a:xfrm>
            <a:off x="1498861" y="820133"/>
            <a:ext cx="920056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Independent variables should have a </a:t>
            </a:r>
            <a:r>
              <a:rPr lang="en-US" sz="2800" dirty="0">
                <a:effectLst/>
              </a:rPr>
              <a:t>linear relationship with the log-odds</a:t>
            </a:r>
            <a:r>
              <a:rPr lang="en-US" sz="2800" dirty="0"/>
              <a:t> of the dependent variable.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8E9BEC2-3F52-72F9-2B55-48AFF939A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313" y="1828508"/>
            <a:ext cx="10815686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logit (log-odds)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of the outcome should be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linearly related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continuous independent variables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 other words, the relationship between predictors and the log of the odds is linear — not between predictors and the outcome itself.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Can be checked using: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Box-Tidwell test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Plotting logit-transformed probabilities vs predictors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9743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5E26C2-B57C-3213-3213-B08944E00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C1A89-E591-441B-A4AC-116037CC852E}" type="slidenum">
              <a:rPr lang="en-US" sz="4000" b="1" smtClean="0"/>
              <a:t>15</a:t>
            </a:fld>
            <a:endParaRPr lang="en-US" sz="4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085E0C-A733-0C43-18F1-DF20101B52B3}"/>
              </a:ext>
            </a:extLst>
          </p:cNvPr>
          <p:cNvSpPr txBox="1"/>
          <p:nvPr/>
        </p:nvSpPr>
        <p:spPr>
          <a:xfrm>
            <a:off x="1423447" y="329938"/>
            <a:ext cx="771348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u="sng" dirty="0"/>
              <a:t>Absence of Extreme Outliers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71006E-0354-53DF-E594-D08ECEF4B3E2}"/>
              </a:ext>
            </a:extLst>
          </p:cNvPr>
          <p:cNvSpPr txBox="1"/>
          <p:nvPr/>
        </p:nvSpPr>
        <p:spPr>
          <a:xfrm>
            <a:off x="1536569" y="1055803"/>
            <a:ext cx="91722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Outliers can disproportionately influence model parameters and predictions.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3D46525-C416-09D9-E8C5-A8D9228E4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2302" y="1928079"/>
            <a:ext cx="9172280" cy="4334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Outliers or influential data points can distort model coefficients.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Check using: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Standardized residuals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Cook’s distance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Leverage values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344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A85142-1952-D3F5-B082-D21D4DA9E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C1A89-E591-441B-A4AC-116037CC852E}" type="slidenum">
              <a:rPr lang="en-US" sz="3200" b="1" smtClean="0"/>
              <a:t>16</a:t>
            </a:fld>
            <a:endParaRPr lang="en-US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7FAE43-5F9E-FAA9-7874-9964AE7CA50F}"/>
              </a:ext>
            </a:extLst>
          </p:cNvPr>
          <p:cNvSpPr txBox="1"/>
          <p:nvPr/>
        </p:nvSpPr>
        <p:spPr>
          <a:xfrm>
            <a:off x="1574276" y="254524"/>
            <a:ext cx="75626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u="sng" dirty="0"/>
              <a:t>Sufficient Sample Size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5DDDAD-A8BA-E0DC-0621-3664901E12AA}"/>
              </a:ext>
            </a:extLst>
          </p:cNvPr>
          <p:cNvSpPr txBox="1"/>
          <p:nvPr/>
        </p:nvSpPr>
        <p:spPr>
          <a:xfrm>
            <a:off x="1564849" y="1027523"/>
            <a:ext cx="911571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Larger datasets produce more stable and reliable parameter estimates—typically need 10+ observations per predictor.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98F999B-4C6C-4C12-09D0-D641A49286D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621410" y="2049878"/>
            <a:ext cx="8910408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Logistic regression requires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reasonably large sample size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produce stable estimates.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common rule of thumb: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At least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10 events per predictor variable (EPV)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binary logistic regression.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2331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9E8A34-E746-0D59-9DEC-8A91712A5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C1A89-E591-441B-A4AC-116037CC852E}" type="slidenum">
              <a:rPr lang="en-US" sz="4000" b="1" smtClean="0"/>
              <a:t>17</a:t>
            </a:fld>
            <a:endParaRPr lang="en-US" sz="4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42E52D-FA99-632C-5AC8-781E9A265EE9}"/>
              </a:ext>
            </a:extLst>
          </p:cNvPr>
          <p:cNvSpPr txBox="1"/>
          <p:nvPr/>
        </p:nvSpPr>
        <p:spPr>
          <a:xfrm>
            <a:off x="2149311" y="320511"/>
            <a:ext cx="79185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u="sng" dirty="0"/>
              <a:t>How Logistic Regression Works: Step-by-Step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00BAE5-512C-6CF4-8514-C096B960A7CD}"/>
              </a:ext>
            </a:extLst>
          </p:cNvPr>
          <p:cNvSpPr txBox="1"/>
          <p:nvPr/>
        </p:nvSpPr>
        <p:spPr>
          <a:xfrm>
            <a:off x="1564849" y="1093509"/>
            <a:ext cx="75720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dirty="0"/>
              <a:t>Linear Combination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231B1B-3C4E-6BE9-FF7F-DDB45F8967ED}"/>
              </a:ext>
            </a:extLst>
          </p:cNvPr>
          <p:cNvSpPr txBox="1"/>
          <p:nvPr/>
        </p:nvSpPr>
        <p:spPr>
          <a:xfrm>
            <a:off x="2507530" y="1706253"/>
            <a:ext cx="78431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Compute weighted sum of input features plus bias term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07198E-3327-7357-752F-8F30B4583597}"/>
              </a:ext>
            </a:extLst>
          </p:cNvPr>
          <p:cNvSpPr txBox="1"/>
          <p:nvPr/>
        </p:nvSpPr>
        <p:spPr>
          <a:xfrm>
            <a:off x="2724346" y="2450969"/>
            <a:ext cx="64125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4000" b="1" dirty="0">
                <a:effectLst/>
                <a:latin typeface="KaTeX_Math"/>
              </a:rPr>
              <a:t>z</a:t>
            </a:r>
            <a:r>
              <a:rPr lang="pl-PL" sz="4000" b="0" i="0" dirty="0">
                <a:effectLst/>
                <a:latin typeface="KaTeX_Main"/>
              </a:rPr>
              <a:t>=</a:t>
            </a:r>
            <a:r>
              <a:rPr lang="pl-PL" sz="4000" b="0" i="1" dirty="0">
                <a:effectLst/>
                <a:latin typeface="KaTeX_Math"/>
              </a:rPr>
              <a:t>w</a:t>
            </a:r>
            <a:r>
              <a:rPr lang="pl-PL" sz="4000" b="0" i="0" dirty="0">
                <a:effectLst/>
                <a:latin typeface="KaTeX_Main"/>
              </a:rPr>
              <a:t>1​</a:t>
            </a:r>
            <a:r>
              <a:rPr lang="pl-PL" sz="4000" b="0" i="1" dirty="0">
                <a:effectLst/>
                <a:latin typeface="KaTeX_Math"/>
              </a:rPr>
              <a:t>x</a:t>
            </a:r>
            <a:r>
              <a:rPr lang="pl-PL" sz="4000" b="0" i="0" dirty="0">
                <a:effectLst/>
                <a:latin typeface="KaTeX_Main"/>
              </a:rPr>
              <a:t>1​+</a:t>
            </a:r>
            <a:r>
              <a:rPr lang="pl-PL" sz="4000" b="0" i="1" dirty="0">
                <a:effectLst/>
                <a:latin typeface="KaTeX_Math"/>
              </a:rPr>
              <a:t>w</a:t>
            </a:r>
            <a:r>
              <a:rPr lang="pl-PL" sz="4000" b="0" i="0" dirty="0">
                <a:effectLst/>
                <a:latin typeface="KaTeX_Main"/>
              </a:rPr>
              <a:t>2​</a:t>
            </a:r>
            <a:r>
              <a:rPr lang="pl-PL" sz="4000" b="0" i="1" dirty="0">
                <a:effectLst/>
                <a:latin typeface="KaTeX_Math"/>
              </a:rPr>
              <a:t>x</a:t>
            </a:r>
            <a:r>
              <a:rPr lang="pl-PL" sz="4000" b="0" i="0" dirty="0">
                <a:effectLst/>
                <a:latin typeface="KaTeX_Main"/>
              </a:rPr>
              <a:t>2​+...+</a:t>
            </a:r>
            <a:r>
              <a:rPr lang="pl-PL" sz="4000" b="0" i="1" dirty="0">
                <a:effectLst/>
                <a:latin typeface="KaTeX_Math"/>
              </a:rPr>
              <a:t>b</a:t>
            </a:r>
            <a:endParaRPr lang="en-US" sz="4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FF8BEC-CC59-6B46-AD50-85BCC0D2F132}"/>
              </a:ext>
            </a:extLst>
          </p:cNvPr>
          <p:cNvSpPr txBox="1"/>
          <p:nvPr/>
        </p:nvSpPr>
        <p:spPr>
          <a:xfrm>
            <a:off x="1536569" y="3384222"/>
            <a:ext cx="76003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b="1" dirty="0"/>
              <a:t>Sigmoid Transformation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904AB1-30FB-A7BA-1E38-E095062D55FE}"/>
              </a:ext>
            </a:extLst>
          </p:cNvPr>
          <p:cNvSpPr txBox="1"/>
          <p:nvPr/>
        </p:nvSpPr>
        <p:spPr>
          <a:xfrm>
            <a:off x="2733772" y="3985354"/>
            <a:ext cx="64031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Apply sigmoid function to convert z into probability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E2F7BB-134C-99B8-4849-7AF7F2421295}"/>
              </a:ext>
            </a:extLst>
          </p:cNvPr>
          <p:cNvSpPr txBox="1"/>
          <p:nvPr/>
        </p:nvSpPr>
        <p:spPr>
          <a:xfrm>
            <a:off x="3033074" y="3108191"/>
            <a:ext cx="61038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s-ES" b="0" i="0" dirty="0">
                <a:solidFill>
                  <a:srgbClr val="CFCBBF"/>
                </a:solidFill>
                <a:effectLst/>
                <a:latin typeface="KaTeX_Main"/>
              </a:rPr>
            </a:b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FFC7A6-95A0-ECFD-F84D-7BC25D347EBD}"/>
              </a:ext>
            </a:extLst>
          </p:cNvPr>
          <p:cNvSpPr txBox="1"/>
          <p:nvPr/>
        </p:nvSpPr>
        <p:spPr>
          <a:xfrm>
            <a:off x="3033074" y="3246690"/>
            <a:ext cx="61038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9CE32E8-31BB-A4E5-D808-7B1575F99068}"/>
                  </a:ext>
                </a:extLst>
              </p:cNvPr>
              <p:cNvSpPr txBox="1"/>
              <p:nvPr/>
            </p:nvSpPr>
            <p:spPr>
              <a:xfrm rot="10800000" flipV="1">
                <a:off x="3028303" y="4570395"/>
                <a:ext cx="5736590" cy="10257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ar-AE" sz="32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32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AE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32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320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3200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ar-AE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32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ar-AE" sz="32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3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ar-AE" sz="3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9CE32E8-31BB-A4E5-D808-7B1575F990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3028303" y="4570395"/>
                <a:ext cx="5736590" cy="10257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8726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85328D-DC4D-144A-0C14-CF6428642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C1A89-E591-441B-A4AC-116037CC852E}" type="slidenum">
              <a:rPr lang="en-US" sz="4000" b="1" smtClean="0"/>
              <a:t>18</a:t>
            </a:fld>
            <a:endParaRPr lang="en-US" sz="4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0A429A-B910-E4BF-B865-06E47521A10F}"/>
              </a:ext>
            </a:extLst>
          </p:cNvPr>
          <p:cNvSpPr txBox="1"/>
          <p:nvPr/>
        </p:nvSpPr>
        <p:spPr>
          <a:xfrm>
            <a:off x="1593130" y="216816"/>
            <a:ext cx="7543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dirty="0"/>
              <a:t>Classification Decision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B397BB-665B-7B3F-C36C-80B886D6BECE}"/>
              </a:ext>
            </a:extLst>
          </p:cNvPr>
          <p:cNvSpPr txBox="1"/>
          <p:nvPr/>
        </p:nvSpPr>
        <p:spPr>
          <a:xfrm>
            <a:off x="2215299" y="886120"/>
            <a:ext cx="796564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Use threshold (typically 0.5) to assign class label</a:t>
            </a:r>
          </a:p>
          <a:p>
            <a:pPr>
              <a:buNone/>
            </a:pPr>
            <a:r>
              <a:rPr lang="en-US" sz="2800" dirty="0"/>
              <a:t>If P ≥ 0.5 → Class 1</a:t>
            </a:r>
            <a:br>
              <a:rPr lang="en-US" sz="2800" dirty="0"/>
            </a:br>
            <a:r>
              <a:rPr lang="en-US" sz="2800" dirty="0"/>
              <a:t>If P &lt; 0.5 → Class 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B6067C-1B3B-FBAB-3E47-9BD7BD84DC66}"/>
              </a:ext>
            </a:extLst>
          </p:cNvPr>
          <p:cNvSpPr txBox="1"/>
          <p:nvPr/>
        </p:nvSpPr>
        <p:spPr>
          <a:xfrm>
            <a:off x="1536569" y="2554664"/>
            <a:ext cx="76003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dirty="0"/>
              <a:t>Parameter Optimization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16A114-D08C-DE90-E711-F5D142ECFEBA}"/>
              </a:ext>
            </a:extLst>
          </p:cNvPr>
          <p:cNvSpPr txBox="1"/>
          <p:nvPr/>
        </p:nvSpPr>
        <p:spPr>
          <a:xfrm>
            <a:off x="2064471" y="3246690"/>
            <a:ext cx="70724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Adjust weights to minimize cost function using gradient descent</a:t>
            </a:r>
          </a:p>
        </p:txBody>
      </p:sp>
    </p:spTree>
    <p:extLst>
      <p:ext uri="{BB962C8B-B14F-4D97-AF65-F5344CB8AC3E}">
        <p14:creationId xmlns:p14="http://schemas.microsoft.com/office/powerpoint/2010/main" val="5085579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363151-E4F7-B77E-3422-B8B15101F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C1A89-E591-441B-A4AC-116037CC852E}" type="slidenum">
              <a:rPr lang="en-US" sz="4000" b="1" smtClean="0"/>
              <a:t>19</a:t>
            </a:fld>
            <a:endParaRPr lang="en-US" sz="4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2E4388-3847-3326-4CFD-F8707DC790F2}"/>
              </a:ext>
            </a:extLst>
          </p:cNvPr>
          <p:cNvSpPr txBox="1"/>
          <p:nvPr/>
        </p:nvSpPr>
        <p:spPr>
          <a:xfrm>
            <a:off x="1838227" y="75415"/>
            <a:ext cx="81070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u="sng" dirty="0"/>
              <a:t>Cost Function: Why Not Mean Squared Error?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302597-C994-5A74-77DB-01D9D57C79BD}"/>
              </a:ext>
            </a:extLst>
          </p:cNvPr>
          <p:cNvSpPr txBox="1"/>
          <p:nvPr/>
        </p:nvSpPr>
        <p:spPr>
          <a:xfrm>
            <a:off x="1272619" y="593889"/>
            <a:ext cx="78643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/>
              <a:t>The Problem with MSE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D43241-CB7C-E423-6185-B5D9D0603A9D}"/>
              </a:ext>
            </a:extLst>
          </p:cNvPr>
          <p:cNvSpPr txBox="1"/>
          <p:nvPr/>
        </p:nvSpPr>
        <p:spPr>
          <a:xfrm>
            <a:off x="1677971" y="980388"/>
            <a:ext cx="8823489" cy="2248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Mean Squared Error works beautifully for linear regression, but it's unsuitable for Logistic Regression due to the sigmoid function's nonlinearity. MSE creates a non-convex cost surface with multiple local minima, making optimization difficult and unreliable.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629756-A612-13EF-95E9-29DDA783C969}"/>
              </a:ext>
            </a:extLst>
          </p:cNvPr>
          <p:cNvSpPr txBox="1"/>
          <p:nvPr/>
        </p:nvSpPr>
        <p:spPr>
          <a:xfrm>
            <a:off x="1244338" y="3233394"/>
            <a:ext cx="78925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/>
              <a:t>The Solution: Log Loss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97FFC3-05D1-8EB6-6E48-877C8BD19528}"/>
              </a:ext>
            </a:extLst>
          </p:cNvPr>
          <p:cNvSpPr txBox="1"/>
          <p:nvPr/>
        </p:nvSpPr>
        <p:spPr>
          <a:xfrm>
            <a:off x="1649691" y="3780148"/>
            <a:ext cx="8672659" cy="1694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Logistic Regression uses </a:t>
            </a:r>
            <a:r>
              <a:rPr lang="en-US" sz="2400" dirty="0">
                <a:effectLst/>
              </a:rPr>
              <a:t>Log Loss (Cross-Entropy)</a:t>
            </a:r>
            <a:r>
              <a:rPr lang="en-US" sz="2400" dirty="0"/>
              <a:t> as its cost function. This function severely penalizes confident wrong predictions while encouraging confident correct predictions.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2A1D9F-CB96-759C-3372-1CD68CC4E4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8172" y="5450699"/>
            <a:ext cx="5491851" cy="128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777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70E78D-6D92-9D42-F322-FAAA6D6D1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C1A89-E591-441B-A4AC-116037CC852E}" type="slidenum">
              <a:rPr lang="en-US" sz="4000" b="1" smtClean="0"/>
              <a:t>20</a:t>
            </a:fld>
            <a:endParaRPr lang="en-US" sz="4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10CFF4-FA7B-A1FA-6481-EBFDAA2A3671}"/>
              </a:ext>
            </a:extLst>
          </p:cNvPr>
          <p:cNvSpPr txBox="1"/>
          <p:nvPr/>
        </p:nvSpPr>
        <p:spPr>
          <a:xfrm>
            <a:off x="2592371" y="179109"/>
            <a:ext cx="69664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u="sng" dirty="0"/>
              <a:t>USECASES OF  LOGISTIC REGRESSION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73A2E1-EE3A-8ABA-E51F-E0E349C847A2}"/>
              </a:ext>
            </a:extLst>
          </p:cNvPr>
          <p:cNvSpPr txBox="1"/>
          <p:nvPr/>
        </p:nvSpPr>
        <p:spPr>
          <a:xfrm>
            <a:off x="1489435" y="697584"/>
            <a:ext cx="76474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u="sng" dirty="0"/>
              <a:t>Healthcare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732226-195F-2F70-E7E7-A73F0FDD3E58}"/>
              </a:ext>
            </a:extLst>
          </p:cNvPr>
          <p:cNvSpPr txBox="1"/>
          <p:nvPr/>
        </p:nvSpPr>
        <p:spPr>
          <a:xfrm>
            <a:off x="1065229" y="1234911"/>
            <a:ext cx="10124387" cy="5018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/>
              <a:t>Goal:</a:t>
            </a:r>
            <a:r>
              <a:rPr lang="en-US" sz="2400" dirty="0"/>
              <a:t> Predict the presence or absence of a disease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/>
              <a:t>Examples:</a:t>
            </a:r>
            <a:endParaRPr lang="en-US" sz="2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Predicting if a patient has </a:t>
            </a:r>
            <a:r>
              <a:rPr lang="en-US" sz="2400" b="1" dirty="0"/>
              <a:t>diabetes</a:t>
            </a:r>
            <a:r>
              <a:rPr lang="en-US" sz="2400" dirty="0"/>
              <a:t> based on blood sugar, BMI, age, etc.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Detecting </a:t>
            </a:r>
            <a:r>
              <a:rPr lang="en-US" sz="2400" b="1" dirty="0"/>
              <a:t>heart disease</a:t>
            </a:r>
            <a:r>
              <a:rPr lang="en-US" sz="2400" dirty="0"/>
              <a:t> risk (yes/no).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Predicting whether a </a:t>
            </a:r>
            <a:r>
              <a:rPr lang="en-US" sz="2400" b="1" dirty="0"/>
              <a:t>tumor is malignant or benign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b="1" dirty="0"/>
              <a:t>Why Logistic Regression?</a:t>
            </a:r>
            <a:endParaRPr lang="en-US" sz="2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Produces interpretable probabilities (e.g., “Patient has 82% chance of heart disease”).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Easy to understand for medical professionals.</a:t>
            </a:r>
          </a:p>
        </p:txBody>
      </p:sp>
    </p:spTree>
    <p:extLst>
      <p:ext uri="{BB962C8B-B14F-4D97-AF65-F5344CB8AC3E}">
        <p14:creationId xmlns:p14="http://schemas.microsoft.com/office/powerpoint/2010/main" val="14141276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1B07CB-477F-4144-C191-746EECA11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C1A89-E591-441B-A4AC-116037CC852E}" type="slidenum">
              <a:rPr lang="en-US" sz="4000" b="1" smtClean="0"/>
              <a:t>21</a:t>
            </a:fld>
            <a:endParaRPr lang="en-US" sz="4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7E96A5-6775-40C4-7B99-101E5B3B79EE}"/>
              </a:ext>
            </a:extLst>
          </p:cNvPr>
          <p:cNvSpPr txBox="1"/>
          <p:nvPr/>
        </p:nvSpPr>
        <p:spPr>
          <a:xfrm>
            <a:off x="1480008" y="348792"/>
            <a:ext cx="76569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u="sng" dirty="0"/>
              <a:t>Finance &amp; Banking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BCE311-A260-8D53-1B26-657B8CDBFB3C}"/>
              </a:ext>
            </a:extLst>
          </p:cNvPr>
          <p:cNvSpPr txBox="1"/>
          <p:nvPr/>
        </p:nvSpPr>
        <p:spPr>
          <a:xfrm>
            <a:off x="622169" y="1055802"/>
            <a:ext cx="10661715" cy="4762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/>
              <a:t>Goal:</a:t>
            </a:r>
            <a:r>
              <a:rPr lang="en-US" sz="2800" dirty="0"/>
              <a:t> Predict creditworthiness, fraud, or risk</a:t>
            </a:r>
            <a:br>
              <a:rPr lang="en-US" sz="2800" dirty="0"/>
            </a:br>
            <a:r>
              <a:rPr lang="en-US" sz="2800" b="1" dirty="0"/>
              <a:t>Examples:</a:t>
            </a:r>
            <a:endParaRPr lang="en-US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/>
              <a:t>Credit scoring</a:t>
            </a:r>
            <a:r>
              <a:rPr lang="en-US" sz="2800" dirty="0"/>
              <a:t> — will a customer </a:t>
            </a:r>
            <a:r>
              <a:rPr lang="en-US" sz="2800" b="1" dirty="0"/>
              <a:t>default</a:t>
            </a:r>
            <a:r>
              <a:rPr lang="en-US" sz="2800" dirty="0"/>
              <a:t> on a loan (0 = No, 1 = Yes)?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/>
              <a:t>Fraud detection</a:t>
            </a:r>
            <a:r>
              <a:rPr lang="en-US" sz="2800" dirty="0"/>
              <a:t> — is a transaction </a:t>
            </a:r>
            <a:r>
              <a:rPr lang="en-US" sz="2800" b="1" dirty="0"/>
              <a:t>fraudulent</a:t>
            </a:r>
            <a:r>
              <a:rPr lang="en-US" sz="2800" dirty="0"/>
              <a:t> or </a:t>
            </a:r>
            <a:r>
              <a:rPr lang="en-US" sz="2800" b="1" dirty="0"/>
              <a:t>legitimate</a:t>
            </a:r>
            <a:r>
              <a:rPr lang="en-US" sz="2800" dirty="0"/>
              <a:t>?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/>
              <a:t>Customer churn</a:t>
            </a:r>
            <a:r>
              <a:rPr lang="en-US" sz="2800" dirty="0"/>
              <a:t> — will a customer </a:t>
            </a:r>
            <a:r>
              <a:rPr lang="en-US" sz="2800" b="1" dirty="0"/>
              <a:t>stay</a:t>
            </a:r>
            <a:r>
              <a:rPr lang="en-US" sz="2800" dirty="0"/>
              <a:t> or </a:t>
            </a:r>
            <a:r>
              <a:rPr lang="en-US" sz="2800" b="1" dirty="0"/>
              <a:t>leave</a:t>
            </a:r>
            <a:r>
              <a:rPr lang="en-US" sz="2800" dirty="0"/>
              <a:t> a bank?</a:t>
            </a:r>
            <a:br>
              <a:rPr lang="en-US" sz="2800" dirty="0"/>
            </a:br>
            <a:r>
              <a:rPr lang="en-US" sz="2800" b="1" dirty="0"/>
              <a:t>Why Logistic Regression?</a:t>
            </a:r>
            <a:endParaRPr lang="en-US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Simple, interpretable model suitable for regulatory requirements.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Performs well when relationships are roughly linear in log-odds.</a:t>
            </a:r>
          </a:p>
        </p:txBody>
      </p:sp>
    </p:spTree>
    <p:extLst>
      <p:ext uri="{BB962C8B-B14F-4D97-AF65-F5344CB8AC3E}">
        <p14:creationId xmlns:p14="http://schemas.microsoft.com/office/powerpoint/2010/main" val="39053516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7447EF-9DC5-EE22-8430-E8480020F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C1A89-E591-441B-A4AC-116037CC852E}" type="slidenum">
              <a:rPr lang="en-US" sz="4000" b="1" smtClean="0"/>
              <a:t>22</a:t>
            </a:fld>
            <a:endParaRPr lang="en-US" sz="4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55C49F-CE19-A069-A128-C8E973F33DC3}"/>
              </a:ext>
            </a:extLst>
          </p:cNvPr>
          <p:cNvSpPr txBox="1"/>
          <p:nvPr/>
        </p:nvSpPr>
        <p:spPr>
          <a:xfrm>
            <a:off x="1319753" y="329938"/>
            <a:ext cx="78171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800" b="1" u="sng" dirty="0"/>
              <a:t>E-commerce &amp; Retail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B08320-F4C4-8670-A337-F52206327E4E}"/>
              </a:ext>
            </a:extLst>
          </p:cNvPr>
          <p:cNvSpPr txBox="1"/>
          <p:nvPr/>
        </p:nvSpPr>
        <p:spPr>
          <a:xfrm>
            <a:off x="1197204" y="735291"/>
            <a:ext cx="9294829" cy="5806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/>
              <a:t>Goal:</a:t>
            </a:r>
            <a:r>
              <a:rPr lang="en-US" sz="2800" dirty="0"/>
              <a:t> Predict customer actions</a:t>
            </a:r>
            <a:br>
              <a:rPr lang="en-US" dirty="0"/>
            </a:br>
            <a:r>
              <a:rPr lang="en-US" sz="2800" b="1" dirty="0"/>
              <a:t>Examples:</a:t>
            </a:r>
            <a:endParaRPr lang="en-US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/>
              <a:t>Will a customer </a:t>
            </a:r>
            <a:r>
              <a:rPr lang="en-US" sz="2800" b="1" dirty="0"/>
              <a:t>purchase</a:t>
            </a:r>
            <a:r>
              <a:rPr lang="en-US" sz="2800" dirty="0"/>
              <a:t> after viewing a product?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/>
              <a:t>Will a shopper </a:t>
            </a:r>
            <a:r>
              <a:rPr lang="en-US" sz="2800" b="1" dirty="0"/>
              <a:t>abandon</a:t>
            </a:r>
            <a:r>
              <a:rPr lang="en-US" sz="2800" dirty="0"/>
              <a:t> their cart?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/>
              <a:t>Is a review </a:t>
            </a:r>
            <a:r>
              <a:rPr lang="en-US" sz="2800" b="1" dirty="0"/>
              <a:t>positive</a:t>
            </a:r>
            <a:r>
              <a:rPr lang="en-US" sz="2800" dirty="0"/>
              <a:t> or </a:t>
            </a:r>
            <a:r>
              <a:rPr lang="en-US" sz="2800" b="1" dirty="0"/>
              <a:t>negative</a:t>
            </a:r>
            <a:r>
              <a:rPr lang="en-US" sz="2800" dirty="0"/>
              <a:t> (binary sentiment classification)?</a:t>
            </a:r>
            <a:br>
              <a:rPr lang="en-US" sz="2800" dirty="0"/>
            </a:br>
            <a:r>
              <a:rPr lang="en-US" sz="2800" b="1" dirty="0"/>
              <a:t>Why Logistic Regression?</a:t>
            </a:r>
            <a:endParaRPr lang="en-US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/>
              <a:t>Simple baseline model for conversion prediction before using complex ones.</a:t>
            </a:r>
          </a:p>
        </p:txBody>
      </p:sp>
    </p:spTree>
    <p:extLst>
      <p:ext uri="{BB962C8B-B14F-4D97-AF65-F5344CB8AC3E}">
        <p14:creationId xmlns:p14="http://schemas.microsoft.com/office/powerpoint/2010/main" val="31032859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24D56A-BF7F-6CB8-DAA6-6C7F1FEE7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C1A89-E591-441B-A4AC-116037CC852E}" type="slidenum">
              <a:rPr lang="en-US" sz="4000" b="1" smtClean="0"/>
              <a:t>23</a:t>
            </a:fld>
            <a:endParaRPr lang="en-US" sz="4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2FDE2B-4A77-0D03-9E10-E639600FEE80}"/>
              </a:ext>
            </a:extLst>
          </p:cNvPr>
          <p:cNvSpPr txBox="1"/>
          <p:nvPr/>
        </p:nvSpPr>
        <p:spPr>
          <a:xfrm>
            <a:off x="1838227" y="103695"/>
            <a:ext cx="72987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u="sng" dirty="0"/>
              <a:t>Education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30406C-52C6-69CD-DA4B-BAE75B307A88}"/>
              </a:ext>
            </a:extLst>
          </p:cNvPr>
          <p:cNvSpPr txBox="1"/>
          <p:nvPr/>
        </p:nvSpPr>
        <p:spPr>
          <a:xfrm>
            <a:off x="1800519" y="641023"/>
            <a:ext cx="8757501" cy="33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/>
              <a:t>Goal:</a:t>
            </a:r>
            <a:r>
              <a:rPr lang="en-US" sz="2400" dirty="0"/>
              <a:t> Predict student outcomes</a:t>
            </a:r>
            <a:br>
              <a:rPr lang="en-US" sz="2400" dirty="0"/>
            </a:br>
            <a:r>
              <a:rPr lang="en-US" sz="2400" b="1" dirty="0"/>
              <a:t>Examples:</a:t>
            </a:r>
            <a:endParaRPr lang="en-US" sz="2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Will a student </a:t>
            </a:r>
            <a:r>
              <a:rPr lang="en-US" sz="2400" b="1" dirty="0"/>
              <a:t>pass or fail</a:t>
            </a:r>
            <a:r>
              <a:rPr lang="en-US" sz="2400" dirty="0"/>
              <a:t> an exam?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Predict </a:t>
            </a:r>
            <a:r>
              <a:rPr lang="en-US" sz="2400" b="1" dirty="0"/>
              <a:t>dropout risk</a:t>
            </a:r>
            <a:r>
              <a:rPr lang="en-US" sz="2400" dirty="0"/>
              <a:t> based on attendance and grades.</a:t>
            </a:r>
            <a:br>
              <a:rPr lang="en-US" sz="2400" dirty="0"/>
            </a:br>
            <a:r>
              <a:rPr lang="en-US" sz="2400" b="1" dirty="0"/>
              <a:t>Why Logistic Regression?</a:t>
            </a:r>
            <a:endParaRPr lang="en-US" sz="2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Simple, interpretable, and works well for early warning systems.</a:t>
            </a:r>
          </a:p>
        </p:txBody>
      </p:sp>
    </p:spTree>
    <p:extLst>
      <p:ext uri="{BB962C8B-B14F-4D97-AF65-F5344CB8AC3E}">
        <p14:creationId xmlns:p14="http://schemas.microsoft.com/office/powerpoint/2010/main" val="36298957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F10080-9EEE-3F8D-8063-7F3AD4F0A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C1A89-E591-441B-A4AC-116037CC852E}" type="slidenum">
              <a:rPr lang="en-US" sz="4000" b="1" smtClean="0"/>
              <a:t>24</a:t>
            </a:fld>
            <a:endParaRPr lang="en-US" sz="4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2D9AE4-45B2-E7FC-C03E-0B97EB2E3F1B}"/>
              </a:ext>
            </a:extLst>
          </p:cNvPr>
          <p:cNvSpPr txBox="1"/>
          <p:nvPr/>
        </p:nvSpPr>
        <p:spPr>
          <a:xfrm>
            <a:off x="2300139" y="75414"/>
            <a:ext cx="7984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Strengths Of Logistic Regression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BD42DF-A5B8-FBA6-DEA9-73435D88C5D3}"/>
              </a:ext>
            </a:extLst>
          </p:cNvPr>
          <p:cNvSpPr txBox="1"/>
          <p:nvPr/>
        </p:nvSpPr>
        <p:spPr>
          <a:xfrm>
            <a:off x="1451728" y="669304"/>
            <a:ext cx="76852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/>
              <a:t>Simple and Interpretable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F746BB-9D6A-0962-13C1-4DDD87EF13FE}"/>
              </a:ext>
            </a:extLst>
          </p:cNvPr>
          <p:cNvSpPr txBox="1"/>
          <p:nvPr/>
        </p:nvSpPr>
        <p:spPr>
          <a:xfrm>
            <a:off x="1989056" y="923828"/>
            <a:ext cx="8917757" cy="1140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Easy to understand — coefficients directly show the </a:t>
            </a:r>
            <a:r>
              <a:rPr lang="en-US" sz="2400" b="1" dirty="0"/>
              <a:t>effect of predictors on the odds</a:t>
            </a:r>
            <a:r>
              <a:rPr lang="en-US" sz="2400" dirty="0"/>
              <a:t> of the outcome.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107747-6A2E-A5FC-1B43-52F472746CDA}"/>
              </a:ext>
            </a:extLst>
          </p:cNvPr>
          <p:cNvSpPr txBox="1"/>
          <p:nvPr/>
        </p:nvSpPr>
        <p:spPr>
          <a:xfrm>
            <a:off x="1498862" y="1951349"/>
            <a:ext cx="7638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/>
              <a:t>Probabilistic Output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3A701A-6D03-8080-4554-DA0519E7994D}"/>
              </a:ext>
            </a:extLst>
          </p:cNvPr>
          <p:cNvSpPr txBox="1"/>
          <p:nvPr/>
        </p:nvSpPr>
        <p:spPr>
          <a:xfrm>
            <a:off x="1989056" y="2271861"/>
            <a:ext cx="8446416" cy="1140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Predicts </a:t>
            </a:r>
            <a:r>
              <a:rPr lang="en-US" sz="2400" b="1" dirty="0"/>
              <a:t>probabilities (0–1)</a:t>
            </a:r>
            <a:r>
              <a:rPr lang="en-US" sz="2400" dirty="0"/>
              <a:t>, not just class labels — useful for risk assessment and ranking.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8AE348-C91D-5A1A-6991-7E8E9ACE66A6}"/>
              </a:ext>
            </a:extLst>
          </p:cNvPr>
          <p:cNvSpPr txBox="1"/>
          <p:nvPr/>
        </p:nvSpPr>
        <p:spPr>
          <a:xfrm>
            <a:off x="1574276" y="3384223"/>
            <a:ext cx="75626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/>
              <a:t>Efficient and Fast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83B924-38CD-CC71-C38B-F82DAC4C649A}"/>
              </a:ext>
            </a:extLst>
          </p:cNvPr>
          <p:cNvSpPr txBox="1"/>
          <p:nvPr/>
        </p:nvSpPr>
        <p:spPr>
          <a:xfrm>
            <a:off x="2111604" y="3827282"/>
            <a:ext cx="8144759" cy="1140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Computationally inexpensive — performs well even on </a:t>
            </a:r>
            <a:r>
              <a:rPr lang="en-US" sz="2400" b="1" dirty="0"/>
              <a:t>large datasets</a:t>
            </a:r>
            <a:r>
              <a:rPr lang="en-US" sz="2400" dirty="0"/>
              <a:t> with modest features.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91D956-EF0F-2826-6D29-FE8922FFBFB9}"/>
              </a:ext>
            </a:extLst>
          </p:cNvPr>
          <p:cNvSpPr txBox="1"/>
          <p:nvPr/>
        </p:nvSpPr>
        <p:spPr>
          <a:xfrm>
            <a:off x="1640264" y="4835951"/>
            <a:ext cx="74966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/>
              <a:t>Robust to Small Noise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32788BEE-E200-AE22-53D9-B631FB53A8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990563"/>
              </p:ext>
            </p:extLst>
          </p:nvPr>
        </p:nvGraphicFramePr>
        <p:xfrm>
          <a:off x="2130458" y="5184742"/>
          <a:ext cx="8361575" cy="1129792"/>
        </p:xfrm>
        <a:graphic>
          <a:graphicData uri="http://schemas.openxmlformats.org/drawingml/2006/table">
            <a:tbl>
              <a:tblPr/>
              <a:tblGrid>
                <a:gridCol w="8361575">
                  <a:extLst>
                    <a:ext uri="{9D8B030D-6E8A-4147-A177-3AD203B41FA5}">
                      <a16:colId xmlns:a16="http://schemas.microsoft.com/office/drawing/2014/main" val="2473390311"/>
                    </a:ext>
                  </a:extLst>
                </a:gridCol>
              </a:tblGrid>
              <a:tr h="838044"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en-US" sz="2400" dirty="0"/>
                        <a:t>Performs reliably even when data includes some noise, as long as assumptions hold.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28431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02684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59CABA-5B65-CAAB-15A2-BC538C131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C1A89-E591-441B-A4AC-116037CC852E}" type="slidenum">
              <a:rPr lang="en-US" sz="4000" b="1" smtClean="0"/>
              <a:t>25</a:t>
            </a:fld>
            <a:endParaRPr lang="en-US" sz="4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4928D4-2FA4-4BEB-C9F4-C15F14ABA0AE}"/>
              </a:ext>
            </a:extLst>
          </p:cNvPr>
          <p:cNvSpPr txBox="1"/>
          <p:nvPr/>
        </p:nvSpPr>
        <p:spPr>
          <a:xfrm>
            <a:off x="1527142" y="197963"/>
            <a:ext cx="76097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/>
              <a:t>Weaknesses Of Logistic Regression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F3C1A1-BD65-5228-EA05-1BE10EA31294}"/>
              </a:ext>
            </a:extLst>
          </p:cNvPr>
          <p:cNvSpPr txBox="1"/>
          <p:nvPr/>
        </p:nvSpPr>
        <p:spPr>
          <a:xfrm>
            <a:off x="1414020" y="904973"/>
            <a:ext cx="77229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800" b="1" dirty="0"/>
              <a:t>Assumes Linear Relationship (in Logit)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F01754-DEA4-8683-3A26-06FF7F8C5E6E}"/>
              </a:ext>
            </a:extLst>
          </p:cNvPr>
          <p:cNvSpPr txBox="1"/>
          <p:nvPr/>
        </p:nvSpPr>
        <p:spPr>
          <a:xfrm>
            <a:off x="1715678" y="1432874"/>
            <a:ext cx="8663233" cy="1140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Assumes that log-odds are </a:t>
            </a:r>
            <a:r>
              <a:rPr lang="en-US" sz="2400" b="1" dirty="0"/>
              <a:t>linearly related</a:t>
            </a:r>
            <a:r>
              <a:rPr lang="en-US" sz="2400" dirty="0"/>
              <a:t> to predictors — fails if relationship is nonlinear.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0A8E68-411C-68CE-46B4-61062F38A15F}"/>
              </a:ext>
            </a:extLst>
          </p:cNvPr>
          <p:cNvSpPr txBox="1"/>
          <p:nvPr/>
        </p:nvSpPr>
        <p:spPr>
          <a:xfrm>
            <a:off x="1395167" y="2592370"/>
            <a:ext cx="77417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dirty="0"/>
              <a:t>Sensitive to Irrelevant or Correlated Features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9652D4-6E12-8717-8CA7-85E15A4F2D67}"/>
              </a:ext>
            </a:extLst>
          </p:cNvPr>
          <p:cNvSpPr txBox="1"/>
          <p:nvPr/>
        </p:nvSpPr>
        <p:spPr>
          <a:xfrm>
            <a:off x="1904213" y="2988297"/>
            <a:ext cx="8568965" cy="1140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High </a:t>
            </a:r>
            <a:r>
              <a:rPr lang="en-US" sz="2400" b="1" dirty="0"/>
              <a:t>multicollinearity</a:t>
            </a:r>
            <a:r>
              <a:rPr lang="en-US" sz="2400" dirty="0"/>
              <a:t> or too many irrelevant variables can distort coefficients.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E95F57-6A09-6BF5-B96E-5271DCE4F40C}"/>
              </a:ext>
            </a:extLst>
          </p:cNvPr>
          <p:cNvSpPr txBox="1"/>
          <p:nvPr/>
        </p:nvSpPr>
        <p:spPr>
          <a:xfrm>
            <a:off x="1385740" y="3978111"/>
            <a:ext cx="77511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/>
              <a:t>Sensitive to Outliers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28CAA9-0E35-9E6B-5E8C-9B4F744B6156}"/>
              </a:ext>
            </a:extLst>
          </p:cNvPr>
          <p:cNvSpPr txBox="1"/>
          <p:nvPr/>
        </p:nvSpPr>
        <p:spPr>
          <a:xfrm>
            <a:off x="1923068" y="4400852"/>
            <a:ext cx="8729221" cy="1140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Extreme values can disproportionately influence the coefficients and decision boundary.</a:t>
            </a:r>
          </a:p>
        </p:txBody>
      </p:sp>
    </p:spTree>
    <p:extLst>
      <p:ext uri="{BB962C8B-B14F-4D97-AF65-F5344CB8AC3E}">
        <p14:creationId xmlns:p14="http://schemas.microsoft.com/office/powerpoint/2010/main" val="38949323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8CF2E2-FFD3-777C-E179-270746A78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C1A89-E591-441B-A4AC-116037CC852E}" type="slidenum">
              <a:rPr lang="en-US" sz="4000" b="1" smtClean="0"/>
              <a:t>26</a:t>
            </a:fld>
            <a:endParaRPr lang="en-US" sz="4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263611-1868-A05A-C5EB-0522150EE0AE}"/>
              </a:ext>
            </a:extLst>
          </p:cNvPr>
          <p:cNvSpPr txBox="1"/>
          <p:nvPr/>
        </p:nvSpPr>
        <p:spPr>
          <a:xfrm>
            <a:off x="1677971" y="216816"/>
            <a:ext cx="74589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/>
              <a:t>Poor with Highly Imbalanced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1E04E4-4AEA-0B80-BD0C-CBDB806FC4F1}"/>
              </a:ext>
            </a:extLst>
          </p:cNvPr>
          <p:cNvSpPr txBox="1"/>
          <p:nvPr/>
        </p:nvSpPr>
        <p:spPr>
          <a:xfrm>
            <a:off x="2300140" y="641023"/>
            <a:ext cx="8587819" cy="1140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Standard logistic regression may be </a:t>
            </a:r>
            <a:r>
              <a:rPr lang="en-US" sz="2400" b="1" dirty="0"/>
              <a:t>biased toward majority class</a:t>
            </a:r>
            <a:r>
              <a:rPr lang="en-US" sz="2400" dirty="0"/>
              <a:t> unless thresholds or sampling are adjusted.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170C3F-5EAE-E8F6-ECF6-99FFC6AD8DF8}"/>
              </a:ext>
            </a:extLst>
          </p:cNvPr>
          <p:cNvSpPr txBox="1"/>
          <p:nvPr/>
        </p:nvSpPr>
        <p:spPr>
          <a:xfrm>
            <a:off x="1649691" y="1762812"/>
            <a:ext cx="74872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dirty="0"/>
              <a:t>Requires Large Sample Size for Stability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847B9E-8C63-434B-C6CA-2DD8A87F6C5E}"/>
              </a:ext>
            </a:extLst>
          </p:cNvPr>
          <p:cNvSpPr txBox="1"/>
          <p:nvPr/>
        </p:nvSpPr>
        <p:spPr>
          <a:xfrm>
            <a:off x="2290713" y="2281287"/>
            <a:ext cx="8050491" cy="1140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Needs enough data to estimate coefficients reliably — small datasets can yield unstable results.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54F54A-2FC1-932E-98D4-98E34BA38508}"/>
              </a:ext>
            </a:extLst>
          </p:cNvPr>
          <p:cNvSpPr txBox="1"/>
          <p:nvPr/>
        </p:nvSpPr>
        <p:spPr>
          <a:xfrm>
            <a:off x="1772239" y="3570302"/>
            <a:ext cx="73646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/>
              <a:t>Struggles with High-Dimensional Data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97E0A7-B30E-C9D4-1CF2-A9B801E171AB}"/>
              </a:ext>
            </a:extLst>
          </p:cNvPr>
          <p:cNvSpPr txBox="1"/>
          <p:nvPr/>
        </p:nvSpPr>
        <p:spPr>
          <a:xfrm>
            <a:off x="2432114" y="4138368"/>
            <a:ext cx="7861955" cy="1140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With too many features and too few observations, it may </a:t>
            </a:r>
            <a:r>
              <a:rPr lang="en-US" sz="2400" b="1" dirty="0"/>
              <a:t>overfit</a:t>
            </a:r>
            <a:r>
              <a:rPr lang="en-US" sz="2400" dirty="0"/>
              <a:t> or fail to converge.</a:t>
            </a:r>
          </a:p>
        </p:txBody>
      </p:sp>
    </p:spTree>
    <p:extLst>
      <p:ext uri="{BB962C8B-B14F-4D97-AF65-F5344CB8AC3E}">
        <p14:creationId xmlns:p14="http://schemas.microsoft.com/office/powerpoint/2010/main" val="12259825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317277-B21C-E44B-FCE4-9E9907418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C1A89-E591-441B-A4AC-116037CC852E}" type="slidenum">
              <a:rPr lang="en-US" sz="4000" b="1" smtClean="0"/>
              <a:t>27</a:t>
            </a:fld>
            <a:endParaRPr lang="en-US" sz="4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51F114-1F65-9614-0B85-B148AB280410}"/>
              </a:ext>
            </a:extLst>
          </p:cNvPr>
          <p:cNvSpPr txBox="1"/>
          <p:nvPr/>
        </p:nvSpPr>
        <p:spPr>
          <a:xfrm>
            <a:off x="2875175" y="75415"/>
            <a:ext cx="66553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References Of Logistic Regression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7E1AF3-D82B-95AC-EA18-9A8346ABBE4F}"/>
              </a:ext>
            </a:extLst>
          </p:cNvPr>
          <p:cNvSpPr txBox="1"/>
          <p:nvPr/>
        </p:nvSpPr>
        <p:spPr>
          <a:xfrm>
            <a:off x="1404593" y="1084082"/>
            <a:ext cx="796564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https://medium.com/analytics-vidhya/understanding-logistic-regression-b3c672deac04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824E63-139D-826A-BD21-23F092CE003E}"/>
              </a:ext>
            </a:extLst>
          </p:cNvPr>
          <p:cNvSpPr txBox="1"/>
          <p:nvPr/>
        </p:nvSpPr>
        <p:spPr>
          <a:xfrm>
            <a:off x="1395167" y="1951348"/>
            <a:ext cx="77417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https://www.ibm.com/think/topics/logistic-regression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2D4203-31A6-6855-3D18-B0A2AE16D366}"/>
              </a:ext>
            </a:extLst>
          </p:cNvPr>
          <p:cNvSpPr txBox="1"/>
          <p:nvPr/>
        </p:nvSpPr>
        <p:spPr>
          <a:xfrm>
            <a:off x="1668544" y="584462"/>
            <a:ext cx="22341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URL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A72BD3-47CB-9DC0-D0F3-D63AD2334092}"/>
              </a:ext>
            </a:extLst>
          </p:cNvPr>
          <p:cNvSpPr txBox="1"/>
          <p:nvPr/>
        </p:nvSpPr>
        <p:spPr>
          <a:xfrm>
            <a:off x="1593131" y="2498103"/>
            <a:ext cx="18005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BLOGS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FDEC22-9B34-688E-240C-FC5DF203E06B}"/>
              </a:ext>
            </a:extLst>
          </p:cNvPr>
          <p:cNvSpPr txBox="1"/>
          <p:nvPr/>
        </p:nvSpPr>
        <p:spPr>
          <a:xfrm>
            <a:off x="1291472" y="3035431"/>
            <a:ext cx="78454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/>
              <a:t>https://www.v7labs.com/blog/logistic-regression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C52ADB-FC50-5ED7-10E9-EC7CB501CA5F}"/>
              </a:ext>
            </a:extLst>
          </p:cNvPr>
          <p:cNvSpPr txBox="1"/>
          <p:nvPr/>
        </p:nvSpPr>
        <p:spPr>
          <a:xfrm>
            <a:off x="1300899" y="3619893"/>
            <a:ext cx="78360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/>
              <a:t>https://encord.com/blog/what-is-logistic-regression/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BF93E1-0CFE-FA94-3EB1-23E2FFB3783A}"/>
              </a:ext>
            </a:extLst>
          </p:cNvPr>
          <p:cNvSpPr txBox="1"/>
          <p:nvPr/>
        </p:nvSpPr>
        <p:spPr>
          <a:xfrm flipH="1">
            <a:off x="1338604" y="4204355"/>
            <a:ext cx="3412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Research Books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203CAD-C16B-0004-7188-6DC3ADD91BBE}"/>
              </a:ext>
            </a:extLst>
          </p:cNvPr>
          <p:cNvSpPr txBox="1"/>
          <p:nvPr/>
        </p:nvSpPr>
        <p:spPr>
          <a:xfrm>
            <a:off x="1432873" y="4719303"/>
            <a:ext cx="88234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575"/>
              </a:spcAft>
              <a:buFont typeface="Wingdings" panose="05000000000000000000" pitchFamily="2" charset="2"/>
              <a:buChar char="v"/>
            </a:pPr>
            <a:r>
              <a:rPr lang="en-US" sz="2400" i="0" dirty="0">
                <a:effectLst/>
              </a:rPr>
              <a:t>Applied Logistic Regression </a:t>
            </a:r>
            <a:r>
              <a:rPr lang="en-US" sz="2400" i="0" dirty="0" err="1">
                <a:effectLst/>
              </a:rPr>
              <a:t>Thrid</a:t>
            </a:r>
            <a:r>
              <a:rPr lang="en-US" sz="2400" i="0" dirty="0">
                <a:effectLst/>
              </a:rPr>
              <a:t> Edition</a:t>
            </a:r>
            <a:r>
              <a:rPr lang="en-US" sz="2400" b="1" i="0" dirty="0">
                <a:effectLst/>
              </a:rPr>
              <a:t> </a:t>
            </a:r>
            <a:r>
              <a:rPr lang="en-US" sz="2400" dirty="0"/>
              <a:t>by David W. Hosmer Jr., Stanley </a:t>
            </a:r>
            <a:r>
              <a:rPr lang="en-US" sz="2400" dirty="0" err="1"/>
              <a:t>Lemeshow</a:t>
            </a:r>
            <a:r>
              <a:rPr lang="en-US" sz="2400" dirty="0"/>
              <a:t> &amp; Rodney X. Sturdivant</a:t>
            </a:r>
            <a:endParaRPr lang="en-US" sz="2400" b="1" i="0" dirty="0">
              <a:effectLst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A23E17-5EF6-78A3-7E99-39CEA4372140}"/>
              </a:ext>
            </a:extLst>
          </p:cNvPr>
          <p:cNvSpPr txBox="1"/>
          <p:nvPr/>
        </p:nvSpPr>
        <p:spPr>
          <a:xfrm>
            <a:off x="1432875" y="5571241"/>
            <a:ext cx="8427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1125"/>
              </a:spcAft>
              <a:buFont typeface="Wingdings" panose="05000000000000000000" pitchFamily="2" charset="2"/>
              <a:buChar char="v"/>
            </a:pPr>
            <a:r>
              <a:rPr lang="en-US" sz="2400" b="0" i="0" dirty="0">
                <a:effectLst/>
              </a:rPr>
              <a:t>Logistic Regression: A Primer Second Edition by Fred C. Pampel</a:t>
            </a:r>
          </a:p>
        </p:txBody>
      </p:sp>
    </p:spTree>
    <p:extLst>
      <p:ext uri="{BB962C8B-B14F-4D97-AF65-F5344CB8AC3E}">
        <p14:creationId xmlns:p14="http://schemas.microsoft.com/office/powerpoint/2010/main" val="8643140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68A230-2096-1A70-D816-5598B2D9A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C1A89-E591-441B-A4AC-116037CC852E}" type="slidenum">
              <a:rPr lang="en-US" sz="4000" b="1" smtClean="0"/>
              <a:t>28</a:t>
            </a:fld>
            <a:endParaRPr lang="en-US" sz="4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95F2FF-B61B-753E-1F53-06BC03E73E95}"/>
              </a:ext>
            </a:extLst>
          </p:cNvPr>
          <p:cNvSpPr txBox="1"/>
          <p:nvPr/>
        </p:nvSpPr>
        <p:spPr>
          <a:xfrm>
            <a:off x="3063711" y="2290713"/>
            <a:ext cx="6872140" cy="132343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8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423431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3268</TotalTime>
  <Words>2023</Words>
  <Application>Microsoft Office PowerPoint</Application>
  <PresentationFormat>Widescreen</PresentationFormat>
  <Paragraphs>226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Calibri</vt:lpstr>
      <vt:lpstr>Cambria Math</vt:lpstr>
      <vt:lpstr>KaTeX_Main</vt:lpstr>
      <vt:lpstr>KaTeX_Math</vt:lpstr>
      <vt:lpstr>Tw Cen MT</vt:lpstr>
      <vt:lpstr>Wingdings</vt:lpstr>
      <vt:lpstr>Circuit</vt:lpstr>
      <vt:lpstr>Logistic Regression Algorithm in Machine Learning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siva reddy</dc:creator>
  <cp:lastModifiedBy>siva reddy</cp:lastModifiedBy>
  <cp:revision>52</cp:revision>
  <dcterms:created xsi:type="dcterms:W3CDTF">2025-10-28T13:34:00Z</dcterms:created>
  <dcterms:modified xsi:type="dcterms:W3CDTF">2025-11-06T10:27:28Z</dcterms:modified>
</cp:coreProperties>
</file>